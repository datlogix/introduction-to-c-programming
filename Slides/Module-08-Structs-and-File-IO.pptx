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twice in front of students: first run shows 'No save file found', enters a score. Second run greets them with the saved high score. The dramatic beat is that nothing in RAM survived between runs — only the file on disk did. This motivates the whole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problem struct solves. Ask students to spot the bug risk themselves before revealing the struct fix on the next slide: what happens if you sort names[] but forget to sort ages[] the same way?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`struct Student s1;` and `Student s1;` (with typedef) use exactly the same memory, exactly the same members — typedef only saves keystrokes.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direct payoff of slide 3's parallel-arrays problem — make that connection explicit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7 taught &amp; and *; this slide shows both still work exactly the same way on structs. Write (*p).age on the board and physically point at why the parentheses matter before revealing -&gt;.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exactly Module 7's pass-by-value vs pass-by-pointer lesson, applied to structs. If students can explain why this mirrors the swapBroken/swapWorks example, they've internalized both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which mode they'd reach for to add one more student to an existing roster file without losing the others — the answer ("a") is a common source of accidental data loss when people reach for "w"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directly back to Module 7's NULL-pointer lesson: a FILE* is a pointer, and fopen failing is just another case of 'always check for NULL before dereferencing.'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06_writing_a_file.c then immediately 07_reading_a_file.c in the same folder, so students see with their own eyes that the second program reads back exactly what the first one wrote.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 3 is worth a real anecdote if you have one — accidentally truncating a file by opening it in "w" instead of "a" is one of the most common real-world C mistakes, not just a classroom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module's hook and closing project are a direct rehearsal for Module 9's core requirement: a struct type, in an array, saved and reloaded so the program's data survives being closed and reopened.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ln w="28575">
            <a:solidFill>
              <a:srgbClr val="1630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0" y="914400"/>
            <a:ext cx="51206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6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2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" cy="512064"/>
          </a:xfrm>
          <a:prstGeom prst="ellipse">
            <a:avLst/>
          </a:prstGeom>
          <a:solidFill>
            <a:srgbClr val="1630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❯_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41732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 PROGRAMMING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833201" cy="310896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31720"/>
            <a:ext cx="8332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8892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Structs &amp; File I/O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434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data that belongs together, and making it survive after your program exits.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5235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4652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— LIVE 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program that remembers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03720" cy="3794760"/>
          </a:xfrm>
          <a:prstGeom prst="roundRect">
            <a:avLst>
              <a:gd name="adj" fmla="val 2169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1682496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hook.c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039112"/>
            <a:ext cx="644652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GameData data;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*file = fopen("save.txt", "r");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(file == NULL) {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printf("No save file -- starting fresh.\n");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data.highScore = 0;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fscanf(file, "%d", &amp;data.highScore);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fclose(file);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...update data.highScore, then...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= fopen("save.txt", "w");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fprintf(file, "%d", data.highScore);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559552"/>
            <a:ext cx="6903720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5559552"/>
            <a:ext cx="6537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5F8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hook.c -o hook &amp;&amp; ./hook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1691640"/>
            <a:ext cx="37792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score, then run ./hook again.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greets you with a high score from a run of the program that already ended.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variable from that first run is long gone from memory. Only the FILE survived.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863840" y="5074920"/>
            <a:ext cx="3779215" cy="1234440"/>
          </a:xfrm>
          <a:prstGeom prst="roundRect">
            <a:avLst>
              <a:gd name="adj" fmla="val 5926"/>
            </a:avLst>
          </a:prstGeom>
          <a:solidFill>
            <a:srgbClr val="E4F9ED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046720" y="5074920"/>
            <a:ext cx="34134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you'll understand every line — and build a bigger version in the project.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STRUCTS &amp; FILE I/O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419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41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Grouping data that belongs together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2195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168249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01_defining_a_struct.c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039112"/>
            <a:ext cx="6492240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names[3][30] = {"Ama", "Kwame", "Efua"};</a:t>
            </a:r>
            <a:endParaRPr lang="en-US" sz="16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ages[3]        = {20, 22, 21};</a:t>
            </a:r>
            <a:endParaRPr lang="en-US" sz="16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gpas[3]       = {3.8f, 3.2f, 3.9f};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49808" y="5513832"/>
            <a:ext cx="6547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one array and forget the other two, and Ama's name silently ends up next to Kwame's age.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doesn't come in single columns — a student has a name AND an age AND a GPA, all describing the same person.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has no idea these three arrays are related, so it can't warn you when they drift apart.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STRUCTS &amp; FILE I/O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419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41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a struct, and typedef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2195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168249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02_accessing_members_and_typedef.c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039112"/>
            <a:ext cx="6492240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{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 name[30];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age;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float gpa;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Student;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s1;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strcpy(s1.name, "Ama");</a:t>
            </a:r>
            <a:endParaRPr lang="en-US" sz="14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s1.age = 20;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49808" y="5513832"/>
            <a:ext cx="6547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typedef is a naming convenience — Student and the struct underneath are exactly the same type.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 groups related variables — called members — into a single new type.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dot operator (.) to read or set a member: s1.age = 20;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STRUCTS &amp; FILE I/O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419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41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 of structs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2195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168249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03_arrays_of_structs.c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039112"/>
            <a:ext cx="6492240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class[3] = {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{"Ama",   20, 3.8f},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{"Kwame", 22, 3.2f},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{"Efua",  21, 3.9f}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3; i++) {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printf("%s: GPA %.1f\n",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class[i].name, class[i].gpa);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49808" y="5513832"/>
            <a:ext cx="6547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array now does the job of three separate, error-prone parallel arrays.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slot is a complete Student — a name, an age, and a gpa, always kept together.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 looks exactly like Module 5's array loops — you just reach one member deeper with . each time.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STRUCTS &amp; FILE I/O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419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41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Structs and pointers: the arrow operator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1462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057400"/>
            <a:ext cx="44087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Dereference, then dot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651760"/>
            <a:ext cx="4865980" cy="786384"/>
          </a:xfrm>
          <a:prstGeom prst="roundRect">
            <a:avLst>
              <a:gd name="adj" fmla="val 5814"/>
            </a:avLst>
          </a:prstGeom>
          <a:solidFill>
            <a:srgbClr val="E9EE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743200"/>
            <a:ext cx="45916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*p = &amp;s1;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printf("%d\n", (*p).age);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575304"/>
            <a:ext cx="48659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parentheses are REQUIRED — . binds tighter than *.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*p.age would (incorrectly) try p.age first.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28436" y="1783080"/>
            <a:ext cx="541462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02756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02756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51396" y="2057400"/>
            <a:ext cx="44087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arrow operator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02756" y="2651760"/>
            <a:ext cx="4865980" cy="786384"/>
          </a:xfrm>
          <a:prstGeom prst="roundRect">
            <a:avLst>
              <a:gd name="adj" fmla="val 5814"/>
            </a:avLst>
          </a:prstGeom>
          <a:solidFill>
            <a:srgbClr val="E9EE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39916" y="2743200"/>
            <a:ext cx="45916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*p = &amp;s1;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printf("%d\n", p-&gt;age);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02756" y="3575304"/>
            <a:ext cx="48659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p-&gt;age means IDENTICALLY the same thing as (*p).age.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prefer -&gt; — it's what every C programmer expects to read.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2531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p points AT s1 rather than holding a copy, writing p-&gt;age = 21; really does change s1.age.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STRUCTS &amp; FILE I/O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70224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7022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7, REVISITED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Passing structs to functions by pointer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1462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057400"/>
            <a:ext cx="44087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value — doesn't stick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651760"/>
            <a:ext cx="4865980" cy="1042416"/>
          </a:xfrm>
          <a:prstGeom prst="roundRect">
            <a:avLst>
              <a:gd name="adj" fmla="val 4386"/>
            </a:avLst>
          </a:prstGeom>
          <a:solidFill>
            <a:srgbClr val="E9EE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743200"/>
            <a:ext cx="45916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birthdayByValue(Student s)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s.age = s.age + 1;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831336"/>
            <a:ext cx="486598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changes the LOCAL copy.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s1.age is still 20 after the call.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28436" y="1783080"/>
            <a:ext cx="541462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02756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02756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51396" y="2057400"/>
            <a:ext cx="44087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pointer — changes the original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02756" y="2651760"/>
            <a:ext cx="4865980" cy="1042416"/>
          </a:xfrm>
          <a:prstGeom prst="roundRect">
            <a:avLst>
              <a:gd name="adj" fmla="val 4386"/>
            </a:avLst>
          </a:prstGeom>
          <a:solidFill>
            <a:srgbClr val="E9EE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39916" y="2743200"/>
            <a:ext cx="45916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birthdayByPointer(Student *s)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s-&gt;age = s-&gt;age + 1;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02756" y="3831336"/>
            <a:ext cx="486598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the CALLER's struct.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s1.age is 21 after the call.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2531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pass a struct by pointer whenever a function needs to modify the caller's copy.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STRUCTS &amp; FILE I/O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2205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122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Opening a file: fopen modes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3291840"/>
        </p:xfrm>
        <a:graphic>
          <a:graphicData uri="http://schemas.openxmlformats.org/drawingml/2006/table">
            <a:tbl>
              <a:tblPr/>
              <a:tblGrid>
                <a:gridCol w="2286000"/>
                <a:gridCol w="8805672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F8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F8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0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"w"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04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Write. Creates the file if missing; ERASES existing contents if it already exists.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0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"r"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04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Read. Fails if the file doesn't exist.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0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"a"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04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Append. Like "w", but adds to the END of an existing file instead of erasing it.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394960"/>
            <a:ext cx="11094415" cy="640080"/>
          </a:xfrm>
          <a:prstGeom prst="roundRect">
            <a:avLst>
              <a:gd name="adj" fmla="val 11429"/>
            </a:avLst>
          </a:prstGeom>
          <a:solidFill>
            <a:srgbClr val="E4F9ED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31520" y="539496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5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*file = fopen("students.txt", "w"); — always check the result against NULL before using it.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STRUCTS &amp; FILE I/O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419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41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check fopen for NULL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2195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168249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06_writing_a_file.c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039112"/>
            <a:ext cx="6492240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*file = fopen("students.txt", "w");</a:t>
            </a:r>
            <a:endParaRPr lang="en-US" sz="1600" dirty="0"/>
          </a:p>
          <a:p>
            <a:pPr indent="0" marL="0">
              <a:lnSpc>
                <a:spcPct val="128000"/>
              </a:lnSpc>
              <a:buNone/>
            </a:pPr>
            <a:endParaRPr lang="en-US" sz="16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(file == NULL) {</a:t>
            </a:r>
            <a:endParaRPr lang="en-US" sz="16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printf("Error: could not open the file.\n");</a:t>
            </a:r>
            <a:endParaRPr lang="en-US" sz="16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1;</a:t>
            </a:r>
            <a:endParaRPr lang="en-US" sz="16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49808" y="5513832"/>
            <a:ext cx="6547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this check is one of the most common real-world C bugs.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fopen can fail: the file doesn't exist, a bad path, no permission to write there.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fails it returns NULL instead of a usable FILE* — and the program crashes the instant it tries to use it.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STRUCTS &amp; FILE I/O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419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41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and reading back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2195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168249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07_reading_a_file.c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039112"/>
            <a:ext cx="6492240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fprintf(file, "%s %d %.2f\n", s.name, s.age, s.gpa);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fclose(file);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s;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(fscanf(file, "%29s %d %f",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s.name, &amp;s.age, &amp;s.gpa) == 3) {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got one full student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49808" y="5513832"/>
            <a:ext cx="6547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fclose forces the write to actually happen now — every fopen gets a matching fclose.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fprintf works exactly like printf, except the first argument says WHERE the text goes.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fscanf returns how many values it matched — exactly what you need to loop until the file runs out.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STRUCTS &amp; FILE I/O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2205" cy="310896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122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2052" cy="1399032"/>
          </a:xfrm>
          <a:prstGeom prst="roundRect">
            <a:avLst>
              <a:gd name="adj" fmla="val 5229"/>
            </a:avLst>
          </a:prstGeom>
          <a:solidFill>
            <a:srgbClr val="16304F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180844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1808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83080"/>
            <a:ext cx="448193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check fopen's return value for NULL — crashes the moment the file can't be opened.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01004" y="1691640"/>
            <a:ext cx="5442052" cy="1399032"/>
          </a:xfrm>
          <a:prstGeom prst="roundRect">
            <a:avLst>
              <a:gd name="adj" fmla="val 5229"/>
            </a:avLst>
          </a:prstGeom>
          <a:solidFill>
            <a:srgbClr val="16304F"/>
          </a:solidFill>
          <a:ln/>
        </p:spPr>
      </p:sp>
      <p:sp>
        <p:nvSpPr>
          <p:cNvPr id="10" name="Shape 8"/>
          <p:cNvSpPr/>
          <p:nvPr/>
        </p:nvSpPr>
        <p:spPr>
          <a:xfrm>
            <a:off x="6402172" y="2180844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2172" y="21808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978244" y="1783080"/>
            <a:ext cx="448193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fclose — your data may never actually make it to disk.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300984"/>
            <a:ext cx="5442052" cy="1399032"/>
          </a:xfrm>
          <a:prstGeom prst="roundRect">
            <a:avLst>
              <a:gd name="adj" fmla="val 5229"/>
            </a:avLst>
          </a:prstGeom>
          <a:solidFill>
            <a:srgbClr val="1630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" y="379018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37901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392424"/>
            <a:ext cx="448193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a file in "w" mode when you meant "a", accidentally erasing everything that was there.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01004" y="3300984"/>
            <a:ext cx="5442052" cy="1399032"/>
          </a:xfrm>
          <a:prstGeom prst="roundRect">
            <a:avLst>
              <a:gd name="adj" fmla="val 5229"/>
            </a:avLst>
          </a:prstGeom>
          <a:solidFill>
            <a:srgbClr val="16304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2172" y="379018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2172" y="37901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978244" y="3392424"/>
            <a:ext cx="448193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*p.age instead of (*p).age or p-&gt;age — . binds tighter than *.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4910328"/>
            <a:ext cx="5442052" cy="1399032"/>
          </a:xfrm>
          <a:prstGeom prst="roundRect">
            <a:avLst>
              <a:gd name="adj" fmla="val 5229"/>
            </a:avLst>
          </a:prstGeom>
          <a:solidFill>
            <a:srgbClr val="16304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5399532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9808" y="53995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5001768"/>
            <a:ext cx="448193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Mismatching the fscanf format string with what fprintf actually wrote.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01004" y="4910328"/>
            <a:ext cx="5442052" cy="1399032"/>
          </a:xfrm>
          <a:prstGeom prst="roundRect">
            <a:avLst>
              <a:gd name="adj" fmla="val 5229"/>
            </a:avLst>
          </a:prstGeom>
          <a:solidFill>
            <a:srgbClr val="16304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2172" y="5399532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2172" y="53995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978244" y="5001768"/>
            <a:ext cx="448193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the size limit in %29s-style reads, allowing a read to overflow a fixed-size char array.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STRUCTS &amp; FILE I/O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86230" cy="310896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3862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move 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21808" cy="4160520"/>
          </a:xfrm>
          <a:prstGeom prst="roundRect">
            <a:avLst>
              <a:gd name="adj" fmla="val 1978"/>
            </a:avLst>
          </a:prstGeom>
          <a:solidFill>
            <a:srgbClr val="16304F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057400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984248"/>
            <a:ext cx="4315968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examples/, running 06 then 07 back-to-back in the same folder.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" y="2960370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296037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887218"/>
            <a:ext cx="4315968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exercises/exercise1.c.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" y="3863340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38633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790188"/>
            <a:ext cx="4315968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module project — run it, save, quit, and run it again to prove your data survived.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4672" y="4766310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476631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693158"/>
            <a:ext cx="4315968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. &amp;&amp; git commit -m "Complete Module 8" &amp;&amp; git push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35624" y="1783080"/>
            <a:ext cx="5321808" cy="4160520"/>
          </a:xfrm>
          <a:prstGeom prst="roundRect">
            <a:avLst>
              <a:gd name="adj" fmla="val 1978"/>
            </a:avLst>
          </a:prstGeom>
          <a:solidFill>
            <a:srgbClr val="3DDC8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55664" y="2103120"/>
            <a:ext cx="4681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55664" y="2468880"/>
            <a:ext cx="4681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9 — Capstone Project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455664" y="3703320"/>
            <a:ext cx="46817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comes together: structs, pointers, functions, arrays, and file I/O in one real program.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STRUCTS &amp; FILE I/O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2026-09-14T12:22:07Z</dcterms:created>
  <dcterms:modified xsi:type="dcterms:W3CDTF">2026-09-14T12:22:07Z</dcterms:modified>
</cp:coreProperties>
</file>