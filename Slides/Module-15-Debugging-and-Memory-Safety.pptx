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actually run this before you explain anything. The point is visceral: a bare 'Segmentation fault' with zero context. Ask them what they'd even do next with only that message. Then move to the gdb slide and let the contrast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thesis of the module in one contrast. gdb doesn't change the bug — it just tells you about it. Emphasize 'run', 'bt' (backtrace) as the two commands that just fired here; the rest of the toolkit slide will fill in the other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a large share of this cohort is on Apple Silicon. Don't let anyone feel like they're missing the module — reassure them the reconstructed reports below are real, accurate output, and they get hands-on valgrind time in the Part 2 capstone if their team has Linux/WSL access, or do a manual audit instead per Module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but critical habit-forming slide. If gdb ever shows only raw addresses with no file/line info for a student, this is almost always why — missing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reference table students will come back to all semester. Walk through run -&gt; bt for a crash, then break -&gt; next/step -&gt; print for a planned investigation, as the two main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this with the earlier 'run + bt' workflow: that one reacts to a crash that already happened; this one lets you proactively pause and inspect before anything goes wrong. Both are core gdb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three-step reading order for each: (1) program output still looks fine, (2) the headline summary line, (3) the backtrace underneath telling you exactly where. Students who only read the headline fix the wrong line or nothing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preventive counterpart to everything before it — most of what gdb and valgrind diagnose is avoidable with these four habits, shown together in examples/04_defensive_programming_checklist.c.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real recurring mistakes from the README. The free()-then-reuse one is worth a live demo if time allows — it's the single most common source of intermittent, hard-to-reproduce bugs later in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exercise1: describe the bug in their own words BEFORE opening the solution file — that's the actual transferable skill, not the fix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ln w="28575">
            <a:solidFill>
              <a:srgbClr val="16304F"/>
            </a:solidFill>
            <a:prstDash val="solid"/>
          </a:ln>
        </p:spPr>
      </p:sp>
      <p:sp>
        <p:nvSpPr>
          <p:cNvPr id="3" name="Text 1"/>
          <p:cNvSpPr txBox="1"/>
          <p:nvPr/>
        </p:nvSpPr>
        <p:spPr>
          <a:xfrm>
            <a:off x="6949440" y="914400"/>
            <a:ext cx="5120640" cy="5120640"/>
          </a:xfrm>
          <a:prstGeom prst="rect">
            <a:avLst/>
          </a:prstGeom>
          <a:noFill/>
          <a:ln/>
        </p:spPr>
        <p:txBody>
          <a:bodyPr wrap="square" lIns="0" tIns="0" rIns="0" bIns="0" rtlCol="0" anchor="t"/>
          <a:lstStyle/>
          <a:p>
            <a:pPr algn="r" indent="0" marL="0">
              <a:buNone/>
            </a:pPr>
            <a:r>
              <a:rPr lang="en-US" sz="32000" b="1" dirty="0">
                <a:solidFill>
                  <a:srgbClr val="16304F"/>
                </a:solidFill>
                <a:latin typeface="Cambria" pitchFamily="34" charset="0"/>
                <a:ea typeface="Cambria" pitchFamily="34" charset="-122"/>
                <a:cs typeface="Cambria" pitchFamily="34" charset="-120"/>
              </a:rPr>
              <a:t>15</a:t>
            </a:r>
            <a:endParaRPr lang="en-US" sz="32000" dirty="0"/>
          </a:p>
        </p:txBody>
      </p:sp>
      <p:sp>
        <p:nvSpPr>
          <p:cNvPr id="4" name="Shape 2"/>
          <p:cNvSpPr/>
          <p:nvPr/>
        </p:nvSpPr>
        <p:spPr>
          <a:xfrm>
            <a:off x="548640" y="1417320"/>
            <a:ext cx="512064" cy="512064"/>
          </a:xfrm>
          <a:prstGeom prst="rect">
            <a:avLst/>
          </a:prstGeom>
          <a:solidFill>
            <a:srgbClr val="16304F"/>
          </a:solidFill>
          <a:ln/>
        </p:spPr>
      </p:sp>
      <p:sp>
        <p:nvSpPr>
          <p:cNvPr id="5" name="Text 3"/>
          <p:cNvSpPr txBox="1"/>
          <p:nvPr/>
        </p:nvSpPr>
        <p:spPr>
          <a:xfrm>
            <a:off x="548640" y="1417320"/>
            <a:ext cx="512064" cy="512064"/>
          </a:xfrm>
          <a:prstGeom prst="rect">
            <a:avLst/>
          </a:prstGeom>
          <a:noFill/>
          <a:ln/>
        </p:spPr>
        <p:txBody>
          <a:bodyPr wrap="square" lIns="0" tIns="0" rIns="0" bIns="0" rtlCol="0" anchor="ctr"/>
          <a:lstStyle/>
          <a:p>
            <a:pPr algn="ctr" indent="0" marL="0">
              <a:buNone/>
            </a:pPr>
            <a:r>
              <a:rPr lang="en-US" sz="1800" b="1" dirty="0">
                <a:solidFill>
                  <a:srgbClr val="3DDC84"/>
                </a:solidFill>
                <a:latin typeface="Calibri" pitchFamily="34" charset="0"/>
                <a:ea typeface="Calibri" pitchFamily="34" charset="-122"/>
                <a:cs typeface="Calibri" pitchFamily="34" charset="-120"/>
              </a:rPr>
              <a:t>❯_</a:t>
            </a:r>
            <a:endParaRPr lang="en-US" sz="1800" dirty="0"/>
          </a:p>
        </p:txBody>
      </p:sp>
      <p:sp>
        <p:nvSpPr>
          <p:cNvPr id="6" name="Text 4"/>
          <p:cNvSpPr txBox="1"/>
          <p:nvPr/>
        </p:nvSpPr>
        <p:spPr>
          <a:xfrm>
            <a:off x="1207008" y="1417320"/>
            <a:ext cx="5486400" cy="512064"/>
          </a:xfrm>
          <a:prstGeom prst="rect">
            <a:avLst/>
          </a:prstGeom>
          <a:noFill/>
          <a:ln/>
        </p:spPr>
        <p:txBody>
          <a:bodyPr wrap="square" lIns="0" tIns="0" rIns="0" bIns="0" rtlCol="0" anchor="ctr"/>
          <a:lstStyle/>
          <a:p>
            <a:pPr indent="0" marL="0">
              <a:buNone/>
            </a:pPr>
            <a:r>
              <a:rPr lang="en-US" sz="1200" b="1" dirty="0">
                <a:solidFill>
                  <a:srgbClr val="8CA3C2"/>
                </a:solidFill>
                <a:latin typeface="Calibri" pitchFamily="34" charset="0"/>
                <a:ea typeface="Calibri" pitchFamily="34" charset="-122"/>
                <a:cs typeface="Calibri" pitchFamily="34" charset="-120"/>
              </a:rPr>
              <a:t>INTRODUCTION TO C PROGRAMMING</a:t>
            </a:r>
            <a:endParaRPr lang="en-US" sz="1200" dirty="0"/>
          </a:p>
        </p:txBody>
      </p:sp>
      <p:sp>
        <p:nvSpPr>
          <p:cNvPr id="7" name="Shape 5"/>
          <p:cNvSpPr/>
          <p:nvPr/>
        </p:nvSpPr>
        <p:spPr>
          <a:xfrm>
            <a:off x="548640" y="2331720"/>
            <a:ext cx="985723" cy="310896"/>
          </a:xfrm>
          <a:prstGeom prst="roundRect">
            <a:avLst>
              <a:gd name="adj" fmla="val 50000"/>
            </a:avLst>
          </a:prstGeom>
          <a:solidFill>
            <a:srgbClr val="16304F"/>
          </a:solidFill>
          <a:ln/>
        </p:spPr>
      </p:sp>
      <p:sp>
        <p:nvSpPr>
          <p:cNvPr id="8" name="Text 6"/>
          <p:cNvSpPr txBox="1"/>
          <p:nvPr/>
        </p:nvSpPr>
        <p:spPr>
          <a:xfrm>
            <a:off x="548640" y="2331720"/>
            <a:ext cx="985723" cy="310896"/>
          </a:xfrm>
          <a:prstGeom prst="rect">
            <a:avLst/>
          </a:prstGeom>
          <a:noFill/>
          <a:ln/>
        </p:spPr>
        <p:txBody>
          <a:bodyPr wrap="square" lIns="0" tIns="0" rIns="0" bIns="0" rtlCol="0" anchor="ctr"/>
          <a:lstStyle/>
          <a:p>
            <a:pPr algn="ctr" indent="0" marL="0">
              <a:buNone/>
            </a:pPr>
            <a:r>
              <a:rPr lang="en-US" sz="1100" b="1" dirty="0">
                <a:solidFill>
                  <a:srgbClr val="3DDC84"/>
                </a:solidFill>
                <a:latin typeface="Calibri" pitchFamily="34" charset="0"/>
                <a:ea typeface="Calibri" pitchFamily="34" charset="-122"/>
                <a:cs typeface="Calibri" pitchFamily="34" charset="-120"/>
              </a:rPr>
              <a:t>MODULE 15</a:t>
            </a:r>
            <a:endParaRPr lang="en-US" sz="1100" dirty="0"/>
          </a:p>
        </p:txBody>
      </p:sp>
      <p:sp>
        <p:nvSpPr>
          <p:cNvPr id="9" name="Text 7"/>
          <p:cNvSpPr txBox="1"/>
          <p:nvPr/>
        </p:nvSpPr>
        <p:spPr>
          <a:xfrm>
            <a:off x="548640" y="2788920"/>
            <a:ext cx="8778240" cy="1737360"/>
          </a:xfrm>
          <a:prstGeom prst="rect">
            <a:avLst/>
          </a:prstGeom>
          <a:noFill/>
          <a:ln/>
        </p:spPr>
        <p:txBody>
          <a:bodyPr wrap="square" lIns="0" tIns="0" rIns="0" bIns="0" rtlCol="0" anchor="ctr"/>
          <a:lstStyle/>
          <a:p>
            <a:pPr indent="0" marL="0">
              <a:buNone/>
            </a:pPr>
            <a:r>
              <a:rPr lang="en-US" sz="4400" b="1" dirty="0">
                <a:solidFill>
                  <a:srgbClr val="F5F8FC"/>
                </a:solidFill>
                <a:latin typeface="Cambria" pitchFamily="34" charset="0"/>
                <a:ea typeface="Cambria" pitchFamily="34" charset="-122"/>
                <a:cs typeface="Cambria" pitchFamily="34" charset="-120"/>
              </a:rPr>
              <a:t>Debugging &amp; Memory Safety</a:t>
            </a:r>
            <a:endParaRPr lang="en-US" sz="4400" dirty="0"/>
          </a:p>
        </p:txBody>
      </p:sp>
      <p:sp>
        <p:nvSpPr>
          <p:cNvPr id="10" name="Text 8"/>
          <p:cNvSpPr txBox="1"/>
          <p:nvPr/>
        </p:nvSpPr>
        <p:spPr>
          <a:xfrm>
            <a:off x="548640" y="4343400"/>
            <a:ext cx="8412480" cy="822960"/>
          </a:xfrm>
          <a:prstGeom prst="rect">
            <a:avLst/>
          </a:prstGeom>
          <a:noFill/>
          <a:ln/>
        </p:spPr>
        <p:txBody>
          <a:bodyPr wrap="square" lIns="0" tIns="0" rIns="0" bIns="0" rtlCol="0" anchor="ctr"/>
          <a:lstStyle/>
          <a:p>
            <a:pPr indent="0" marL="0">
              <a:buNone/>
            </a:pPr>
            <a:r>
              <a:rPr lang="en-US" sz="1800" dirty="0">
                <a:solidFill>
                  <a:srgbClr val="8CA3C2"/>
                </a:solidFill>
                <a:latin typeface="Calibri" pitchFamily="34" charset="0"/>
                <a:ea typeface="Calibri" pitchFamily="34" charset="-122"/>
                <a:cs typeface="Calibri" pitchFamily="34" charset="-120"/>
              </a:rPr>
              <a:t>The crash was never a mystery — gdb and valgrind just tell you what already happened.</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1510589" cy="310896"/>
          </a:xfrm>
          <a:prstGeom prst="roundRect">
            <a:avLst>
              <a:gd name="adj" fmla="val 50000"/>
            </a:avLst>
          </a:prstGeom>
          <a:solidFill>
            <a:srgbClr val="0B1F3A"/>
          </a:solidFill>
          <a:ln/>
        </p:spPr>
      </p:sp>
      <p:sp>
        <p:nvSpPr>
          <p:cNvPr id="3" name="Text 1"/>
          <p:cNvSpPr txBox="1"/>
          <p:nvPr/>
        </p:nvSpPr>
        <p:spPr>
          <a:xfrm>
            <a:off x="548640" y="502920"/>
            <a:ext cx="1510589" cy="310896"/>
          </a:xfrm>
          <a:prstGeom prst="rect">
            <a:avLst/>
          </a:prstGeom>
          <a:noFill/>
          <a:ln/>
        </p:spPr>
        <p:txBody>
          <a:bodyPr wrap="square" lIns="0" tIns="0" rIns="0" bIns="0" rtlCol="0" anchor="ctr"/>
          <a:lstStyle/>
          <a:p>
            <a:pPr algn="ctr" indent="0" marL="0">
              <a:buNone/>
            </a:pPr>
            <a:r>
              <a:rPr lang="en-US" sz="1100" b="1" dirty="0">
                <a:solidFill>
                  <a:srgbClr val="3DDC84"/>
                </a:solidFill>
                <a:latin typeface="Calibri" pitchFamily="34" charset="0"/>
                <a:ea typeface="Calibri" pitchFamily="34" charset="-122"/>
                <a:cs typeface="Calibri" pitchFamily="34" charset="-120"/>
              </a:rPr>
              <a:t>HOOK — LIVE DEMO</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ctr"/>
          <a:lstStyle/>
          <a:p>
            <a:pPr indent="0" marL="0">
              <a:buNone/>
            </a:pPr>
            <a:r>
              <a:rPr lang="en-US" sz="2700" b="1" dirty="0">
                <a:solidFill>
                  <a:srgbClr val="132038"/>
                </a:solidFill>
                <a:latin typeface="Cambria" pitchFamily="34" charset="0"/>
                <a:ea typeface="Cambria" pitchFamily="34" charset="-122"/>
                <a:cs typeface="Cambria" pitchFamily="34" charset="-120"/>
              </a:rPr>
              <a:t>The crash is not a mystery</a:t>
            </a:r>
            <a:endParaRPr lang="en-US" sz="2700" dirty="0"/>
          </a:p>
        </p:txBody>
      </p:sp>
      <p:sp>
        <p:nvSpPr>
          <p:cNvPr id="5" name="Shape 3"/>
          <p:cNvSpPr/>
          <p:nvPr/>
        </p:nvSpPr>
        <p:spPr>
          <a:xfrm>
            <a:off x="548640" y="1600200"/>
            <a:ext cx="6903720" cy="3794760"/>
          </a:xfrm>
          <a:prstGeom prst="roundRect">
            <a:avLst>
              <a:gd name="adj" fmla="val 1928"/>
            </a:avLst>
          </a:prstGeom>
          <a:solidFill>
            <a:srgbClr val="102841"/>
          </a:solidFill>
          <a:ln/>
        </p:spPr>
      </p:sp>
      <p:sp>
        <p:nvSpPr>
          <p:cNvPr id="6" name="Shape 4"/>
          <p:cNvSpPr/>
          <p:nvPr/>
        </p:nvSpPr>
        <p:spPr>
          <a:xfrm>
            <a:off x="749808" y="1764792"/>
            <a:ext cx="109728" cy="109728"/>
          </a:xfrm>
          <a:prstGeom prst="ellipse">
            <a:avLst/>
          </a:prstGeom>
          <a:solidFill>
            <a:srgbClr val="E6675C"/>
          </a:solidFill>
          <a:ln/>
        </p:spPr>
      </p:sp>
      <p:sp>
        <p:nvSpPr>
          <p:cNvPr id="7" name="Shape 5"/>
          <p:cNvSpPr/>
          <p:nvPr/>
        </p:nvSpPr>
        <p:spPr>
          <a:xfrm>
            <a:off x="969264" y="1764792"/>
            <a:ext cx="109728" cy="109728"/>
          </a:xfrm>
          <a:prstGeom prst="ellipse">
            <a:avLst/>
          </a:prstGeom>
          <a:solidFill>
            <a:srgbClr val="E8C15A"/>
          </a:solidFill>
          <a:ln/>
        </p:spPr>
      </p:sp>
      <p:sp>
        <p:nvSpPr>
          <p:cNvPr id="8" name="Shape 6"/>
          <p:cNvSpPr/>
          <p:nvPr/>
        </p:nvSpPr>
        <p:spPr>
          <a:xfrm>
            <a:off x="1188720" y="1764792"/>
            <a:ext cx="109728" cy="109728"/>
          </a:xfrm>
          <a:prstGeom prst="ellipse">
            <a:avLst/>
          </a:prstGeom>
          <a:solidFill>
            <a:srgbClr val="3DDC84"/>
          </a:solidFill>
          <a:ln/>
        </p:spPr>
      </p:sp>
      <p:sp>
        <p:nvSpPr>
          <p:cNvPr id="9" name="Text 7"/>
          <p:cNvSpPr txBox="1"/>
          <p:nvPr/>
        </p:nvSpPr>
        <p:spPr>
          <a:xfrm>
            <a:off x="804672" y="2039112"/>
            <a:ext cx="6446520" cy="3200400"/>
          </a:xfrm>
          <a:prstGeom prst="rect">
            <a:avLst/>
          </a:prstGeom>
          <a:noFill/>
          <a:ln/>
        </p:spPr>
        <p:txBody>
          <a:bodyPr wrap="square" lIns="0" tIns="0" rIns="0" bIns="0" rtlCol="0" anchor="t"/>
          <a:lstStyle/>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#include &lt;stdio.h&gt;</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void printScore(int *score)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printf("Score: %d\n", *score);</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int main(void)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int *currentScore = NULL;</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printScore(currentScore);</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printf("This line never runs.\n");</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return 0;</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a:t>
            </a:r>
            <a:endParaRPr lang="en-US" sz="1300" dirty="0"/>
          </a:p>
        </p:txBody>
      </p:sp>
      <p:sp>
        <p:nvSpPr>
          <p:cNvPr id="10" name="Shape 8"/>
          <p:cNvSpPr/>
          <p:nvPr/>
        </p:nvSpPr>
        <p:spPr>
          <a:xfrm>
            <a:off x="548640" y="5559552"/>
            <a:ext cx="6903720" cy="566928"/>
          </a:xfrm>
          <a:prstGeom prst="roundRect">
            <a:avLst>
              <a:gd name="adj" fmla="val 9677"/>
            </a:avLst>
          </a:prstGeom>
          <a:solidFill>
            <a:srgbClr val="0B1F3A"/>
          </a:solidFill>
          <a:ln/>
        </p:spPr>
      </p:sp>
      <p:sp>
        <p:nvSpPr>
          <p:cNvPr id="11" name="Text 9"/>
          <p:cNvSpPr txBox="1"/>
          <p:nvPr/>
        </p:nvSpPr>
        <p:spPr>
          <a:xfrm>
            <a:off x="749808" y="5559552"/>
            <a:ext cx="6537960" cy="566928"/>
          </a:xfrm>
          <a:prstGeom prst="rect">
            <a:avLst/>
          </a:prstGeom>
          <a:noFill/>
          <a:ln/>
        </p:spPr>
        <p:txBody>
          <a:bodyPr wrap="square" lIns="0" tIns="0" rIns="0" bIns="0" rtlCol="0" anchor="ctr"/>
          <a:lstStyle/>
          <a:p>
            <a:pPr indent="0" marL="0">
              <a:buNone/>
            </a:pPr>
            <a:r>
              <a:rPr lang="en-US" sz="1300" b="1" dirty="0">
                <a:solidFill>
                  <a:srgbClr val="3DDC84"/>
                </a:solidFill>
                <a:latin typeface="Courier New" pitchFamily="34" charset="0"/>
                <a:ea typeface="Courier New" pitchFamily="34" charset="-122"/>
                <a:cs typeface="Courier New" pitchFamily="34" charset="-120"/>
              </a:rPr>
              <a:t>$ </a:t>
            </a:r>
            <a:pPr indent="0" marL="0">
              <a:buNone/>
            </a:pPr>
            <a:r>
              <a:rPr lang="en-US" sz="1300" dirty="0">
                <a:solidFill>
                  <a:srgbClr val="F5F8FC"/>
                </a:solidFill>
                <a:latin typeface="Courier New" pitchFamily="34" charset="0"/>
                <a:ea typeface="Courier New" pitchFamily="34" charset="-122"/>
                <a:cs typeface="Courier New" pitchFamily="34" charset="-120"/>
              </a:rPr>
              <a:t>gcc -g hook.c -o hook &amp;&amp; ./hook</a:t>
            </a:r>
            <a:endParaRPr lang="en-US" sz="1300" dirty="0"/>
          </a:p>
        </p:txBody>
      </p:sp>
      <p:sp>
        <p:nvSpPr>
          <p:cNvPr id="12" name="Text 10"/>
          <p:cNvSpPr txBox="1"/>
          <p:nvPr/>
        </p:nvSpPr>
        <p:spPr>
          <a:xfrm>
            <a:off x="7863840" y="1691640"/>
            <a:ext cx="3779215" cy="3291840"/>
          </a:xfrm>
          <a:prstGeom prst="rect">
            <a:avLst/>
          </a:prstGeom>
          <a:noFill/>
          <a:ln/>
        </p:spPr>
        <p:txBody>
          <a:bodyPr wrap="square" lIns="0" tIns="0" rIns="0" bIns="0" rtlCol="0" anchor="t"/>
          <a:lstStyle/>
          <a:p>
            <a:pPr marL="342900" indent="-342900">
              <a:spcAft>
                <a:spcPts val="1400"/>
              </a:spcAft>
              <a:buSzPct val="100000"/>
              <a:buChar char="•"/>
            </a:pPr>
            <a:r>
              <a:rPr lang="en-US" sz="1550" dirty="0">
                <a:solidFill>
                  <a:srgbClr val="30425E"/>
                </a:solidFill>
                <a:latin typeface="Calibri" pitchFamily="34" charset="0"/>
                <a:ea typeface="Calibri" pitchFamily="34" charset="-122"/>
                <a:cs typeface="Calibri" pitchFamily="34" charset="-120"/>
              </a:rPr>
              <a:t>Output: Segmentation fault. That's it — the entire error message.</a:t>
            </a:r>
            <a:endParaRPr lang="en-US" sz="1550" dirty="0"/>
          </a:p>
          <a:p>
            <a:pPr marL="342900" indent="-342900">
              <a:spcAft>
                <a:spcPts val="1400"/>
              </a:spcAft>
              <a:buSzPct val="100000"/>
              <a:buChar char="•"/>
            </a:pPr>
            <a:r>
              <a:rPr lang="en-US" sz="1550" dirty="0">
                <a:solidFill>
                  <a:srgbClr val="30425E"/>
                </a:solidFill>
                <a:latin typeface="Calibri" pitchFamily="34" charset="0"/>
                <a:ea typeface="Calibri" pitchFamily="34" charset="-122"/>
                <a:cs typeface="Calibri" pitchFamily="34" charset="-120"/>
              </a:rPr>
              <a:t>No line number, no function name, no hint that currentScore is NULL.</a:t>
            </a:r>
            <a:endParaRPr lang="en-US" sz="1550" dirty="0"/>
          </a:p>
          <a:p>
            <a:pPr marL="342900" indent="-342900">
              <a:spcAft>
                <a:spcPts val="1400"/>
              </a:spcAft>
              <a:buSzPct val="100000"/>
              <a:buChar char="•"/>
            </a:pPr>
            <a:r>
              <a:rPr lang="en-US" sz="1550" dirty="0">
                <a:solidFill>
                  <a:srgbClr val="30425E"/>
                </a:solidFill>
                <a:latin typeface="Calibri" pitchFamily="34" charset="0"/>
                <a:ea typeface="Calibri" pitchFamily="34" charset="-122"/>
                <a:cs typeface="Calibri" pitchFamily="34" charset="-120"/>
              </a:rPr>
              <a:t>In a 2,000-line program instead of nine lines, you'd have almost nothing to go on.</a:t>
            </a:r>
            <a:endParaRPr lang="en-US" sz="1550" dirty="0"/>
          </a:p>
        </p:txBody>
      </p:sp>
      <p:sp>
        <p:nvSpPr>
          <p:cNvPr id="13" name="Shape 11"/>
          <p:cNvSpPr/>
          <p:nvPr/>
        </p:nvSpPr>
        <p:spPr>
          <a:xfrm>
            <a:off x="7863840" y="5074920"/>
            <a:ext cx="3779215" cy="1234440"/>
          </a:xfrm>
          <a:prstGeom prst="roundRect">
            <a:avLst>
              <a:gd name="adj" fmla="val 4444"/>
            </a:avLst>
          </a:prstGeom>
          <a:solidFill>
            <a:srgbClr val="E4F9ED"/>
          </a:solidFill>
          <a:ln/>
        </p:spPr>
      </p:sp>
      <p:sp>
        <p:nvSpPr>
          <p:cNvPr id="14" name="Text 12"/>
          <p:cNvSpPr txBox="1"/>
          <p:nvPr/>
        </p:nvSpPr>
        <p:spPr>
          <a:xfrm>
            <a:off x="8046720" y="5074920"/>
            <a:ext cx="3413455" cy="1234440"/>
          </a:xfrm>
          <a:prstGeom prst="rect">
            <a:avLst/>
          </a:prstGeom>
          <a:noFill/>
          <a:ln/>
        </p:spPr>
        <p:txBody>
          <a:bodyPr wrap="square" lIns="0" tIns="0" rIns="0" bIns="0" rtlCol="0" anchor="ctr"/>
          <a:lstStyle/>
          <a:p>
            <a:pPr indent="0" marL="0">
              <a:buNone/>
            </a:pPr>
            <a:r>
              <a:rPr lang="en-US" sz="1250" dirty="0">
                <a:solidFill>
                  <a:srgbClr val="156B3F"/>
                </a:solidFill>
                <a:latin typeface="Calibri" pitchFamily="34" charset="0"/>
                <a:ea typeface="Calibri" pitchFamily="34" charset="-122"/>
                <a:cs typeface="Calibri" pitchFamily="34" charset="-120"/>
              </a:rPr>
              <a:t>Now run the exact same program under a debugger instead — same crash, completely different amount of information.</a:t>
            </a:r>
            <a:endParaRPr lang="en-US" sz="1250" dirty="0"/>
          </a:p>
        </p:txBody>
      </p:sp>
      <p:sp>
        <p:nvSpPr>
          <p:cNvPr id="15" name="Text 1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15 — DEBUGGING &amp; MEMORY SAFETY</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1960474" cy="310896"/>
          </a:xfrm>
          <a:prstGeom prst="roundRect">
            <a:avLst>
              <a:gd name="adj" fmla="val 50000"/>
            </a:avLst>
          </a:prstGeom>
          <a:solidFill>
            <a:srgbClr val="0B1F3A"/>
          </a:solidFill>
          <a:ln/>
        </p:spPr>
      </p:sp>
      <p:sp>
        <p:nvSpPr>
          <p:cNvPr id="3" name="Text 1"/>
          <p:cNvSpPr txBox="1"/>
          <p:nvPr/>
        </p:nvSpPr>
        <p:spPr>
          <a:xfrm>
            <a:off x="548640" y="502920"/>
            <a:ext cx="1960474" cy="310896"/>
          </a:xfrm>
          <a:prstGeom prst="rect">
            <a:avLst/>
          </a:prstGeom>
          <a:noFill/>
          <a:ln/>
        </p:spPr>
        <p:txBody>
          <a:bodyPr wrap="square" lIns="0" tIns="0" rIns="0" bIns="0" rtlCol="0" anchor="ctr"/>
          <a:lstStyle/>
          <a:p>
            <a:pPr algn="ctr" indent="0" marL="0">
              <a:buNone/>
            </a:pPr>
            <a:r>
              <a:rPr lang="en-US" sz="1100" b="1" dirty="0">
                <a:solidFill>
                  <a:srgbClr val="3DDC84"/>
                </a:solidFill>
                <a:latin typeface="Calibri" pitchFamily="34" charset="0"/>
                <a:ea typeface="Calibri" pitchFamily="34" charset="-122"/>
                <a:cs typeface="Calibri" pitchFamily="34" charset="-120"/>
              </a:rPr>
              <a:t>HOOK — SAME CRASH, gdb</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ctr"/>
          <a:lstStyle/>
          <a:p>
            <a:pPr indent="0" marL="0">
              <a:buNone/>
            </a:pPr>
            <a:r>
              <a:rPr lang="en-US" sz="2700" b="1" dirty="0">
                <a:solidFill>
                  <a:srgbClr val="132038"/>
                </a:solidFill>
                <a:latin typeface="Cambria" pitchFamily="34" charset="0"/>
                <a:ea typeface="Cambria" pitchFamily="34" charset="-122"/>
                <a:cs typeface="Cambria" pitchFamily="34" charset="-120"/>
              </a:rPr>
              <a:t>Same crash, asked nicely</a:t>
            </a:r>
            <a:endParaRPr lang="en-US" sz="2700" dirty="0"/>
          </a:p>
        </p:txBody>
      </p:sp>
      <p:sp>
        <p:nvSpPr>
          <p:cNvPr id="5" name="Shape 3"/>
          <p:cNvSpPr/>
          <p:nvPr/>
        </p:nvSpPr>
        <p:spPr>
          <a:xfrm>
            <a:off x="548640" y="1600200"/>
            <a:ext cx="6903720" cy="3794760"/>
          </a:xfrm>
          <a:prstGeom prst="roundRect">
            <a:avLst>
              <a:gd name="adj" fmla="val 1928"/>
            </a:avLst>
          </a:prstGeom>
          <a:solidFill>
            <a:srgbClr val="102841"/>
          </a:solidFill>
          <a:ln/>
        </p:spPr>
      </p:sp>
      <p:sp>
        <p:nvSpPr>
          <p:cNvPr id="6" name="Shape 4"/>
          <p:cNvSpPr/>
          <p:nvPr/>
        </p:nvSpPr>
        <p:spPr>
          <a:xfrm>
            <a:off x="749808" y="1764792"/>
            <a:ext cx="109728" cy="109728"/>
          </a:xfrm>
          <a:prstGeom prst="ellipse">
            <a:avLst/>
          </a:prstGeom>
          <a:solidFill>
            <a:srgbClr val="E6675C"/>
          </a:solidFill>
          <a:ln/>
        </p:spPr>
      </p:sp>
      <p:sp>
        <p:nvSpPr>
          <p:cNvPr id="7" name="Shape 5"/>
          <p:cNvSpPr/>
          <p:nvPr/>
        </p:nvSpPr>
        <p:spPr>
          <a:xfrm>
            <a:off x="969264" y="1764792"/>
            <a:ext cx="109728" cy="109728"/>
          </a:xfrm>
          <a:prstGeom prst="ellipse">
            <a:avLst/>
          </a:prstGeom>
          <a:solidFill>
            <a:srgbClr val="E8C15A"/>
          </a:solidFill>
          <a:ln/>
        </p:spPr>
      </p:sp>
      <p:sp>
        <p:nvSpPr>
          <p:cNvPr id="8" name="Shape 6"/>
          <p:cNvSpPr/>
          <p:nvPr/>
        </p:nvSpPr>
        <p:spPr>
          <a:xfrm>
            <a:off x="1188720" y="1764792"/>
            <a:ext cx="109728" cy="109728"/>
          </a:xfrm>
          <a:prstGeom prst="ellipse">
            <a:avLst/>
          </a:prstGeom>
          <a:solidFill>
            <a:srgbClr val="3DDC84"/>
          </a:solidFill>
          <a:ln/>
        </p:spPr>
      </p:sp>
      <p:sp>
        <p:nvSpPr>
          <p:cNvPr id="9" name="Text 7"/>
          <p:cNvSpPr txBox="1"/>
          <p:nvPr/>
        </p:nvSpPr>
        <p:spPr>
          <a:xfrm>
            <a:off x="804672" y="2039112"/>
            <a:ext cx="6446520" cy="3200400"/>
          </a:xfrm>
          <a:prstGeom prst="rect">
            <a:avLst/>
          </a:prstGeom>
          <a:noFill/>
          <a:ln/>
        </p:spPr>
        <p:txBody>
          <a:bodyPr wrap="square" lIns="0" tIns="0" rIns="0" bIns="0" rtlCol="0" anchor="t"/>
          <a:lstStyle/>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gdb ./hook</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(gdb) run</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Starting program: /home/you/15.../hook</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Program received signal SIGSEGV,</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Segmentation fault.</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0x0000000000401156 in printScore</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(score=0x0) at hook.c:4</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4      printf("Score: %d\n", *score);</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(gdb) bt</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#0  printScore (score=0x0) at hook.c:4</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#1  main () at hook.c:11</a:t>
            </a:r>
            <a:endParaRPr lang="en-US" sz="1300" dirty="0"/>
          </a:p>
        </p:txBody>
      </p:sp>
      <p:sp>
        <p:nvSpPr>
          <p:cNvPr id="10" name="Shape 8"/>
          <p:cNvSpPr/>
          <p:nvPr/>
        </p:nvSpPr>
        <p:spPr>
          <a:xfrm>
            <a:off x="548640" y="5559552"/>
            <a:ext cx="6903720" cy="566928"/>
          </a:xfrm>
          <a:prstGeom prst="roundRect">
            <a:avLst>
              <a:gd name="adj" fmla="val 9677"/>
            </a:avLst>
          </a:prstGeom>
          <a:solidFill>
            <a:srgbClr val="0B1F3A"/>
          </a:solidFill>
          <a:ln/>
        </p:spPr>
      </p:sp>
      <p:sp>
        <p:nvSpPr>
          <p:cNvPr id="11" name="Text 9"/>
          <p:cNvSpPr txBox="1"/>
          <p:nvPr/>
        </p:nvSpPr>
        <p:spPr>
          <a:xfrm>
            <a:off x="749808" y="5559552"/>
            <a:ext cx="6537960" cy="566928"/>
          </a:xfrm>
          <a:prstGeom prst="rect">
            <a:avLst/>
          </a:prstGeom>
          <a:noFill/>
          <a:ln/>
        </p:spPr>
        <p:txBody>
          <a:bodyPr wrap="square" lIns="0" tIns="0" rIns="0" bIns="0" rtlCol="0" anchor="ctr"/>
          <a:lstStyle/>
          <a:p>
            <a:pPr indent="0" marL="0">
              <a:buNone/>
            </a:pPr>
            <a:r>
              <a:rPr lang="en-US" sz="1300" b="1" dirty="0">
                <a:solidFill>
                  <a:srgbClr val="3DDC84"/>
                </a:solidFill>
                <a:latin typeface="Courier New" pitchFamily="34" charset="0"/>
                <a:ea typeface="Courier New" pitchFamily="34" charset="-122"/>
                <a:cs typeface="Courier New" pitchFamily="34" charset="-120"/>
              </a:rPr>
              <a:t>$ </a:t>
            </a:r>
            <a:pPr indent="0" marL="0">
              <a:buNone/>
            </a:pPr>
            <a:r>
              <a:rPr lang="en-US" sz="1300" dirty="0">
                <a:solidFill>
                  <a:srgbClr val="F5F8FC"/>
                </a:solidFill>
                <a:latin typeface="Courier New" pitchFamily="34" charset="0"/>
                <a:ea typeface="Courier New" pitchFamily="34" charset="-122"/>
                <a:cs typeface="Courier New" pitchFamily="34" charset="-120"/>
              </a:rPr>
              <a:t>gdb ./hook</a:t>
            </a:r>
            <a:endParaRPr lang="en-US" sz="1300" dirty="0"/>
          </a:p>
        </p:txBody>
      </p:sp>
      <p:sp>
        <p:nvSpPr>
          <p:cNvPr id="12" name="Text 10"/>
          <p:cNvSpPr txBox="1"/>
          <p:nvPr/>
        </p:nvSpPr>
        <p:spPr>
          <a:xfrm>
            <a:off x="7863840" y="1691640"/>
            <a:ext cx="3779215" cy="3291840"/>
          </a:xfrm>
          <a:prstGeom prst="rect">
            <a:avLst/>
          </a:prstGeom>
          <a:noFill/>
          <a:ln/>
        </p:spPr>
        <p:txBody>
          <a:bodyPr wrap="square" lIns="0" tIns="0" rIns="0" bIns="0" rtlCol="0" anchor="t"/>
          <a:lstStyle/>
          <a:p>
            <a:pPr marL="342900" indent="-342900">
              <a:spcAft>
                <a:spcPts val="1400"/>
              </a:spcAft>
              <a:buSzPct val="100000"/>
              <a:buChar char="•"/>
            </a:pPr>
            <a:r>
              <a:rPr lang="en-US" sz="1550" dirty="0">
                <a:solidFill>
                  <a:srgbClr val="30425E"/>
                </a:solidFill>
                <a:latin typeface="Calibri" pitchFamily="34" charset="0"/>
                <a:ea typeface="Calibri" pitchFamily="34" charset="-122"/>
                <a:cs typeface="Calibri" pitchFamily="34" charset="-120"/>
              </a:rPr>
              <a:t>Exact file and line: hook.c:4.</a:t>
            </a:r>
            <a:endParaRPr lang="en-US" sz="1550" dirty="0"/>
          </a:p>
          <a:p>
            <a:pPr marL="342900" indent="-342900">
              <a:spcAft>
                <a:spcPts val="1400"/>
              </a:spcAft>
              <a:buSzPct val="100000"/>
              <a:buChar char="•"/>
            </a:pPr>
            <a:r>
              <a:rPr lang="en-US" sz="1550" dirty="0">
                <a:solidFill>
                  <a:srgbClr val="30425E"/>
                </a:solidFill>
                <a:latin typeface="Calibri" pitchFamily="34" charset="0"/>
                <a:ea typeface="Calibri" pitchFamily="34" charset="-122"/>
                <a:cs typeface="Calibri" pitchFamily="34" charset="-120"/>
              </a:rPr>
              <a:t>Exact function: printScore.</a:t>
            </a:r>
            <a:endParaRPr lang="en-US" sz="1550" dirty="0"/>
          </a:p>
          <a:p>
            <a:pPr marL="342900" indent="-342900">
              <a:spcAft>
                <a:spcPts val="1400"/>
              </a:spcAft>
              <a:buSzPct val="100000"/>
              <a:buChar char="•"/>
            </a:pPr>
            <a:r>
              <a:rPr lang="en-US" sz="1550" dirty="0">
                <a:solidFill>
                  <a:srgbClr val="30425E"/>
                </a:solidFill>
                <a:latin typeface="Calibri" pitchFamily="34" charset="0"/>
                <a:ea typeface="Calibri" pitchFamily="34" charset="-122"/>
                <a:cs typeface="Calibri" pitchFamily="34" charset="-120"/>
              </a:rPr>
              <a:t>Exact reason: score=0x0 — score is NULL.</a:t>
            </a:r>
            <a:endParaRPr lang="en-US" sz="1550" dirty="0"/>
          </a:p>
          <a:p>
            <a:pPr marL="342900" indent="-342900">
              <a:spcAft>
                <a:spcPts val="1400"/>
              </a:spcAft>
              <a:buSzPct val="100000"/>
              <a:buChar char="•"/>
            </a:pPr>
            <a:r>
              <a:rPr lang="en-US" sz="1550" dirty="0">
                <a:solidFill>
                  <a:srgbClr val="30425E"/>
                </a:solidFill>
                <a:latin typeface="Calibri" pitchFamily="34" charset="0"/>
                <a:ea typeface="Calibri" pitchFamily="34" charset="-122"/>
                <a:cs typeface="Calibri" pitchFamily="34" charset="-120"/>
              </a:rPr>
              <a:t>All of that in about five seconds, from the exact same nine-line program.</a:t>
            </a:r>
            <a:endParaRPr lang="en-US" sz="1550" dirty="0"/>
          </a:p>
        </p:txBody>
      </p:sp>
      <p:sp>
        <p:nvSpPr>
          <p:cNvPr id="13" name="Shape 11"/>
          <p:cNvSpPr/>
          <p:nvPr/>
        </p:nvSpPr>
        <p:spPr>
          <a:xfrm>
            <a:off x="7863840" y="5074920"/>
            <a:ext cx="3779215" cy="1234440"/>
          </a:xfrm>
          <a:prstGeom prst="roundRect">
            <a:avLst>
              <a:gd name="adj" fmla="val 4444"/>
            </a:avLst>
          </a:prstGeom>
          <a:solidFill>
            <a:srgbClr val="E4F9ED"/>
          </a:solidFill>
          <a:ln/>
        </p:spPr>
      </p:sp>
      <p:sp>
        <p:nvSpPr>
          <p:cNvPr id="14" name="Text 12"/>
          <p:cNvSpPr txBox="1"/>
          <p:nvPr/>
        </p:nvSpPr>
        <p:spPr>
          <a:xfrm>
            <a:off x="8046720" y="5074920"/>
            <a:ext cx="3413455" cy="1234440"/>
          </a:xfrm>
          <a:prstGeom prst="rect">
            <a:avLst/>
          </a:prstGeom>
          <a:noFill/>
          <a:ln/>
        </p:spPr>
        <p:txBody>
          <a:bodyPr wrap="square" lIns="0" tIns="0" rIns="0" bIns="0" rtlCol="0" anchor="ctr"/>
          <a:lstStyle/>
          <a:p>
            <a:pPr indent="0" marL="0">
              <a:buNone/>
            </a:pPr>
            <a:r>
              <a:rPr lang="en-US" sz="1250" dirty="0">
                <a:solidFill>
                  <a:srgbClr val="156B3F"/>
                </a:solidFill>
                <a:latin typeface="Calibri" pitchFamily="34" charset="0"/>
                <a:ea typeface="Calibri" pitchFamily="34" charset="-122"/>
                <a:cs typeface="Calibri" pitchFamily="34" charset="-120"/>
              </a:rPr>
              <a:t>The crash was never mysterious. You just needed the right tool to ask the program what happened. That's this whole module.</a:t>
            </a:r>
            <a:endParaRPr lang="en-US" sz="1250" dirty="0"/>
          </a:p>
        </p:txBody>
      </p:sp>
      <p:sp>
        <p:nvSpPr>
          <p:cNvPr id="15" name="Text 1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15 — DEBUGGING &amp; MEMORY SAFETY</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835762" cy="310896"/>
          </a:xfrm>
          <a:prstGeom prst="roundRect">
            <a:avLst>
              <a:gd name="adj" fmla="val 50000"/>
            </a:avLst>
          </a:prstGeom>
          <a:solidFill>
            <a:srgbClr val="0B1F3A"/>
          </a:solidFill>
          <a:ln/>
        </p:spPr>
      </p:sp>
      <p:sp>
        <p:nvSpPr>
          <p:cNvPr id="3" name="Text 1"/>
          <p:cNvSpPr txBox="1"/>
          <p:nvPr/>
        </p:nvSpPr>
        <p:spPr>
          <a:xfrm>
            <a:off x="548640" y="502920"/>
            <a:ext cx="835762" cy="310896"/>
          </a:xfrm>
          <a:prstGeom prst="rect">
            <a:avLst/>
          </a:prstGeom>
          <a:noFill/>
          <a:ln/>
        </p:spPr>
        <p:txBody>
          <a:bodyPr wrap="square" lIns="0" tIns="0" rIns="0" bIns="0" rtlCol="0" anchor="ctr"/>
          <a:lstStyle/>
          <a:p>
            <a:pPr algn="ctr" indent="0" marL="0">
              <a:buNone/>
            </a:pPr>
            <a:r>
              <a:rPr lang="en-US" sz="1100" b="1" dirty="0">
                <a:solidFill>
                  <a:srgbClr val="3DDC84"/>
                </a:solidFill>
                <a:latin typeface="Calibri" pitchFamily="34" charset="0"/>
                <a:ea typeface="Calibri" pitchFamily="34" charset="-122"/>
                <a:cs typeface="Calibri" pitchFamily="34" charset="-120"/>
              </a:rPr>
              <a:t>CONCEPT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ctr"/>
          <a:lstStyle/>
          <a:p>
            <a:pPr indent="0" marL="0">
              <a:buNone/>
            </a:pPr>
            <a:r>
              <a:rPr lang="en-US" sz="2800" b="1" dirty="0">
                <a:solidFill>
                  <a:srgbClr val="132038"/>
                </a:solidFill>
                <a:latin typeface="Cambria" pitchFamily="34" charset="0"/>
                <a:ea typeface="Cambria" pitchFamily="34" charset="-122"/>
                <a:cs typeface="Cambria" pitchFamily="34" charset="-120"/>
              </a:rPr>
              <a:t>A quick note on your platform</a:t>
            </a:r>
            <a:endParaRPr lang="en-US" sz="2800" dirty="0"/>
          </a:p>
        </p:txBody>
      </p:sp>
      <p:sp>
        <p:nvSpPr>
          <p:cNvPr id="5" name="Shape 3"/>
          <p:cNvSpPr/>
          <p:nvPr/>
        </p:nvSpPr>
        <p:spPr>
          <a:xfrm>
            <a:off x="548640" y="1828800"/>
            <a:ext cx="457200" cy="457200"/>
          </a:xfrm>
          <a:prstGeom prst="rect">
            <a:avLst/>
          </a:prstGeom>
          <a:solidFill>
            <a:srgbClr val="0B1F3A"/>
          </a:solidFill>
          <a:ln/>
        </p:spPr>
      </p:sp>
      <p:sp>
        <p:nvSpPr>
          <p:cNvPr id="6" name="Text 4"/>
          <p:cNvSpPr txBox="1"/>
          <p:nvPr/>
        </p:nvSpPr>
        <p:spPr>
          <a:xfrm>
            <a:off x="548640" y="1828800"/>
            <a:ext cx="457200" cy="457200"/>
          </a:xfrm>
          <a:prstGeom prst="rect">
            <a:avLst/>
          </a:prstGeom>
          <a:noFill/>
          <a:ln/>
        </p:spPr>
        <p:txBody>
          <a:bodyPr wrap="square" lIns="0" tIns="0" rIns="0" bIns="0" rtlCol="0" anchor="ctr"/>
          <a:lstStyle/>
          <a:p>
            <a:pPr algn="ctr" indent="0" marL="0">
              <a:buNone/>
            </a:pPr>
            <a:r>
              <a:rPr lang="en-US" sz="1700" b="1" dirty="0">
                <a:solidFill>
                  <a:srgbClr val="3DDC84"/>
                </a:solidFill>
                <a:latin typeface="Calibri" pitchFamily="34" charset="0"/>
                <a:ea typeface="Calibri" pitchFamily="34" charset="-122"/>
                <a:cs typeface="Calibri" pitchFamily="34" charset="-120"/>
              </a:rPr>
              <a:t>1</a:t>
            </a:r>
            <a:endParaRPr lang="en-US" sz="1700" dirty="0"/>
          </a:p>
        </p:txBody>
      </p:sp>
      <p:sp>
        <p:nvSpPr>
          <p:cNvPr id="7" name="Text 5"/>
          <p:cNvSpPr txBox="1"/>
          <p:nvPr/>
        </p:nvSpPr>
        <p:spPr>
          <a:xfrm>
            <a:off x="1234440" y="1783080"/>
            <a:ext cx="10408615" cy="1295400"/>
          </a:xfrm>
          <a:prstGeom prst="rect">
            <a:avLst/>
          </a:prstGeom>
          <a:noFill/>
          <a:ln/>
        </p:spPr>
        <p:txBody>
          <a:bodyPr wrap="square" lIns="0" tIns="0" rIns="0" bIns="0" rtlCol="0" anchor="t"/>
          <a:lstStyle/>
          <a:p>
            <a:pPr indent="0" marL="0">
              <a:buNone/>
            </a:pPr>
            <a:r>
              <a:rPr lang="en-US" sz="1550" b="1" dirty="0">
                <a:solidFill>
                  <a:srgbClr val="132038"/>
                </a:solidFill>
                <a:latin typeface="Calibri" pitchFamily="34" charset="0"/>
                <a:ea typeface="Calibri" pitchFamily="34" charset="-122"/>
                <a:cs typeface="Calibri" pitchFamily="34" charset="-120"/>
              </a:rPr>
              <a:t>gdb works everywhere that matters  —   </a:t>
            </a:r>
            <a:pPr indent="0" marL="0">
              <a:buNone/>
            </a:pPr>
            <a:r>
              <a:rPr lang="en-US" sz="1550" dirty="0">
                <a:solidFill>
                  <a:srgbClr val="30425E"/>
                </a:solidFill>
                <a:latin typeface="Calibri" pitchFamily="34" charset="0"/>
                <a:ea typeface="Calibri" pitchFamily="34" charset="-122"/>
                <a:cs typeface="Calibri" pitchFamily="34" charset="-120"/>
              </a:rPr>
              <a:t>Linux, Windows via WSL, and generally fine on Intel Macs (may need a one-time permission step).</a:t>
            </a:r>
            <a:endParaRPr lang="en-US" sz="1550" dirty="0"/>
          </a:p>
        </p:txBody>
      </p:sp>
      <p:sp>
        <p:nvSpPr>
          <p:cNvPr id="8" name="Shape 6"/>
          <p:cNvSpPr/>
          <p:nvPr/>
        </p:nvSpPr>
        <p:spPr>
          <a:xfrm>
            <a:off x="548640" y="3169920"/>
            <a:ext cx="457200" cy="457200"/>
          </a:xfrm>
          <a:prstGeom prst="rect">
            <a:avLst/>
          </a:prstGeom>
          <a:solidFill>
            <a:srgbClr val="0B1F3A"/>
          </a:solidFill>
          <a:ln/>
        </p:spPr>
      </p:sp>
      <p:sp>
        <p:nvSpPr>
          <p:cNvPr id="9" name="Text 7"/>
          <p:cNvSpPr txBox="1"/>
          <p:nvPr/>
        </p:nvSpPr>
        <p:spPr>
          <a:xfrm>
            <a:off x="548640" y="3169920"/>
            <a:ext cx="457200" cy="457200"/>
          </a:xfrm>
          <a:prstGeom prst="rect">
            <a:avLst/>
          </a:prstGeom>
          <a:noFill/>
          <a:ln/>
        </p:spPr>
        <p:txBody>
          <a:bodyPr wrap="square" lIns="0" tIns="0" rIns="0" bIns="0" rtlCol="0" anchor="ctr"/>
          <a:lstStyle/>
          <a:p>
            <a:pPr algn="ctr" indent="0" marL="0">
              <a:buNone/>
            </a:pPr>
            <a:r>
              <a:rPr lang="en-US" sz="1700" b="1" dirty="0">
                <a:solidFill>
                  <a:srgbClr val="3DDC84"/>
                </a:solidFill>
                <a:latin typeface="Calibri" pitchFamily="34" charset="0"/>
                <a:ea typeface="Calibri" pitchFamily="34" charset="-122"/>
                <a:cs typeface="Calibri" pitchFamily="34" charset="-120"/>
              </a:rPr>
              <a:t>2</a:t>
            </a:r>
            <a:endParaRPr lang="en-US" sz="1700" dirty="0"/>
          </a:p>
        </p:txBody>
      </p:sp>
      <p:sp>
        <p:nvSpPr>
          <p:cNvPr id="10" name="Text 8"/>
          <p:cNvSpPr txBox="1"/>
          <p:nvPr/>
        </p:nvSpPr>
        <p:spPr>
          <a:xfrm>
            <a:off x="1234440" y="3124200"/>
            <a:ext cx="10408615" cy="1295400"/>
          </a:xfrm>
          <a:prstGeom prst="rect">
            <a:avLst/>
          </a:prstGeom>
          <a:noFill/>
          <a:ln/>
        </p:spPr>
        <p:txBody>
          <a:bodyPr wrap="square" lIns="0" tIns="0" rIns="0" bIns="0" rtlCol="0" anchor="t"/>
          <a:lstStyle/>
          <a:p>
            <a:pPr indent="0" marL="0">
              <a:buNone/>
            </a:pPr>
            <a:r>
              <a:rPr lang="en-US" sz="1550" b="1" dirty="0">
                <a:solidFill>
                  <a:srgbClr val="132038"/>
                </a:solidFill>
                <a:latin typeface="Calibri" pitchFamily="34" charset="0"/>
                <a:ea typeface="Calibri" pitchFamily="34" charset="-122"/>
                <a:cs typeface="Calibri" pitchFamily="34" charset="-120"/>
              </a:rPr>
              <a:t>valgrind does not reliably support Apple Silicon  —   </a:t>
            </a:r>
            <a:pPr indent="0" marL="0">
              <a:buNone/>
            </a:pPr>
            <a:r>
              <a:rPr lang="en-US" sz="1550" dirty="0">
                <a:solidFill>
                  <a:srgbClr val="30425E"/>
                </a:solidFill>
                <a:latin typeface="Calibri" pitchFamily="34" charset="0"/>
                <a:ea typeface="Calibri" pitchFamily="34" charset="-122"/>
                <a:cs typeface="Calibri" pitchFamily="34" charset="-120"/>
              </a:rPr>
              <a:t>M1/M2/M3/M4 Macs — a well-known, common situation, not something broken about your setup.</a:t>
            </a:r>
            <a:endParaRPr lang="en-US" sz="1550" dirty="0"/>
          </a:p>
        </p:txBody>
      </p:sp>
      <p:sp>
        <p:nvSpPr>
          <p:cNvPr id="11" name="Shape 9"/>
          <p:cNvSpPr/>
          <p:nvPr/>
        </p:nvSpPr>
        <p:spPr>
          <a:xfrm>
            <a:off x="548640" y="4511040"/>
            <a:ext cx="457200" cy="457200"/>
          </a:xfrm>
          <a:prstGeom prst="rect">
            <a:avLst/>
          </a:prstGeom>
          <a:solidFill>
            <a:srgbClr val="0B1F3A"/>
          </a:solidFill>
          <a:ln/>
        </p:spPr>
      </p:sp>
      <p:sp>
        <p:nvSpPr>
          <p:cNvPr id="12" name="Text 10"/>
          <p:cNvSpPr txBox="1"/>
          <p:nvPr/>
        </p:nvSpPr>
        <p:spPr>
          <a:xfrm>
            <a:off x="548640" y="4511040"/>
            <a:ext cx="457200" cy="457200"/>
          </a:xfrm>
          <a:prstGeom prst="rect">
            <a:avLst/>
          </a:prstGeom>
          <a:noFill/>
          <a:ln/>
        </p:spPr>
        <p:txBody>
          <a:bodyPr wrap="square" lIns="0" tIns="0" rIns="0" bIns="0" rtlCol="0" anchor="ctr"/>
          <a:lstStyle/>
          <a:p>
            <a:pPr algn="ctr" indent="0" marL="0">
              <a:buNone/>
            </a:pPr>
            <a:r>
              <a:rPr lang="en-US" sz="1700" b="1" dirty="0">
                <a:solidFill>
                  <a:srgbClr val="3DDC84"/>
                </a:solidFill>
                <a:latin typeface="Calibri" pitchFamily="34" charset="0"/>
                <a:ea typeface="Calibri" pitchFamily="34" charset="-122"/>
                <a:cs typeface="Calibri" pitchFamily="34" charset="-120"/>
              </a:rPr>
              <a:t>3</a:t>
            </a:r>
            <a:endParaRPr lang="en-US" sz="1700" dirty="0"/>
          </a:p>
        </p:txBody>
      </p:sp>
      <p:sp>
        <p:nvSpPr>
          <p:cNvPr id="13" name="Text 11"/>
          <p:cNvSpPr txBox="1"/>
          <p:nvPr/>
        </p:nvSpPr>
        <p:spPr>
          <a:xfrm>
            <a:off x="1234440" y="4465320"/>
            <a:ext cx="10408615" cy="1295400"/>
          </a:xfrm>
          <a:prstGeom prst="rect">
            <a:avLst/>
          </a:prstGeom>
          <a:noFill/>
          <a:ln/>
        </p:spPr>
        <p:txBody>
          <a:bodyPr wrap="square" lIns="0" tIns="0" rIns="0" bIns="0" rtlCol="0" anchor="t"/>
          <a:lstStyle/>
          <a:p>
            <a:pPr indent="0" marL="0">
              <a:buNone/>
            </a:pPr>
            <a:r>
              <a:rPr lang="en-US" sz="1550" b="1" dirty="0">
                <a:solidFill>
                  <a:srgbClr val="132038"/>
                </a:solidFill>
                <a:latin typeface="Calibri" pitchFamily="34" charset="0"/>
                <a:ea typeface="Calibri" pitchFamily="34" charset="-122"/>
                <a:cs typeface="Calibri" pitchFamily="34" charset="-120"/>
              </a:rPr>
              <a:t>No valgrind? You can still do this whole module  —   </a:t>
            </a:r>
            <a:pPr indent="0" marL="0">
              <a:buNone/>
            </a:pPr>
            <a:r>
              <a:rPr lang="en-US" sz="1550" dirty="0">
                <a:solidFill>
                  <a:srgbClr val="30425E"/>
                </a:solidFill>
                <a:latin typeface="Calibri" pitchFamily="34" charset="0"/>
                <a:ea typeface="Calibri" pitchFamily="34" charset="-122"/>
                <a:cs typeface="Calibri" pitchFamily="34" charset="-120"/>
              </a:rPr>
              <a:t>Work every gdb section normally, then read the reconstructed valgrind reports below as the skill you're building — real output, real line numbers.</a:t>
            </a:r>
            <a:endParaRPr lang="en-US" sz="1550" dirty="0"/>
          </a:p>
        </p:txBody>
      </p:sp>
      <p:sp>
        <p:nvSpPr>
          <p:cNvPr id="14" name="Shape 12"/>
          <p:cNvSpPr/>
          <p:nvPr/>
        </p:nvSpPr>
        <p:spPr>
          <a:xfrm>
            <a:off x="548640" y="5989320"/>
            <a:ext cx="11094415" cy="502920"/>
          </a:xfrm>
          <a:prstGeom prst="roundRect">
            <a:avLst>
              <a:gd name="adj" fmla="val 10909"/>
            </a:avLst>
          </a:prstGeom>
          <a:solidFill>
            <a:srgbClr val="E4F9ED"/>
          </a:solidFill>
          <a:ln/>
        </p:spPr>
      </p:sp>
      <p:sp>
        <p:nvSpPr>
          <p:cNvPr id="15" name="Text 13"/>
          <p:cNvSpPr txBox="1"/>
          <p:nvPr/>
        </p:nvSpPr>
        <p:spPr>
          <a:xfrm>
            <a:off x="731520" y="5989320"/>
            <a:ext cx="10728655" cy="502920"/>
          </a:xfrm>
          <a:prstGeom prst="rect">
            <a:avLst/>
          </a:prstGeom>
          <a:noFill/>
          <a:ln/>
        </p:spPr>
        <p:txBody>
          <a:bodyPr wrap="square" lIns="0" tIns="0" rIns="0" bIns="0" rtlCol="0" anchor="ctr"/>
          <a:lstStyle/>
          <a:p>
            <a:pPr indent="0" marL="0">
              <a:buNone/>
            </a:pPr>
            <a:r>
              <a:rPr lang="en-US" sz="1200" dirty="0">
                <a:solidFill>
                  <a:srgbClr val="156B3F"/>
                </a:solidFill>
                <a:latin typeface="Calibri" pitchFamily="34" charset="0"/>
                <a:ea typeface="Calibri" pitchFamily="34" charset="-122"/>
                <a:cs typeface="Calibri" pitchFamily="34" charset="-120"/>
              </a:rPr>
              <a:t>Nothing below assumes valgrind is running in front of you right now. Read the reports, understand what they say, and you're learning the real skill either way.</a:t>
            </a:r>
            <a:endParaRPr lang="en-US" sz="1200" dirty="0"/>
          </a:p>
        </p:txBody>
      </p:sp>
      <p:sp>
        <p:nvSpPr>
          <p:cNvPr id="16" name="Text 14"/>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15 — DEBUGGING &amp; MEMORY SAFETY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835762" cy="310896"/>
          </a:xfrm>
          <a:prstGeom prst="roundRect">
            <a:avLst>
              <a:gd name="adj" fmla="val 50000"/>
            </a:avLst>
          </a:prstGeom>
          <a:solidFill>
            <a:srgbClr val="0B1F3A"/>
          </a:solidFill>
          <a:ln/>
        </p:spPr>
      </p:sp>
      <p:sp>
        <p:nvSpPr>
          <p:cNvPr id="3" name="Text 1"/>
          <p:cNvSpPr txBox="1"/>
          <p:nvPr/>
        </p:nvSpPr>
        <p:spPr>
          <a:xfrm>
            <a:off x="548640" y="502920"/>
            <a:ext cx="835762" cy="310896"/>
          </a:xfrm>
          <a:prstGeom prst="rect">
            <a:avLst/>
          </a:prstGeom>
          <a:noFill/>
          <a:ln/>
        </p:spPr>
        <p:txBody>
          <a:bodyPr wrap="square" lIns="0" tIns="0" rIns="0" bIns="0" rtlCol="0" anchor="ctr"/>
          <a:lstStyle/>
          <a:p>
            <a:pPr algn="ctr" indent="0" marL="0">
              <a:buNone/>
            </a:pPr>
            <a:r>
              <a:rPr lang="en-US" sz="1100" b="1" dirty="0">
                <a:solidFill>
                  <a:srgbClr val="3DDC84"/>
                </a:solidFill>
                <a:latin typeface="Calibri" pitchFamily="34" charset="0"/>
                <a:ea typeface="Calibri" pitchFamily="34" charset="-122"/>
                <a:cs typeface="Calibri" pitchFamily="34" charset="-120"/>
              </a:rPr>
              <a:t>CONCEPT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ctr"/>
          <a:lstStyle/>
          <a:p>
            <a:pPr indent="0" marL="0">
              <a:buNone/>
            </a:pPr>
            <a:r>
              <a:rPr lang="en-US" sz="2800" b="1" dirty="0">
                <a:solidFill>
                  <a:srgbClr val="132038"/>
                </a:solidFill>
                <a:latin typeface="Cambria" pitchFamily="34" charset="0"/>
                <a:ea typeface="Cambria" pitchFamily="34" charset="-122"/>
                <a:cs typeface="Cambria" pitchFamily="34" charset="-120"/>
              </a:rPr>
              <a:t>Compiling with debug symbols: -g</a:t>
            </a:r>
            <a:endParaRPr lang="en-US" sz="2800" dirty="0"/>
          </a:p>
        </p:txBody>
      </p:sp>
      <p:sp>
        <p:nvSpPr>
          <p:cNvPr id="5" name="Shape 3"/>
          <p:cNvSpPr/>
          <p:nvPr/>
        </p:nvSpPr>
        <p:spPr>
          <a:xfrm>
            <a:off x="548640" y="1600200"/>
            <a:ext cx="6949440" cy="3749040"/>
          </a:xfrm>
          <a:prstGeom prst="roundRect">
            <a:avLst>
              <a:gd name="adj" fmla="val 1951"/>
            </a:avLst>
          </a:prstGeom>
          <a:solidFill>
            <a:srgbClr val="102841"/>
          </a:solidFill>
          <a:ln/>
        </p:spPr>
      </p:sp>
      <p:sp>
        <p:nvSpPr>
          <p:cNvPr id="6" name="Shape 4"/>
          <p:cNvSpPr/>
          <p:nvPr/>
        </p:nvSpPr>
        <p:spPr>
          <a:xfrm>
            <a:off x="749808" y="1764792"/>
            <a:ext cx="109728" cy="109728"/>
          </a:xfrm>
          <a:prstGeom prst="ellipse">
            <a:avLst/>
          </a:prstGeom>
          <a:solidFill>
            <a:srgbClr val="E6675C"/>
          </a:solidFill>
          <a:ln/>
        </p:spPr>
      </p:sp>
      <p:sp>
        <p:nvSpPr>
          <p:cNvPr id="7" name="Shape 5"/>
          <p:cNvSpPr/>
          <p:nvPr/>
        </p:nvSpPr>
        <p:spPr>
          <a:xfrm>
            <a:off x="969264" y="1764792"/>
            <a:ext cx="109728" cy="109728"/>
          </a:xfrm>
          <a:prstGeom prst="ellipse">
            <a:avLst/>
          </a:prstGeom>
          <a:solidFill>
            <a:srgbClr val="E8C15A"/>
          </a:solidFill>
          <a:ln/>
        </p:spPr>
      </p:sp>
      <p:sp>
        <p:nvSpPr>
          <p:cNvPr id="8" name="Shape 6"/>
          <p:cNvSpPr/>
          <p:nvPr/>
        </p:nvSpPr>
        <p:spPr>
          <a:xfrm>
            <a:off x="1188720" y="1764792"/>
            <a:ext cx="109728" cy="109728"/>
          </a:xfrm>
          <a:prstGeom prst="ellipse">
            <a:avLst/>
          </a:prstGeom>
          <a:solidFill>
            <a:srgbClr val="3DDC84"/>
          </a:solidFill>
          <a:ln/>
        </p:spPr>
      </p:sp>
      <p:sp>
        <p:nvSpPr>
          <p:cNvPr id="9" name="Text 7"/>
          <p:cNvSpPr txBox="1"/>
          <p:nvPr/>
        </p:nvSpPr>
        <p:spPr>
          <a:xfrm>
            <a:off x="804672" y="2039112"/>
            <a:ext cx="6492240" cy="3154680"/>
          </a:xfrm>
          <a:prstGeom prst="rect">
            <a:avLst/>
          </a:prstGeom>
          <a:noFill/>
          <a:ln/>
        </p:spPr>
        <p:txBody>
          <a:bodyPr wrap="square" lIns="0" tIns="0" rIns="0" bIns="0" rtlCol="0" anchor="t"/>
          <a:lstStyle/>
          <a:p>
            <a:pPr indent="0" marL="0">
              <a:lnSpc>
                <a:spcPct val="118000"/>
              </a:lnSpc>
              <a:buNone/>
            </a:pPr>
            <a:r>
              <a:rPr lang="en-US" sz="1800" dirty="0">
                <a:solidFill>
                  <a:srgbClr val="E7EDF6"/>
                </a:solidFill>
                <a:latin typeface="Courier New" pitchFamily="34" charset="0"/>
                <a:ea typeface="Courier New" pitchFamily="34" charset="-122"/>
                <a:cs typeface="Courier New" pitchFamily="34" charset="-120"/>
              </a:rPr>
              <a:t>gcc -g file.c -o program</a:t>
            </a:r>
            <a:endParaRPr lang="en-US" sz="1800" dirty="0"/>
          </a:p>
          <a:p>
            <a:pPr indent="0" marL="0">
              <a:lnSpc>
                <a:spcPct val="118000"/>
              </a:lnSpc>
              <a:buNone/>
            </a:pPr>
            <a:r>
              <a:rPr lang="en-US" sz="1800" dirty="0">
                <a:solidFill>
                  <a:srgbClr val="E7EDF6"/>
                </a:solidFill>
                <a:latin typeface="Courier New" pitchFamily="34" charset="0"/>
                <a:ea typeface="Courier New" pitchFamily="34" charset="-122"/>
                <a:cs typeface="Courier New" pitchFamily="34" charset="-120"/>
              </a:rPr>
              <a:t> </a:t>
            </a:r>
            <a:endParaRPr lang="en-US" sz="1800" dirty="0"/>
          </a:p>
          <a:p>
            <a:pPr indent="0" marL="0">
              <a:lnSpc>
                <a:spcPct val="118000"/>
              </a:lnSpc>
              <a:buNone/>
            </a:pPr>
            <a:r>
              <a:rPr lang="en-US" sz="1800" dirty="0">
                <a:solidFill>
                  <a:srgbClr val="E7EDF6"/>
                </a:solidFill>
                <a:latin typeface="Courier New" pitchFamily="34" charset="0"/>
                <a:ea typeface="Courier New" pitchFamily="34" charset="-122"/>
                <a:cs typeface="Courier New" pitchFamily="34" charset="-120"/>
              </a:rPr>
              <a:t> </a:t>
            </a:r>
            <a:endParaRPr lang="en-US" sz="1800" dirty="0"/>
          </a:p>
          <a:p>
            <a:pPr indent="0" marL="0">
              <a:lnSpc>
                <a:spcPct val="118000"/>
              </a:lnSpc>
              <a:buNone/>
            </a:pPr>
            <a:r>
              <a:rPr lang="en-US" sz="1800" dirty="0">
                <a:solidFill>
                  <a:srgbClr val="E7EDF6"/>
                </a:solidFill>
                <a:latin typeface="Courier New" pitchFamily="34" charset="0"/>
                <a:ea typeface="Courier New" pitchFamily="34" charset="-122"/>
                <a:cs typeface="Courier New" pitchFamily="34" charset="-120"/>
              </a:rPr>
              <a:t> </a:t>
            </a:r>
            <a:endParaRPr lang="en-US" sz="1800" dirty="0"/>
          </a:p>
          <a:p>
            <a:pPr indent="0" marL="0">
              <a:lnSpc>
                <a:spcPct val="118000"/>
              </a:lnSpc>
              <a:buNone/>
            </a:pPr>
            <a:r>
              <a:rPr lang="en-US" sz="1800" dirty="0">
                <a:solidFill>
                  <a:srgbClr val="E7EDF6"/>
                </a:solidFill>
                <a:latin typeface="Courier New" pitchFamily="34" charset="0"/>
                <a:ea typeface="Courier New" pitchFamily="34" charset="-122"/>
                <a:cs typeface="Courier New" pitchFamily="34" charset="-120"/>
              </a:rPr>
              <a:t>gcc -g -Wall file.c -o program</a:t>
            </a:r>
            <a:endParaRPr lang="en-US" sz="1800" dirty="0"/>
          </a:p>
        </p:txBody>
      </p:sp>
      <p:sp>
        <p:nvSpPr>
          <p:cNvPr id="10" name="Shape 8"/>
          <p:cNvSpPr/>
          <p:nvPr/>
        </p:nvSpPr>
        <p:spPr>
          <a:xfrm>
            <a:off x="548640" y="5513832"/>
            <a:ext cx="6949440" cy="621792"/>
          </a:xfrm>
          <a:prstGeom prst="roundRect">
            <a:avLst>
              <a:gd name="adj" fmla="val 8824"/>
            </a:avLst>
          </a:prstGeom>
          <a:solidFill>
            <a:srgbClr val="0B1F3A"/>
          </a:solidFill>
          <a:ln/>
        </p:spPr>
      </p:sp>
      <p:sp>
        <p:nvSpPr>
          <p:cNvPr id="11" name="Text 9"/>
          <p:cNvSpPr txBox="1"/>
          <p:nvPr/>
        </p:nvSpPr>
        <p:spPr>
          <a:xfrm>
            <a:off x="749808" y="5513832"/>
            <a:ext cx="6583680" cy="621792"/>
          </a:xfrm>
          <a:prstGeom prst="rect">
            <a:avLst/>
          </a:prstGeom>
          <a:noFill/>
          <a:ln/>
        </p:spPr>
        <p:txBody>
          <a:bodyPr wrap="square" lIns="0" tIns="0" rIns="0" bIns="0" rtlCol="0" anchor="ctr"/>
          <a:lstStyle/>
          <a:p>
            <a:pPr indent="0" marL="0">
              <a:buNone/>
            </a:pPr>
            <a:r>
              <a:rPr lang="en-US" sz="1500" dirty="0">
                <a:solidFill>
                  <a:srgbClr val="3DDC84"/>
                </a:solidFill>
                <a:latin typeface="Calibri" pitchFamily="34" charset="0"/>
                <a:ea typeface="Calibri" pitchFamily="34" charset="-122"/>
                <a:cs typeface="Calibri" pitchFamily="34" charset="-120"/>
              </a:rPr>
              <a:t>▸ </a:t>
            </a:r>
            <a:pPr indent="0" marL="0">
              <a:buNone/>
            </a:pPr>
            <a:r>
              <a:rPr lang="en-US" sz="1500" dirty="0">
                <a:solidFill>
                  <a:srgbClr val="F5F8FC"/>
                </a:solidFill>
                <a:latin typeface="Calibri" pitchFamily="34" charset="0"/>
                <a:ea typeface="Calibri" pitchFamily="34" charset="-122"/>
                <a:cs typeface="Calibri" pitchFamily="34" charset="-120"/>
              </a:rPr>
              <a:t>-g doesn't change how your program runs or what it prints — it only adds information for tools like gdb to use.</a:t>
            </a:r>
            <a:endParaRPr lang="en-US" sz="1500" dirty="0"/>
          </a:p>
        </p:txBody>
      </p:sp>
      <p:sp>
        <p:nvSpPr>
          <p:cNvPr id="12" name="Text 10"/>
          <p:cNvSpPr txBox="1"/>
          <p:nvPr/>
        </p:nvSpPr>
        <p:spPr>
          <a:xfrm>
            <a:off x="7909560" y="1691640"/>
            <a:ext cx="3733495" cy="4480560"/>
          </a:xfrm>
          <a:prstGeom prst="rect">
            <a:avLst/>
          </a:prstGeom>
          <a:noFill/>
          <a:ln/>
        </p:spPr>
        <p:txBody>
          <a:bodyPr wrap="square" lIns="0" tIns="0" rIns="0" bIns="0" rtlCol="0" anchor="t"/>
          <a:lstStyle/>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-g bakes extra info into the binary: which machine instruction maps to which source line, and your variables' real names.</a:t>
            </a:r>
            <a:endParaRPr lang="en-US" sz="1650" dirty="0"/>
          </a:p>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Without -g, a debugger shows raw memory addresses — technically correct, practically useless.</a:t>
            </a:r>
            <a:endParaRPr lang="en-US" sz="1650" dirty="0"/>
          </a:p>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With -g, it shows hook.c:4 and score=0x0 instead.</a:t>
            </a:r>
            <a:endParaRPr lang="en-US" sz="1650" dirty="0"/>
          </a:p>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Get in the habit of compiling with -g -Wall any time you're about to debug something.</a:t>
            </a:r>
            <a:endParaRPr lang="en-US" sz="1650" dirty="0"/>
          </a:p>
        </p:txBody>
      </p:sp>
      <p:sp>
        <p:nvSpPr>
          <p:cNvPr id="13" name="Text 1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15 — DEBUGGING &amp; MEMORY SAFETY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835762" cy="310896"/>
          </a:xfrm>
          <a:prstGeom prst="roundRect">
            <a:avLst>
              <a:gd name="adj" fmla="val 50000"/>
            </a:avLst>
          </a:prstGeom>
          <a:solidFill>
            <a:srgbClr val="0B1F3A"/>
          </a:solidFill>
          <a:ln/>
        </p:spPr>
      </p:sp>
      <p:sp>
        <p:nvSpPr>
          <p:cNvPr id="3" name="Text 1"/>
          <p:cNvSpPr txBox="1"/>
          <p:nvPr/>
        </p:nvSpPr>
        <p:spPr>
          <a:xfrm>
            <a:off x="548640" y="502920"/>
            <a:ext cx="835762" cy="310896"/>
          </a:xfrm>
          <a:prstGeom prst="rect">
            <a:avLst/>
          </a:prstGeom>
          <a:noFill/>
          <a:ln/>
        </p:spPr>
        <p:txBody>
          <a:bodyPr wrap="square" lIns="0" tIns="0" rIns="0" bIns="0" rtlCol="0" anchor="ctr"/>
          <a:lstStyle/>
          <a:p>
            <a:pPr algn="ctr" indent="0" marL="0">
              <a:buNone/>
            </a:pPr>
            <a:r>
              <a:rPr lang="en-US" sz="1100" b="1" dirty="0">
                <a:solidFill>
                  <a:srgbClr val="3DDC84"/>
                </a:solidFill>
                <a:latin typeface="Calibri" pitchFamily="34" charset="0"/>
                <a:ea typeface="Calibri" pitchFamily="34" charset="-122"/>
                <a:cs typeface="Calibri" pitchFamily="34" charset="-120"/>
              </a:rPr>
              <a:t>CONCEPT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ctr"/>
          <a:lstStyle/>
          <a:p>
            <a:pPr indent="0" marL="0">
              <a:buNone/>
            </a:pPr>
            <a:r>
              <a:rPr lang="en-US" sz="2800" b="1" dirty="0">
                <a:solidFill>
                  <a:srgbClr val="132038"/>
                </a:solidFill>
                <a:latin typeface="Cambria" pitchFamily="34" charset="0"/>
                <a:ea typeface="Cambria" pitchFamily="34" charset="-122"/>
                <a:cs typeface="Cambria" pitchFamily="34" charset="-120"/>
              </a:rPr>
              <a:t>gdb: the small, practical subset</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3931920"/>
        </p:xfrm>
        <a:graphic>
          <a:graphicData uri="http://schemas.openxmlformats.org/drawingml/2006/table">
            <a:tbl>
              <a:tblPr/>
              <a:tblGrid>
                <a:gridCol w="2377440"/>
                <a:gridCol w="8716975"/>
              </a:tblGrid>
              <a:tr h="491490">
                <a:tc>
                  <a:txBody>
                    <a:bodyPr/>
                    <a:lstStyle/>
                    <a:p>
                      <a:pPr indent="0" marL="0">
                        <a:buNone/>
                      </a:pPr>
                      <a:r>
                        <a:rPr lang="en-US" sz="1400" b="1" dirty="0">
                          <a:solidFill>
                            <a:srgbClr val="F5F8FC"/>
                          </a:solidFill>
                          <a:latin typeface="Calibri" pitchFamily="34" charset="0"/>
                          <a:ea typeface="Calibri" pitchFamily="34" charset="-122"/>
                          <a:cs typeface="Calibri" pitchFamily="34" charset="-120"/>
                        </a:rPr>
                        <a:t>Command</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0B1F3A"/>
                    </a:solidFill>
                  </a:tcPr>
                </a:tc>
                <a:tc>
                  <a:txBody>
                    <a:bodyPr/>
                    <a:lstStyle/>
                    <a:p>
                      <a:pPr indent="0" marL="0">
                        <a:buNone/>
                      </a:pPr>
                      <a:r>
                        <a:rPr lang="en-US" sz="1400" b="1" dirty="0">
                          <a:solidFill>
                            <a:srgbClr val="F5F8FC"/>
                          </a:solidFill>
                          <a:latin typeface="Calibri" pitchFamily="34" charset="0"/>
                          <a:ea typeface="Calibri" pitchFamily="34" charset="-122"/>
                          <a:cs typeface="Calibri" pitchFamily="34" charset="-120"/>
                        </a:rPr>
                        <a:t>What it does</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0B1F3A"/>
                    </a:solidFill>
                  </a:tcPr>
                </a:tc>
              </a:tr>
              <a:tr h="491490">
                <a:tc>
                  <a:txBody>
                    <a:bodyPr/>
                    <a:lstStyle/>
                    <a:p>
                      <a:pPr indent="0" marL="0">
                        <a:buNone/>
                      </a:pPr>
                      <a:r>
                        <a:rPr lang="en-US" sz="1400" dirty="0">
                          <a:solidFill>
                            <a:srgbClr val="132038"/>
                          </a:solidFill>
                          <a:latin typeface="Courier New" pitchFamily="34" charset="0"/>
                          <a:ea typeface="Courier New" pitchFamily="34" charset="-122"/>
                          <a:cs typeface="Courier New" pitchFamily="34" charset="-120"/>
                        </a:rPr>
                        <a:t>run / r</a:t>
                      </a:r>
                      <a:endParaRPr lang="en-US" sz="1400" dirty="0">
                        <a:latin typeface="Courier New" charset="0"/>
                        <a:ea typeface="Courier New" charset="0"/>
                        <a:cs typeface="Courier New"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Starts the program under gdb's supervision; pauses at the instant of a crash instead of letting the OS kill it silently.</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r>
              <a:tr h="491490">
                <a:tc>
                  <a:txBody>
                    <a:bodyPr/>
                    <a:lstStyle/>
                    <a:p>
                      <a:pPr indent="0" marL="0">
                        <a:buNone/>
                      </a:pPr>
                      <a:r>
                        <a:rPr lang="en-US" sz="1400" dirty="0">
                          <a:solidFill>
                            <a:srgbClr val="132038"/>
                          </a:solidFill>
                          <a:latin typeface="Courier New" pitchFamily="34" charset="0"/>
                          <a:ea typeface="Courier New" pitchFamily="34" charset="-122"/>
                          <a:cs typeface="Courier New" pitchFamily="34" charset="-120"/>
                        </a:rPr>
                        <a:t>bt</a:t>
                      </a:r>
                      <a:endParaRPr lang="en-US" sz="1400" dirty="0">
                        <a:latin typeface="Courier New" charset="0"/>
                        <a:ea typeface="Courier New" charset="0"/>
                        <a:cs typeface="Courier New"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9EEF6"/>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Backtrace — prints the chain of function calls that got you here, most recent (#0, the crash site) first.</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9EEF6"/>
                    </a:solidFill>
                  </a:tcPr>
                </a:tc>
              </a:tr>
              <a:tr h="491490">
                <a:tc>
                  <a:txBody>
                    <a:bodyPr/>
                    <a:lstStyle/>
                    <a:p>
                      <a:pPr indent="0" marL="0">
                        <a:buNone/>
                      </a:pPr>
                      <a:r>
                        <a:rPr lang="en-US" sz="1400" dirty="0">
                          <a:solidFill>
                            <a:srgbClr val="132038"/>
                          </a:solidFill>
                          <a:latin typeface="Courier New" pitchFamily="34" charset="0"/>
                          <a:ea typeface="Courier New" pitchFamily="34" charset="-122"/>
                          <a:cs typeface="Courier New" pitchFamily="34" charset="-120"/>
                        </a:rPr>
                        <a:t>break / b</a:t>
                      </a:r>
                      <a:endParaRPr lang="en-US" sz="1400" dirty="0">
                        <a:latin typeface="Courier New" charset="0"/>
                        <a:ea typeface="Courier New" charset="0"/>
                        <a:cs typeface="Courier New"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Sets a breakpoint by function name or file:line — the program pauses there instead of waiting for a crash.</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r>
              <a:tr h="491490">
                <a:tc>
                  <a:txBody>
                    <a:bodyPr/>
                    <a:lstStyle/>
                    <a:p>
                      <a:pPr indent="0" marL="0">
                        <a:buNone/>
                      </a:pPr>
                      <a:r>
                        <a:rPr lang="en-US" sz="1400" dirty="0">
                          <a:solidFill>
                            <a:srgbClr val="132038"/>
                          </a:solidFill>
                          <a:latin typeface="Courier New" pitchFamily="34" charset="0"/>
                          <a:ea typeface="Courier New" pitchFamily="34" charset="-122"/>
                          <a:cs typeface="Courier New" pitchFamily="34" charset="-120"/>
                        </a:rPr>
                        <a:t>next / n</a:t>
                      </a:r>
                      <a:endParaRPr lang="en-US" sz="1400" dirty="0">
                        <a:latin typeface="Courier New" charset="0"/>
                        <a:ea typeface="Courier New" charset="0"/>
                        <a:cs typeface="Courier New"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9EEF6"/>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Runs the current line, steps OVER any function call (it runs to completion without you following in).</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9EEF6"/>
                    </a:solidFill>
                  </a:tcPr>
                </a:tc>
              </a:tr>
              <a:tr h="491490">
                <a:tc>
                  <a:txBody>
                    <a:bodyPr/>
                    <a:lstStyle/>
                    <a:p>
                      <a:pPr indent="0" marL="0">
                        <a:buNone/>
                      </a:pPr>
                      <a:r>
                        <a:rPr lang="en-US" sz="1400" dirty="0">
                          <a:solidFill>
                            <a:srgbClr val="132038"/>
                          </a:solidFill>
                          <a:latin typeface="Courier New" pitchFamily="34" charset="0"/>
                          <a:ea typeface="Courier New" pitchFamily="34" charset="-122"/>
                          <a:cs typeface="Courier New" pitchFamily="34" charset="-120"/>
                        </a:rPr>
                        <a:t>step / s</a:t>
                      </a:r>
                      <a:endParaRPr lang="en-US" sz="1400" dirty="0">
                        <a:latin typeface="Courier New" charset="0"/>
                        <a:ea typeface="Courier New" charset="0"/>
                        <a:cs typeface="Courier New"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Same as next, but steps INTO a function call — useful when the bug might be inside it.</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r>
              <a:tr h="491490">
                <a:tc>
                  <a:txBody>
                    <a:bodyPr/>
                    <a:lstStyle/>
                    <a:p>
                      <a:pPr indent="0" marL="0">
                        <a:buNone/>
                      </a:pPr>
                      <a:r>
                        <a:rPr lang="en-US" sz="1400" dirty="0">
                          <a:solidFill>
                            <a:srgbClr val="132038"/>
                          </a:solidFill>
                          <a:latin typeface="Courier New" pitchFamily="34" charset="0"/>
                          <a:ea typeface="Courier New" pitchFamily="34" charset="-122"/>
                          <a:cs typeface="Courier New" pitchFamily="34" charset="-120"/>
                        </a:rPr>
                        <a:t>print / p</a:t>
                      </a:r>
                      <a:endParaRPr lang="en-US" sz="1400" dirty="0">
                        <a:latin typeface="Courier New" charset="0"/>
                        <a:ea typeface="Courier New" charset="0"/>
                        <a:cs typeface="Courier New"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9EEF6"/>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Shows a variable's current value at any point while the program is paused.</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9EEF6"/>
                    </a:solidFill>
                  </a:tcPr>
                </a:tc>
              </a:tr>
              <a:tr h="491490">
                <a:tc>
                  <a:txBody>
                    <a:bodyPr/>
                    <a:lstStyle/>
                    <a:p>
                      <a:pPr indent="0" marL="0">
                        <a:buNone/>
                      </a:pPr>
                      <a:r>
                        <a:rPr lang="en-US" sz="1400" dirty="0">
                          <a:solidFill>
                            <a:srgbClr val="132038"/>
                          </a:solidFill>
                          <a:latin typeface="Courier New" pitchFamily="34" charset="0"/>
                          <a:ea typeface="Courier New" pitchFamily="34" charset="-122"/>
                          <a:cs typeface="Courier New" pitchFamily="34" charset="-120"/>
                        </a:rPr>
                        <a:t>quit / q</a:t>
                      </a:r>
                      <a:endParaRPr lang="en-US" sz="1400" dirty="0">
                        <a:latin typeface="Courier New" charset="0"/>
                        <a:ea typeface="Courier New" charset="0"/>
                        <a:cs typeface="Courier New"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Leaves gdb.</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5989320"/>
            <a:ext cx="11094415" cy="502920"/>
          </a:xfrm>
          <a:prstGeom prst="roundRect">
            <a:avLst>
              <a:gd name="adj" fmla="val 10909"/>
            </a:avLst>
          </a:prstGeom>
          <a:solidFill>
            <a:srgbClr val="E4F9ED"/>
          </a:solidFill>
          <a:ln/>
        </p:spPr>
      </p:sp>
      <p:sp>
        <p:nvSpPr>
          <p:cNvPr id="7" name="Text 4"/>
          <p:cNvSpPr txBox="1"/>
          <p:nvPr/>
        </p:nvSpPr>
        <p:spPr>
          <a:xfrm>
            <a:off x="731520" y="5989320"/>
            <a:ext cx="10728655" cy="502920"/>
          </a:xfrm>
          <a:prstGeom prst="rect">
            <a:avLst/>
          </a:prstGeom>
          <a:noFill/>
          <a:ln/>
        </p:spPr>
        <p:txBody>
          <a:bodyPr wrap="square" lIns="0" tIns="0" rIns="0" bIns="0" rtlCol="0" anchor="ctr"/>
          <a:lstStyle/>
          <a:p>
            <a:pPr indent="0" marL="0">
              <a:buNone/>
            </a:pPr>
            <a:r>
              <a:rPr lang="en-US" sz="1200" dirty="0">
                <a:solidFill>
                  <a:srgbClr val="156B3F"/>
                </a:solidFill>
                <a:latin typeface="Calibri" pitchFamily="34" charset="0"/>
                <a:ea typeface="Calibri" pitchFamily="34" charset="-122"/>
                <a:cs typeface="Calibri" pitchFamily="34" charset="-120"/>
              </a:rPr>
              <a:t>Six commands handle most beginner debugging. Everything else gdb can do, look up when you actually need it.</a:t>
            </a:r>
            <a:endParaRPr lang="en-US" sz="1200" dirty="0"/>
          </a:p>
        </p:txBody>
      </p:sp>
      <p:sp>
        <p:nvSpPr>
          <p:cNvPr id="8" name="Text 5"/>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15 — DEBUGGING &amp; MEMORY SAFETY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835762" cy="310896"/>
          </a:xfrm>
          <a:prstGeom prst="roundRect">
            <a:avLst>
              <a:gd name="adj" fmla="val 50000"/>
            </a:avLst>
          </a:prstGeom>
          <a:solidFill>
            <a:srgbClr val="0B1F3A"/>
          </a:solidFill>
          <a:ln/>
        </p:spPr>
      </p:sp>
      <p:sp>
        <p:nvSpPr>
          <p:cNvPr id="3" name="Text 1"/>
          <p:cNvSpPr txBox="1"/>
          <p:nvPr/>
        </p:nvSpPr>
        <p:spPr>
          <a:xfrm>
            <a:off x="548640" y="502920"/>
            <a:ext cx="835762" cy="310896"/>
          </a:xfrm>
          <a:prstGeom prst="rect">
            <a:avLst/>
          </a:prstGeom>
          <a:noFill/>
          <a:ln/>
        </p:spPr>
        <p:txBody>
          <a:bodyPr wrap="square" lIns="0" tIns="0" rIns="0" bIns="0" rtlCol="0" anchor="ctr"/>
          <a:lstStyle/>
          <a:p>
            <a:pPr algn="ctr" indent="0" marL="0">
              <a:buNone/>
            </a:pPr>
            <a:r>
              <a:rPr lang="en-US" sz="1100" b="1" dirty="0">
                <a:solidFill>
                  <a:srgbClr val="3DDC84"/>
                </a:solidFill>
                <a:latin typeface="Calibri" pitchFamily="34" charset="0"/>
                <a:ea typeface="Calibri" pitchFamily="34" charset="-122"/>
                <a:cs typeface="Calibri" pitchFamily="34" charset="-120"/>
              </a:rPr>
              <a:t>CONCEPT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ctr"/>
          <a:lstStyle/>
          <a:p>
            <a:pPr indent="0" marL="0">
              <a:buNone/>
            </a:pPr>
            <a:r>
              <a:rPr lang="en-US" sz="2800" b="1" dirty="0">
                <a:solidFill>
                  <a:srgbClr val="132038"/>
                </a:solidFill>
                <a:latin typeface="Cambria" pitchFamily="34" charset="0"/>
                <a:ea typeface="Cambria" pitchFamily="34" charset="-122"/>
                <a:cs typeface="Cambria" pitchFamily="34" charset="-120"/>
              </a:rPr>
              <a:t>Pausing on purpose: breakpoints and stepping</a:t>
            </a:r>
            <a:endParaRPr lang="en-US" sz="2800" dirty="0"/>
          </a:p>
        </p:txBody>
      </p:sp>
      <p:sp>
        <p:nvSpPr>
          <p:cNvPr id="5" name="Shape 3"/>
          <p:cNvSpPr/>
          <p:nvPr/>
        </p:nvSpPr>
        <p:spPr>
          <a:xfrm>
            <a:off x="548640" y="1600200"/>
            <a:ext cx="6949440" cy="3749040"/>
          </a:xfrm>
          <a:prstGeom prst="roundRect">
            <a:avLst>
              <a:gd name="adj" fmla="val 1951"/>
            </a:avLst>
          </a:prstGeom>
          <a:solidFill>
            <a:srgbClr val="102841"/>
          </a:solidFill>
          <a:ln/>
        </p:spPr>
      </p:sp>
      <p:sp>
        <p:nvSpPr>
          <p:cNvPr id="6" name="Shape 4"/>
          <p:cNvSpPr/>
          <p:nvPr/>
        </p:nvSpPr>
        <p:spPr>
          <a:xfrm>
            <a:off x="749808" y="1764792"/>
            <a:ext cx="109728" cy="109728"/>
          </a:xfrm>
          <a:prstGeom prst="ellipse">
            <a:avLst/>
          </a:prstGeom>
          <a:solidFill>
            <a:srgbClr val="E6675C"/>
          </a:solidFill>
          <a:ln/>
        </p:spPr>
      </p:sp>
      <p:sp>
        <p:nvSpPr>
          <p:cNvPr id="7" name="Shape 5"/>
          <p:cNvSpPr/>
          <p:nvPr/>
        </p:nvSpPr>
        <p:spPr>
          <a:xfrm>
            <a:off x="969264" y="1764792"/>
            <a:ext cx="109728" cy="109728"/>
          </a:xfrm>
          <a:prstGeom prst="ellipse">
            <a:avLst/>
          </a:prstGeom>
          <a:solidFill>
            <a:srgbClr val="E8C15A"/>
          </a:solidFill>
          <a:ln/>
        </p:spPr>
      </p:sp>
      <p:sp>
        <p:nvSpPr>
          <p:cNvPr id="8" name="Shape 6"/>
          <p:cNvSpPr/>
          <p:nvPr/>
        </p:nvSpPr>
        <p:spPr>
          <a:xfrm>
            <a:off x="1188720" y="1764792"/>
            <a:ext cx="109728" cy="109728"/>
          </a:xfrm>
          <a:prstGeom prst="ellipse">
            <a:avLst/>
          </a:prstGeom>
          <a:solidFill>
            <a:srgbClr val="3DDC84"/>
          </a:solidFill>
          <a:ln/>
        </p:spPr>
      </p:sp>
      <p:sp>
        <p:nvSpPr>
          <p:cNvPr id="9" name="Text 7"/>
          <p:cNvSpPr txBox="1"/>
          <p:nvPr/>
        </p:nvSpPr>
        <p:spPr>
          <a:xfrm>
            <a:off x="804672" y="2039112"/>
            <a:ext cx="6492240" cy="3154680"/>
          </a:xfrm>
          <a:prstGeom prst="rect">
            <a:avLst/>
          </a:prstGeom>
          <a:noFill/>
          <a:ln/>
        </p:spPr>
        <p:txBody>
          <a:bodyPr wrap="square" lIns="0" tIns="0" rIns="0" bIns="0" rtlCol="0" anchor="t"/>
          <a:lstStyle/>
          <a:p>
            <a:pPr indent="0" marL="0">
              <a:lnSpc>
                <a:spcPct val="118000"/>
              </a:lnSpc>
              <a:buNone/>
            </a:pPr>
            <a:r>
              <a:rPr lang="en-US" sz="1500" dirty="0">
                <a:solidFill>
                  <a:srgbClr val="E7EDF6"/>
                </a:solidFill>
                <a:latin typeface="Courier New" pitchFamily="34" charset="0"/>
                <a:ea typeface="Courier New" pitchFamily="34" charset="-122"/>
                <a:cs typeface="Courier New" pitchFamily="34" charset="-120"/>
              </a:rPr>
              <a:t>(gdb) break printScore</a:t>
            </a:r>
            <a:endParaRPr lang="en-US" sz="1500" dirty="0"/>
          </a:p>
          <a:p>
            <a:pPr indent="0" marL="0">
              <a:lnSpc>
                <a:spcPct val="118000"/>
              </a:lnSpc>
              <a:buNone/>
            </a:pPr>
            <a:r>
              <a:rPr lang="en-US" sz="1500" dirty="0">
                <a:solidFill>
                  <a:srgbClr val="E7EDF6"/>
                </a:solidFill>
                <a:latin typeface="Courier New" pitchFamily="34" charset="0"/>
                <a:ea typeface="Courier New" pitchFamily="34" charset="-122"/>
                <a:cs typeface="Courier New" pitchFamily="34" charset="-120"/>
              </a:rPr>
              <a:t>(gdb) break hook.c:10</a:t>
            </a:r>
            <a:endParaRPr lang="en-US" sz="1500" dirty="0"/>
          </a:p>
          <a:p>
            <a:pPr indent="0" marL="0">
              <a:lnSpc>
                <a:spcPct val="118000"/>
              </a:lnSpc>
              <a:buNone/>
            </a:pPr>
            <a:r>
              <a:rPr lang="en-US" sz="1500" dirty="0">
                <a:solidFill>
                  <a:srgbClr val="E7EDF6"/>
                </a:solidFill>
                <a:latin typeface="Courier New" pitchFamily="34" charset="0"/>
                <a:ea typeface="Courier New" pitchFamily="34" charset="-122"/>
                <a:cs typeface="Courier New" pitchFamily="34" charset="-120"/>
              </a:rPr>
              <a:t>(gdb) run</a:t>
            </a:r>
            <a:endParaRPr lang="en-US" sz="1500" dirty="0"/>
          </a:p>
          <a:p>
            <a:pPr indent="0" marL="0">
              <a:lnSpc>
                <a:spcPct val="118000"/>
              </a:lnSpc>
              <a:buNone/>
            </a:pPr>
            <a:r>
              <a:rPr lang="en-US" sz="1500" dirty="0">
                <a:solidFill>
                  <a:srgbClr val="E7EDF6"/>
                </a:solidFill>
                <a:latin typeface="Courier New" pitchFamily="34" charset="0"/>
                <a:ea typeface="Courier New" pitchFamily="34" charset="-122"/>
                <a:cs typeface="Courier New" pitchFamily="34" charset="-120"/>
              </a:rPr>
              <a:t> </a:t>
            </a:r>
            <a:endParaRPr lang="en-US" sz="1500" dirty="0"/>
          </a:p>
          <a:p>
            <a:pPr indent="0" marL="0">
              <a:lnSpc>
                <a:spcPct val="118000"/>
              </a:lnSpc>
              <a:buNone/>
            </a:pPr>
            <a:r>
              <a:rPr lang="en-US" sz="1500" dirty="0">
                <a:solidFill>
                  <a:srgbClr val="E7EDF6"/>
                </a:solidFill>
                <a:latin typeface="Courier New" pitchFamily="34" charset="0"/>
                <a:ea typeface="Courier New" pitchFamily="34" charset="-122"/>
                <a:cs typeface="Courier New" pitchFamily="34" charset="-120"/>
              </a:rPr>
              <a:t>Program stopped at hook.c:4</a:t>
            </a:r>
            <a:endParaRPr lang="en-US" sz="1500" dirty="0"/>
          </a:p>
          <a:p>
            <a:pPr indent="0" marL="0">
              <a:lnSpc>
                <a:spcPct val="118000"/>
              </a:lnSpc>
              <a:buNone/>
            </a:pPr>
            <a:r>
              <a:rPr lang="en-US" sz="1500" dirty="0">
                <a:solidFill>
                  <a:srgbClr val="E7EDF6"/>
                </a:solidFill>
                <a:latin typeface="Courier New" pitchFamily="34" charset="0"/>
                <a:ea typeface="Courier New" pitchFamily="34" charset="-122"/>
                <a:cs typeface="Courier New" pitchFamily="34" charset="-120"/>
              </a:rPr>
              <a:t>4    printf("Score: %d\n", *score);</a:t>
            </a:r>
            <a:endParaRPr lang="en-US" sz="1500" dirty="0"/>
          </a:p>
          <a:p>
            <a:pPr indent="0" marL="0">
              <a:lnSpc>
                <a:spcPct val="118000"/>
              </a:lnSpc>
              <a:buNone/>
            </a:pPr>
            <a:r>
              <a:rPr lang="en-US" sz="1500" dirty="0">
                <a:solidFill>
                  <a:srgbClr val="E7EDF6"/>
                </a:solidFill>
                <a:latin typeface="Courier New" pitchFamily="34" charset="0"/>
                <a:ea typeface="Courier New" pitchFamily="34" charset="-122"/>
                <a:cs typeface="Courier New" pitchFamily="34" charset="-120"/>
              </a:rPr>
              <a:t> </a:t>
            </a:r>
            <a:endParaRPr lang="en-US" sz="1500" dirty="0"/>
          </a:p>
          <a:p>
            <a:pPr indent="0" marL="0">
              <a:lnSpc>
                <a:spcPct val="118000"/>
              </a:lnSpc>
              <a:buNone/>
            </a:pPr>
            <a:r>
              <a:rPr lang="en-US" sz="1500" dirty="0">
                <a:solidFill>
                  <a:srgbClr val="E7EDF6"/>
                </a:solidFill>
                <a:latin typeface="Courier New" pitchFamily="34" charset="0"/>
                <a:ea typeface="Courier New" pitchFamily="34" charset="-122"/>
                <a:cs typeface="Courier New" pitchFamily="34" charset="-120"/>
              </a:rPr>
              <a:t>(gdb) print currentScore</a:t>
            </a:r>
            <a:endParaRPr lang="en-US" sz="1500" dirty="0"/>
          </a:p>
          <a:p>
            <a:pPr indent="0" marL="0">
              <a:lnSpc>
                <a:spcPct val="118000"/>
              </a:lnSpc>
              <a:buNone/>
            </a:pPr>
            <a:r>
              <a:rPr lang="en-US" sz="1500" dirty="0">
                <a:solidFill>
                  <a:srgbClr val="E7EDF6"/>
                </a:solidFill>
                <a:latin typeface="Courier New" pitchFamily="34" charset="0"/>
                <a:ea typeface="Courier New" pitchFamily="34" charset="-122"/>
                <a:cs typeface="Courier New" pitchFamily="34" charset="-120"/>
              </a:rPr>
              <a:t>$1 = (int *) 0x0</a:t>
            </a:r>
            <a:endParaRPr lang="en-US" sz="1500" dirty="0"/>
          </a:p>
          <a:p>
            <a:pPr indent="0" marL="0">
              <a:lnSpc>
                <a:spcPct val="118000"/>
              </a:lnSpc>
              <a:buNone/>
            </a:pPr>
            <a:r>
              <a:rPr lang="en-US" sz="1500" dirty="0">
                <a:solidFill>
                  <a:srgbClr val="E7EDF6"/>
                </a:solidFill>
                <a:latin typeface="Courier New" pitchFamily="34" charset="0"/>
                <a:ea typeface="Courier New" pitchFamily="34" charset="-122"/>
                <a:cs typeface="Courier New" pitchFamily="34" charset="-120"/>
              </a:rPr>
              <a:t> </a:t>
            </a:r>
            <a:endParaRPr lang="en-US" sz="1500" dirty="0"/>
          </a:p>
          <a:p>
            <a:pPr indent="0" marL="0">
              <a:lnSpc>
                <a:spcPct val="118000"/>
              </a:lnSpc>
              <a:buNone/>
            </a:pPr>
            <a:r>
              <a:rPr lang="en-US" sz="1500" dirty="0">
                <a:solidFill>
                  <a:srgbClr val="E7EDF6"/>
                </a:solidFill>
                <a:latin typeface="Courier New" pitchFamily="34" charset="0"/>
                <a:ea typeface="Courier New" pitchFamily="34" charset="-122"/>
                <a:cs typeface="Courier New" pitchFamily="34" charset="-120"/>
              </a:rPr>
              <a:t>(gdb) next</a:t>
            </a:r>
            <a:endParaRPr lang="en-US" sz="1500" dirty="0"/>
          </a:p>
          <a:p>
            <a:pPr indent="0" marL="0">
              <a:lnSpc>
                <a:spcPct val="118000"/>
              </a:lnSpc>
              <a:buNone/>
            </a:pPr>
            <a:r>
              <a:rPr lang="en-US" sz="1500" dirty="0">
                <a:solidFill>
                  <a:srgbClr val="E7EDF6"/>
                </a:solidFill>
                <a:latin typeface="Courier New" pitchFamily="34" charset="0"/>
                <a:ea typeface="Courier New" pitchFamily="34" charset="-122"/>
                <a:cs typeface="Courier New" pitchFamily="34" charset="-120"/>
              </a:rPr>
              <a:t>(gdb) step</a:t>
            </a:r>
            <a:endParaRPr lang="en-US" sz="1500" dirty="0"/>
          </a:p>
        </p:txBody>
      </p:sp>
      <p:sp>
        <p:nvSpPr>
          <p:cNvPr id="10" name="Shape 8"/>
          <p:cNvSpPr/>
          <p:nvPr/>
        </p:nvSpPr>
        <p:spPr>
          <a:xfrm>
            <a:off x="548640" y="5513832"/>
            <a:ext cx="6949440" cy="621792"/>
          </a:xfrm>
          <a:prstGeom prst="roundRect">
            <a:avLst>
              <a:gd name="adj" fmla="val 8824"/>
            </a:avLst>
          </a:prstGeom>
          <a:solidFill>
            <a:srgbClr val="0B1F3A"/>
          </a:solidFill>
          <a:ln/>
        </p:spPr>
      </p:sp>
      <p:sp>
        <p:nvSpPr>
          <p:cNvPr id="11" name="Text 9"/>
          <p:cNvSpPr txBox="1"/>
          <p:nvPr/>
        </p:nvSpPr>
        <p:spPr>
          <a:xfrm>
            <a:off x="749808" y="5513832"/>
            <a:ext cx="6583680" cy="621792"/>
          </a:xfrm>
          <a:prstGeom prst="rect">
            <a:avLst/>
          </a:prstGeom>
          <a:noFill/>
          <a:ln/>
        </p:spPr>
        <p:txBody>
          <a:bodyPr wrap="square" lIns="0" tIns="0" rIns="0" bIns="0" rtlCol="0" anchor="ctr"/>
          <a:lstStyle/>
          <a:p>
            <a:pPr indent="0" marL="0">
              <a:buNone/>
            </a:pPr>
            <a:r>
              <a:rPr lang="en-US" sz="1500" dirty="0">
                <a:solidFill>
                  <a:srgbClr val="3DDC84"/>
                </a:solidFill>
                <a:latin typeface="Calibri" pitchFamily="34" charset="0"/>
                <a:ea typeface="Calibri" pitchFamily="34" charset="-122"/>
                <a:cs typeface="Calibri" pitchFamily="34" charset="-120"/>
              </a:rPr>
              <a:t>▸ </a:t>
            </a:r>
            <a:pPr indent="0" marL="0">
              <a:buNone/>
            </a:pPr>
            <a:r>
              <a:rPr lang="en-US" sz="1500" dirty="0">
                <a:solidFill>
                  <a:srgbClr val="F5F8FC"/>
                </a:solidFill>
                <a:latin typeface="Calibri" pitchFamily="34" charset="0"/>
                <a:ea typeface="Calibri" pitchFamily="34" charset="-122"/>
                <a:cs typeface="Calibri" pitchFamily="34" charset="-120"/>
              </a:rPr>
              <a:t>0x0 is NULL — the bug, confirmed directly from the running program instead of inferred from a crash message.</a:t>
            </a:r>
            <a:endParaRPr lang="en-US" sz="1500" dirty="0"/>
          </a:p>
        </p:txBody>
      </p:sp>
      <p:sp>
        <p:nvSpPr>
          <p:cNvPr id="12" name="Text 10"/>
          <p:cNvSpPr txBox="1"/>
          <p:nvPr/>
        </p:nvSpPr>
        <p:spPr>
          <a:xfrm>
            <a:off x="7909560" y="1691640"/>
            <a:ext cx="3733495" cy="4480560"/>
          </a:xfrm>
          <a:prstGeom prst="rect">
            <a:avLst/>
          </a:prstGeom>
          <a:noFill/>
          <a:ln/>
        </p:spPr>
        <p:txBody>
          <a:bodyPr wrap="square" lIns="0" tIns="0" rIns="0" bIns="0" rtlCol="0" anchor="t"/>
          <a:lstStyle/>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break pauses execution at a specific function or file:line, before it ever runs — no crash required.</a:t>
            </a:r>
            <a:endParaRPr lang="en-US" sz="1650" dirty="0"/>
          </a:p>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next steps over a function call; step follows into it. Use step when the bug might be inside the call.</a:t>
            </a:r>
            <a:endParaRPr lang="en-US" sz="1650" dirty="0"/>
          </a:p>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print shows any variable's live value while the program sits paused.</a:t>
            </a:r>
            <a:endParaRPr lang="en-US" sz="1650" dirty="0"/>
          </a:p>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This is how you investigate a bug you suspect, not just one that already crashed.</a:t>
            </a:r>
            <a:endParaRPr lang="en-US" sz="1650" dirty="0"/>
          </a:p>
        </p:txBody>
      </p:sp>
      <p:sp>
        <p:nvSpPr>
          <p:cNvPr id="13" name="Text 1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15 — DEBUGGING &amp; MEMORY SAFETY</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1510589" cy="310896"/>
          </a:xfrm>
          <a:prstGeom prst="roundRect">
            <a:avLst>
              <a:gd name="adj" fmla="val 50000"/>
            </a:avLst>
          </a:prstGeom>
          <a:solidFill>
            <a:srgbClr val="0B1F3A"/>
          </a:solidFill>
          <a:ln/>
        </p:spPr>
      </p:sp>
      <p:sp>
        <p:nvSpPr>
          <p:cNvPr id="3" name="Text 1"/>
          <p:cNvSpPr txBox="1"/>
          <p:nvPr/>
        </p:nvSpPr>
        <p:spPr>
          <a:xfrm>
            <a:off x="548640" y="502920"/>
            <a:ext cx="1510589" cy="310896"/>
          </a:xfrm>
          <a:prstGeom prst="rect">
            <a:avLst/>
          </a:prstGeom>
          <a:noFill/>
          <a:ln/>
        </p:spPr>
        <p:txBody>
          <a:bodyPr wrap="square" lIns="0" tIns="0" rIns="0" bIns="0" rtlCol="0" anchor="ctr"/>
          <a:lstStyle/>
          <a:p>
            <a:pPr algn="ctr" indent="0" marL="0">
              <a:buNone/>
            </a:pPr>
            <a:r>
              <a:rPr lang="en-US" sz="1100" b="1" dirty="0">
                <a:solidFill>
                  <a:srgbClr val="3DDC84"/>
                </a:solidFill>
                <a:latin typeface="Calibri" pitchFamily="34" charset="0"/>
                <a:ea typeface="Calibri" pitchFamily="34" charset="-122"/>
                <a:cs typeface="Calibri" pitchFamily="34" charset="-120"/>
              </a:rPr>
              <a:t>READING VALGRIND</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ctr"/>
          <a:lstStyle/>
          <a:p>
            <a:pPr indent="0" marL="0">
              <a:buNone/>
            </a:pPr>
            <a:r>
              <a:rPr lang="en-US" sz="2800" b="1" dirty="0">
                <a:solidFill>
                  <a:srgbClr val="132038"/>
                </a:solidFill>
                <a:latin typeface="Cambria" pitchFamily="34" charset="0"/>
                <a:ea typeface="Cambria" pitchFamily="34" charset="-122"/>
                <a:cs typeface="Cambria" pitchFamily="34" charset="-120"/>
              </a:rPr>
              <a:t>Reading a valgrind report</a:t>
            </a:r>
            <a:endParaRPr lang="en-US" sz="2800" dirty="0"/>
          </a:p>
        </p:txBody>
      </p:sp>
      <p:sp>
        <p:nvSpPr>
          <p:cNvPr id="5" name="Shape 3"/>
          <p:cNvSpPr/>
          <p:nvPr/>
        </p:nvSpPr>
        <p:spPr>
          <a:xfrm>
            <a:off x="548640" y="1691640"/>
            <a:ext cx="5318608" cy="4160520"/>
          </a:xfrm>
          <a:prstGeom prst="roundRect">
            <a:avLst>
              <a:gd name="adj" fmla="val 2198"/>
            </a:avLst>
          </a:prstGeom>
          <a:solidFill>
            <a:srgbClr val="FFFFFF"/>
          </a:solidFill>
          <a:ln w="12700">
            <a:solidFill>
              <a:srgbClr val="DCE2EC"/>
            </a:solidFill>
            <a:prstDash val="solid"/>
          </a:ln>
          <a:effectLst>
            <a:outerShdw sx="100000" sy="100000" kx="0" ky="0" algn="bl" rotWithShape="0" blurRad="76200" dist="38100" dir="5400000">
              <a:srgbClr val="0B1F3A">
                <a:alpha val="12000"/>
              </a:srgbClr>
            </a:outerShdw>
          </a:effectLst>
        </p:spPr>
      </p:sp>
      <p:sp>
        <p:nvSpPr>
          <p:cNvPr id="6" name="Shape 4"/>
          <p:cNvSpPr/>
          <p:nvPr/>
        </p:nvSpPr>
        <p:spPr>
          <a:xfrm>
            <a:off x="822960" y="1965960"/>
            <a:ext cx="420624" cy="420624"/>
          </a:xfrm>
          <a:prstGeom prst="ellipse">
            <a:avLst/>
          </a:prstGeom>
          <a:solidFill>
            <a:srgbClr val="0B1F3A"/>
          </a:solidFill>
          <a:ln/>
        </p:spPr>
      </p:sp>
      <p:sp>
        <p:nvSpPr>
          <p:cNvPr id="7" name="Text 5"/>
          <p:cNvSpPr txBox="1"/>
          <p:nvPr/>
        </p:nvSpPr>
        <p:spPr>
          <a:xfrm>
            <a:off x="822960" y="1965960"/>
            <a:ext cx="420624" cy="420624"/>
          </a:xfrm>
          <a:prstGeom prst="rect">
            <a:avLst/>
          </a:prstGeom>
          <a:noFill/>
          <a:ln/>
        </p:spPr>
        <p:txBody>
          <a:bodyPr wrap="square" lIns="0" tIns="0" rIns="0" bIns="0" rtlCol="0" anchor="ctr"/>
          <a:lstStyle/>
          <a:p>
            <a:pPr algn="ctr" indent="0" marL="0">
              <a:buNone/>
            </a:pPr>
            <a:r>
              <a:rPr lang="en-US" sz="1600" b="1" dirty="0">
                <a:solidFill>
                  <a:srgbClr val="3DDC84"/>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371600" y="1965960"/>
            <a:ext cx="4495648" cy="420624"/>
          </a:xfrm>
          <a:prstGeom prst="rect">
            <a:avLst/>
          </a:prstGeom>
          <a:noFill/>
          <a:ln/>
        </p:spPr>
        <p:txBody>
          <a:bodyPr wrap="square" lIns="0" tIns="0" rIns="0" bIns="0" rtlCol="0" anchor="ctr"/>
          <a:lstStyle/>
          <a:p>
            <a:pPr indent="0" marL="0">
              <a:buNone/>
            </a:pPr>
            <a:r>
              <a:rPr lang="en-US" sz="1800" b="1" dirty="0">
                <a:solidFill>
                  <a:srgbClr val="132038"/>
                </a:solidFill>
                <a:latin typeface="Cambria" pitchFamily="34" charset="0"/>
                <a:ea typeface="Cambria" pitchFamily="34" charset="-122"/>
                <a:cs typeface="Cambria" pitchFamily="34" charset="-120"/>
              </a:rPr>
              <a:t>"definitely lost" (a leak)</a:t>
            </a:r>
            <a:endParaRPr lang="en-US" sz="1800" dirty="0"/>
          </a:p>
        </p:txBody>
      </p:sp>
      <p:sp>
        <p:nvSpPr>
          <p:cNvPr id="9" name="Shape 7"/>
          <p:cNvSpPr/>
          <p:nvPr/>
        </p:nvSpPr>
        <p:spPr>
          <a:xfrm>
            <a:off x="822960" y="2468880"/>
            <a:ext cx="4769968" cy="1403604"/>
          </a:xfrm>
          <a:prstGeom prst="rect">
            <a:avLst/>
          </a:prstGeom>
          <a:solidFill>
            <a:srgbClr val="E9EEF6"/>
          </a:solidFill>
          <a:ln/>
        </p:spPr>
      </p:sp>
      <p:sp>
        <p:nvSpPr>
          <p:cNvPr id="10" name="Text 8"/>
          <p:cNvSpPr txBox="1"/>
          <p:nvPr/>
        </p:nvSpPr>
        <p:spPr>
          <a:xfrm>
            <a:off x="960120" y="2468880"/>
            <a:ext cx="4495648" cy="1403604"/>
          </a:xfrm>
          <a:prstGeom prst="rect">
            <a:avLst/>
          </a:prstGeom>
          <a:noFill/>
          <a:ln/>
        </p:spPr>
        <p:txBody>
          <a:bodyPr wrap="square" lIns="0" tIns="0" rIns="0" bIns="0" rtlCol="0" anchor="ctr"/>
          <a:lstStyle/>
          <a:p>
            <a:pPr indent="0" marL="0">
              <a:buNone/>
            </a:pPr>
            <a:r>
              <a:rPr lang="en-US" sz="1100" dirty="0">
                <a:solidFill>
                  <a:srgbClr val="0B1F3A"/>
                </a:solidFill>
                <a:latin typeface="Courier New" pitchFamily="34" charset="0"/>
                <a:ea typeface="Courier New" pitchFamily="34" charset="-122"/>
                <a:cs typeface="Courier New" pitchFamily="34" charset="-120"/>
              </a:rPr>
              <a:t>16 bytes in 1 blocks are</a:t>
            </a:r>
            <a:endParaRPr lang="en-US" sz="1100" dirty="0"/>
          </a:p>
          <a:p>
            <a:pPr indent="0" marL="0">
              <a:buNone/>
            </a:pPr>
            <a:r>
              <a:rPr lang="en-US" sz="1100" dirty="0">
                <a:solidFill>
                  <a:srgbClr val="0B1F3A"/>
                </a:solidFill>
                <a:latin typeface="Courier New" pitchFamily="34" charset="0"/>
                <a:ea typeface="Courier New" pitchFamily="34" charset="-122"/>
                <a:cs typeface="Courier New" pitchFamily="34" charset="-120"/>
              </a:rPr>
              <a:t>definitely lost in loss record 1 of 1</a:t>
            </a:r>
            <a:endParaRPr lang="en-US" sz="1100" dirty="0"/>
          </a:p>
          <a:p>
            <a:pPr indent="0" marL="0">
              <a:buNone/>
            </a:pPr>
            <a:r>
              <a:rPr lang="en-US" sz="1100" dirty="0">
                <a:solidFill>
                  <a:srgbClr val="0B1F3A"/>
                </a:solidFill>
                <a:latin typeface="Courier New" pitchFamily="34" charset="0"/>
                <a:ea typeface="Courier New" pitchFamily="34" charset="-122"/>
                <a:cs typeface="Courier New" pitchFamily="34" charset="-120"/>
              </a:rPr>
              <a:t>  at malloc (...)</a:t>
            </a:r>
            <a:endParaRPr lang="en-US" sz="1100" dirty="0"/>
          </a:p>
          <a:p>
            <a:pPr indent="0" marL="0">
              <a:buNone/>
            </a:pPr>
            <a:r>
              <a:rPr lang="en-US" sz="1100" dirty="0">
                <a:solidFill>
                  <a:srgbClr val="0B1F3A"/>
                </a:solidFill>
                <a:latin typeface="Courier New" pitchFamily="34" charset="0"/>
                <a:ea typeface="Courier New" pitchFamily="34" charset="-122"/>
                <a:cs typeface="Courier New" pitchFamily="34" charset="-120"/>
              </a:rPr>
              <a:t>  by printReport (...c:18)</a:t>
            </a:r>
            <a:endParaRPr lang="en-US" sz="1100" dirty="0"/>
          </a:p>
          <a:p>
            <a:pPr indent="0" marL="0">
              <a:buNone/>
            </a:pPr>
            <a:r>
              <a:rPr lang="en-US" sz="1100" dirty="0">
                <a:solidFill>
                  <a:srgbClr val="0B1F3A"/>
                </a:solidFill>
                <a:latin typeface="Courier New" pitchFamily="34" charset="0"/>
                <a:ea typeface="Courier New" pitchFamily="34" charset="-122"/>
                <a:cs typeface="Courier New" pitchFamily="34" charset="-120"/>
              </a:rPr>
              <a:t>  by main (...c:39)</a:t>
            </a:r>
            <a:endParaRPr lang="en-US" sz="1100" dirty="0"/>
          </a:p>
        </p:txBody>
      </p:sp>
      <p:sp>
        <p:nvSpPr>
          <p:cNvPr id="11" name="Text 9"/>
          <p:cNvSpPr txBox="1"/>
          <p:nvPr/>
        </p:nvSpPr>
        <p:spPr>
          <a:xfrm>
            <a:off x="822960" y="4037076"/>
            <a:ext cx="4769968" cy="1677924"/>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30425E"/>
                </a:solidFill>
                <a:latin typeface="Calibri" pitchFamily="34" charset="0"/>
                <a:ea typeface="Calibri" pitchFamily="34" charset="-122"/>
                <a:cs typeface="Calibri" pitchFamily="34" charset="-120"/>
              </a:rPr>
              <a:t>Program output still prints normally — a leak never crashes.</a:t>
            </a:r>
            <a:endParaRPr lang="en-US" sz="1250" dirty="0"/>
          </a:p>
          <a:p>
            <a:pPr marL="342900" indent="-342900">
              <a:spcAft>
                <a:spcPts val="700"/>
              </a:spcAft>
              <a:buSzPct val="100000"/>
              <a:buChar char="•"/>
            </a:pPr>
            <a:r>
              <a:rPr lang="en-US" sz="1250" dirty="0">
                <a:solidFill>
                  <a:srgbClr val="30425E"/>
                </a:solidFill>
                <a:latin typeface="Calibri" pitchFamily="34" charset="0"/>
                <a:ea typeface="Calibri" pitchFamily="34" charset="-122"/>
                <a:cs typeface="Calibri" pitchFamily="34" charset="-120"/>
              </a:rPr>
              <a:t>"Definitely lost" = nothing still points to this memory.</a:t>
            </a:r>
            <a:endParaRPr lang="en-US" sz="1250" dirty="0"/>
          </a:p>
          <a:p>
            <a:pPr marL="342900" indent="-342900">
              <a:spcAft>
                <a:spcPts val="700"/>
              </a:spcAft>
              <a:buSzPct val="100000"/>
              <a:buChar char="•"/>
            </a:pPr>
            <a:r>
              <a:rPr lang="en-US" sz="1250" dirty="0">
                <a:solidFill>
                  <a:srgbClr val="30425E"/>
                </a:solidFill>
                <a:latin typeface="Calibri" pitchFamily="34" charset="0"/>
                <a:ea typeface="Calibri" pitchFamily="34" charset="-122"/>
                <a:cs typeface="Calibri" pitchFamily="34" charset="-120"/>
              </a:rPr>
              <a:t>Backtrace: malloc &lt;- printReport:18 &lt;- main:39.</a:t>
            </a:r>
            <a:endParaRPr lang="en-US" sz="1250" dirty="0"/>
          </a:p>
        </p:txBody>
      </p:sp>
      <p:sp>
        <p:nvSpPr>
          <p:cNvPr id="12" name="Shape 10"/>
          <p:cNvSpPr/>
          <p:nvPr/>
        </p:nvSpPr>
        <p:spPr>
          <a:xfrm>
            <a:off x="6324448" y="1691640"/>
            <a:ext cx="5318608" cy="4160520"/>
          </a:xfrm>
          <a:prstGeom prst="roundRect">
            <a:avLst>
              <a:gd name="adj" fmla="val 2198"/>
            </a:avLst>
          </a:prstGeom>
          <a:solidFill>
            <a:srgbClr val="FFFFFF"/>
          </a:solidFill>
          <a:ln w="12700">
            <a:solidFill>
              <a:srgbClr val="DCE2EC"/>
            </a:solidFill>
            <a:prstDash val="solid"/>
          </a:ln>
          <a:effectLst>
            <a:outerShdw sx="100000" sy="100000" kx="0" ky="0" algn="bl" rotWithShape="0" blurRad="76200" dist="38100" dir="5400000">
              <a:srgbClr val="0B1F3A">
                <a:alpha val="12000"/>
              </a:srgbClr>
            </a:outerShdw>
          </a:effectLst>
        </p:spPr>
      </p:sp>
      <p:sp>
        <p:nvSpPr>
          <p:cNvPr id="13" name="Shape 11"/>
          <p:cNvSpPr/>
          <p:nvPr/>
        </p:nvSpPr>
        <p:spPr>
          <a:xfrm>
            <a:off x="6598768" y="1965960"/>
            <a:ext cx="420624" cy="420624"/>
          </a:xfrm>
          <a:prstGeom prst="ellipse">
            <a:avLst/>
          </a:prstGeom>
          <a:solidFill>
            <a:srgbClr val="0B1F3A"/>
          </a:solidFill>
          <a:ln/>
        </p:spPr>
      </p:sp>
      <p:sp>
        <p:nvSpPr>
          <p:cNvPr id="14" name="Text 12"/>
          <p:cNvSpPr txBox="1"/>
          <p:nvPr/>
        </p:nvSpPr>
        <p:spPr>
          <a:xfrm>
            <a:off x="6598768" y="1965960"/>
            <a:ext cx="420624" cy="420624"/>
          </a:xfrm>
          <a:prstGeom prst="rect">
            <a:avLst/>
          </a:prstGeom>
          <a:noFill/>
          <a:ln/>
        </p:spPr>
        <p:txBody>
          <a:bodyPr wrap="square" lIns="0" tIns="0" rIns="0" bIns="0" rtlCol="0" anchor="ctr"/>
          <a:lstStyle/>
          <a:p>
            <a:pPr algn="ctr" indent="0" marL="0">
              <a:buNone/>
            </a:pPr>
            <a:r>
              <a:rPr lang="en-US" sz="1600" b="1" dirty="0">
                <a:solidFill>
                  <a:srgbClr val="3DDC84"/>
                </a:solidFill>
                <a:latin typeface="Calibri" pitchFamily="34" charset="0"/>
                <a:ea typeface="Calibri" pitchFamily="34" charset="-122"/>
                <a:cs typeface="Calibri" pitchFamily="34" charset="-120"/>
              </a:rPr>
              <a:t>■</a:t>
            </a:r>
            <a:endParaRPr lang="en-US" sz="1600" dirty="0"/>
          </a:p>
        </p:txBody>
      </p:sp>
      <p:sp>
        <p:nvSpPr>
          <p:cNvPr id="15" name="Text 13"/>
          <p:cNvSpPr txBox="1"/>
          <p:nvPr/>
        </p:nvSpPr>
        <p:spPr>
          <a:xfrm>
            <a:off x="7147408" y="1965960"/>
            <a:ext cx="4495648" cy="420624"/>
          </a:xfrm>
          <a:prstGeom prst="rect">
            <a:avLst/>
          </a:prstGeom>
          <a:noFill/>
          <a:ln/>
        </p:spPr>
        <p:txBody>
          <a:bodyPr wrap="square" lIns="0" tIns="0" rIns="0" bIns="0" rtlCol="0" anchor="ctr"/>
          <a:lstStyle/>
          <a:p>
            <a:pPr indent="0" marL="0">
              <a:buNone/>
            </a:pPr>
            <a:r>
              <a:rPr lang="en-US" sz="1800" b="1" dirty="0">
                <a:solidFill>
                  <a:srgbClr val="132038"/>
                </a:solidFill>
                <a:latin typeface="Cambria" pitchFamily="34" charset="0"/>
                <a:ea typeface="Cambria" pitchFamily="34" charset="-122"/>
                <a:cs typeface="Cambria" pitchFamily="34" charset="-120"/>
              </a:rPr>
              <a:t>"Invalid read" (out of bounds)</a:t>
            </a:r>
            <a:endParaRPr lang="en-US" sz="1800" dirty="0"/>
          </a:p>
        </p:txBody>
      </p:sp>
      <p:sp>
        <p:nvSpPr>
          <p:cNvPr id="16" name="Shape 14"/>
          <p:cNvSpPr/>
          <p:nvPr/>
        </p:nvSpPr>
        <p:spPr>
          <a:xfrm>
            <a:off x="6598768" y="2468880"/>
            <a:ext cx="4769968" cy="1403604"/>
          </a:xfrm>
          <a:prstGeom prst="rect">
            <a:avLst/>
          </a:prstGeom>
          <a:solidFill>
            <a:srgbClr val="E9EEF6"/>
          </a:solidFill>
          <a:ln/>
        </p:spPr>
      </p:sp>
      <p:sp>
        <p:nvSpPr>
          <p:cNvPr id="17" name="Text 15"/>
          <p:cNvSpPr txBox="1"/>
          <p:nvPr/>
        </p:nvSpPr>
        <p:spPr>
          <a:xfrm>
            <a:off x="6735928" y="2468880"/>
            <a:ext cx="4495648" cy="1403604"/>
          </a:xfrm>
          <a:prstGeom prst="rect">
            <a:avLst/>
          </a:prstGeom>
          <a:noFill/>
          <a:ln/>
        </p:spPr>
        <p:txBody>
          <a:bodyPr wrap="square" lIns="0" tIns="0" rIns="0" bIns="0" rtlCol="0" anchor="ctr"/>
          <a:lstStyle/>
          <a:p>
            <a:pPr indent="0" marL="0">
              <a:buNone/>
            </a:pPr>
            <a:r>
              <a:rPr lang="en-US" sz="1100" dirty="0">
                <a:solidFill>
                  <a:srgbClr val="0B1F3A"/>
                </a:solidFill>
                <a:latin typeface="Courier New" pitchFamily="34" charset="0"/>
                <a:ea typeface="Courier New" pitchFamily="34" charset="-122"/>
                <a:cs typeface="Courier New" pitchFamily="34" charset="-120"/>
              </a:rPr>
              <a:t>Invalid read of size 4</a:t>
            </a:r>
            <a:endParaRPr lang="en-US" sz="1100" dirty="0"/>
          </a:p>
          <a:p>
            <a:pPr indent="0" marL="0">
              <a:buNone/>
            </a:pPr>
            <a:r>
              <a:rPr lang="en-US" sz="1100" dirty="0">
                <a:solidFill>
                  <a:srgbClr val="0B1F3A"/>
                </a:solidFill>
                <a:latin typeface="Courier New" pitchFamily="34" charset="0"/>
                <a:ea typeface="Courier New" pitchFamily="34" charset="-122"/>
                <a:cs typeface="Courier New" pitchFamily="34" charset="-120"/>
              </a:rPr>
              <a:t>  at main (...c:30)</a:t>
            </a:r>
            <a:endParaRPr lang="en-US" sz="1100" dirty="0"/>
          </a:p>
          <a:p>
            <a:pPr indent="0" marL="0">
              <a:buNone/>
            </a:pPr>
            <a:r>
              <a:rPr lang="en-US" sz="1100" dirty="0">
                <a:solidFill>
                  <a:srgbClr val="0B1F3A"/>
                </a:solidFill>
                <a:latin typeface="Courier New" pitchFamily="34" charset="0"/>
                <a:ea typeface="Courier New" pitchFamily="34" charset="-122"/>
                <a:cs typeface="Courier New" pitchFamily="34" charset="-120"/>
              </a:rPr>
              <a:t>Address ... is 0 bytes after</a:t>
            </a:r>
            <a:endParaRPr lang="en-US" sz="1100" dirty="0"/>
          </a:p>
          <a:p>
            <a:pPr indent="0" marL="0">
              <a:buNone/>
            </a:pPr>
            <a:r>
              <a:rPr lang="en-US" sz="1100" dirty="0">
                <a:solidFill>
                  <a:srgbClr val="0B1F3A"/>
                </a:solidFill>
                <a:latin typeface="Courier New" pitchFamily="34" charset="0"/>
                <a:ea typeface="Courier New" pitchFamily="34" charset="-122"/>
                <a:cs typeface="Courier New" pitchFamily="34" charset="-120"/>
              </a:rPr>
              <a:t>a block of size 20 alloc'd</a:t>
            </a:r>
            <a:endParaRPr lang="en-US" sz="1100" dirty="0"/>
          </a:p>
          <a:p>
            <a:pPr indent="0" marL="0">
              <a:buNone/>
            </a:pPr>
            <a:r>
              <a:rPr lang="en-US" sz="1100" dirty="0">
                <a:solidFill>
                  <a:srgbClr val="0B1F3A"/>
                </a:solidFill>
                <a:latin typeface="Courier New" pitchFamily="34" charset="0"/>
                <a:ea typeface="Courier New" pitchFamily="34" charset="-122"/>
                <a:cs typeface="Courier New" pitchFamily="34" charset="-120"/>
              </a:rPr>
              <a:t>  by main (...c:20)</a:t>
            </a:r>
            <a:endParaRPr lang="en-US" sz="1100" dirty="0"/>
          </a:p>
        </p:txBody>
      </p:sp>
      <p:sp>
        <p:nvSpPr>
          <p:cNvPr id="18" name="Text 16"/>
          <p:cNvSpPr txBox="1"/>
          <p:nvPr/>
        </p:nvSpPr>
        <p:spPr>
          <a:xfrm>
            <a:off x="6598768" y="4037076"/>
            <a:ext cx="4769968" cy="1677924"/>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30425E"/>
                </a:solidFill>
                <a:latin typeface="Calibri" pitchFamily="34" charset="0"/>
                <a:ea typeface="Calibri" pitchFamily="34" charset="-122"/>
                <a:cs typeface="Calibri" pitchFamily="34" charset="-120"/>
              </a:rPr>
              <a:t>Doesn't crash — silently reads adjacent memory.</a:t>
            </a:r>
            <a:endParaRPr lang="en-US" sz="1250" dirty="0"/>
          </a:p>
          <a:p>
            <a:pPr marL="342900" indent="-342900">
              <a:spcAft>
                <a:spcPts val="700"/>
              </a:spcAft>
              <a:buSzPct val="100000"/>
              <a:buChar char="•"/>
            </a:pPr>
            <a:r>
              <a:rPr lang="en-US" sz="1250" dirty="0">
                <a:solidFill>
                  <a:srgbClr val="30425E"/>
                </a:solidFill>
                <a:latin typeface="Calibri" pitchFamily="34" charset="0"/>
                <a:ea typeface="Calibri" pitchFamily="34" charset="-122"/>
                <a:cs typeface="Calibri" pitchFamily="34" charset="-120"/>
              </a:rPr>
              <a:t>"0 bytes after size 20" = one int past a 5-int array.</a:t>
            </a:r>
            <a:endParaRPr lang="en-US" sz="1250" dirty="0"/>
          </a:p>
          <a:p>
            <a:pPr marL="342900" indent="-342900">
              <a:spcAft>
                <a:spcPts val="700"/>
              </a:spcAft>
              <a:buSzPct val="100000"/>
              <a:buChar char="•"/>
            </a:pPr>
            <a:r>
              <a:rPr lang="en-US" sz="1250" dirty="0">
                <a:solidFill>
                  <a:srgbClr val="30425E"/>
                </a:solidFill>
                <a:latin typeface="Calibri" pitchFamily="34" charset="0"/>
                <a:ea typeface="Calibri" pitchFamily="34" charset="-122"/>
                <a:cs typeface="Calibri" pitchFamily="34" charset="-120"/>
              </a:rPr>
              <a:t>No guessing: exact allocation, exact overstep.</a:t>
            </a:r>
            <a:endParaRPr lang="en-US" sz="1250" dirty="0"/>
          </a:p>
        </p:txBody>
      </p:sp>
      <p:sp>
        <p:nvSpPr>
          <p:cNvPr id="19" name="Text 17"/>
          <p:cNvSpPr txBox="1"/>
          <p:nvPr/>
        </p:nvSpPr>
        <p:spPr>
          <a:xfrm>
            <a:off x="548640" y="5943600"/>
            <a:ext cx="11094415" cy="411480"/>
          </a:xfrm>
          <a:prstGeom prst="rect">
            <a:avLst/>
          </a:prstGeom>
          <a:noFill/>
          <a:ln/>
        </p:spPr>
        <p:txBody>
          <a:bodyPr wrap="square" lIns="0" tIns="0" rIns="0" bIns="0" rtlCol="0" anchor="ctr"/>
          <a:lstStyle/>
          <a:p>
            <a:pPr indent="0" marL="0">
              <a:buNone/>
            </a:pPr>
            <a:r>
              <a:rPr lang="en-US" sz="1150" dirty="0">
                <a:solidFill>
                  <a:srgbClr val="5B6B82"/>
                </a:solidFill>
                <a:latin typeface="Calibri" pitchFamily="34" charset="0"/>
                <a:ea typeface="Calibri" pitchFamily="34" charset="-122"/>
                <a:cs typeface="Calibri" pitchFamily="34" charset="-120"/>
              </a:rPr>
              <a:t>Both examples are reconstructed from real valgrind runs against examples/02 and examples/03 — the shape, wording, and line numbers match what your own run shows if valgrind is available.</a:t>
            </a:r>
            <a:endParaRPr lang="en-US" sz="1150" dirty="0"/>
          </a:p>
        </p:txBody>
      </p:sp>
      <p:sp>
        <p:nvSpPr>
          <p:cNvPr id="20" name="Text 18"/>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15 — DEBUGGING &amp; MEMORY SAFETY</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985723" cy="310896"/>
          </a:xfrm>
          <a:prstGeom prst="roundRect">
            <a:avLst>
              <a:gd name="adj" fmla="val 50000"/>
            </a:avLst>
          </a:prstGeom>
          <a:solidFill>
            <a:srgbClr val="0B1F3A"/>
          </a:solidFill>
          <a:ln/>
        </p:spPr>
      </p:sp>
      <p:sp>
        <p:nvSpPr>
          <p:cNvPr id="3" name="Text 1"/>
          <p:cNvSpPr txBox="1"/>
          <p:nvPr/>
        </p:nvSpPr>
        <p:spPr>
          <a:xfrm>
            <a:off x="548640" y="502920"/>
            <a:ext cx="985723" cy="310896"/>
          </a:xfrm>
          <a:prstGeom prst="rect">
            <a:avLst/>
          </a:prstGeom>
          <a:noFill/>
          <a:ln/>
        </p:spPr>
        <p:txBody>
          <a:bodyPr wrap="square" lIns="0" tIns="0" rIns="0" bIns="0" rtlCol="0" anchor="ctr"/>
          <a:lstStyle/>
          <a:p>
            <a:pPr algn="ctr" indent="0" marL="0">
              <a:buNone/>
            </a:pPr>
            <a:r>
              <a:rPr lang="en-US" sz="1100" b="1" dirty="0">
                <a:solidFill>
                  <a:srgbClr val="3DDC84"/>
                </a:solidFill>
                <a:latin typeface="Calibri" pitchFamily="34" charset="0"/>
                <a:ea typeface="Calibri" pitchFamily="34" charset="-122"/>
                <a:cs typeface="Calibri" pitchFamily="34" charset="-120"/>
              </a:rPr>
              <a:t>CHECKLIST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ctr"/>
          <a:lstStyle/>
          <a:p>
            <a:pPr indent="0" marL="0">
              <a:buNone/>
            </a:pPr>
            <a:r>
              <a:rPr lang="en-US" sz="2800" b="1" dirty="0">
                <a:solidFill>
                  <a:srgbClr val="132038"/>
                </a:solidFill>
                <a:latin typeface="Cambria" pitchFamily="34" charset="0"/>
                <a:ea typeface="Cambria" pitchFamily="34" charset="-122"/>
                <a:cs typeface="Cambria" pitchFamily="34" charset="-120"/>
              </a:rPr>
              <a:t>Defensive programming: four habits</a:t>
            </a:r>
            <a:endParaRPr lang="en-US" sz="2800" dirty="0"/>
          </a:p>
        </p:txBody>
      </p:sp>
      <p:sp>
        <p:nvSpPr>
          <p:cNvPr id="5" name="Shape 3"/>
          <p:cNvSpPr/>
          <p:nvPr/>
        </p:nvSpPr>
        <p:spPr>
          <a:xfrm>
            <a:off x="548640" y="1600200"/>
            <a:ext cx="6949440" cy="3749040"/>
          </a:xfrm>
          <a:prstGeom prst="roundRect">
            <a:avLst>
              <a:gd name="adj" fmla="val 1951"/>
            </a:avLst>
          </a:prstGeom>
          <a:solidFill>
            <a:srgbClr val="102841"/>
          </a:solidFill>
          <a:ln/>
        </p:spPr>
      </p:sp>
      <p:sp>
        <p:nvSpPr>
          <p:cNvPr id="6" name="Shape 4"/>
          <p:cNvSpPr/>
          <p:nvPr/>
        </p:nvSpPr>
        <p:spPr>
          <a:xfrm>
            <a:off x="749808" y="1764792"/>
            <a:ext cx="109728" cy="109728"/>
          </a:xfrm>
          <a:prstGeom prst="ellipse">
            <a:avLst/>
          </a:prstGeom>
          <a:solidFill>
            <a:srgbClr val="E6675C"/>
          </a:solidFill>
          <a:ln/>
        </p:spPr>
      </p:sp>
      <p:sp>
        <p:nvSpPr>
          <p:cNvPr id="7" name="Shape 5"/>
          <p:cNvSpPr/>
          <p:nvPr/>
        </p:nvSpPr>
        <p:spPr>
          <a:xfrm>
            <a:off x="969264" y="1764792"/>
            <a:ext cx="109728" cy="109728"/>
          </a:xfrm>
          <a:prstGeom prst="ellipse">
            <a:avLst/>
          </a:prstGeom>
          <a:solidFill>
            <a:srgbClr val="E8C15A"/>
          </a:solidFill>
          <a:ln/>
        </p:spPr>
      </p:sp>
      <p:sp>
        <p:nvSpPr>
          <p:cNvPr id="8" name="Shape 6"/>
          <p:cNvSpPr/>
          <p:nvPr/>
        </p:nvSpPr>
        <p:spPr>
          <a:xfrm>
            <a:off x="1188720" y="1764792"/>
            <a:ext cx="109728" cy="109728"/>
          </a:xfrm>
          <a:prstGeom prst="ellipse">
            <a:avLst/>
          </a:prstGeom>
          <a:solidFill>
            <a:srgbClr val="3DDC84"/>
          </a:solidFill>
          <a:ln/>
        </p:spPr>
      </p:sp>
      <p:sp>
        <p:nvSpPr>
          <p:cNvPr id="9" name="Text 7"/>
          <p:cNvSpPr txBox="1"/>
          <p:nvPr/>
        </p:nvSpPr>
        <p:spPr>
          <a:xfrm>
            <a:off x="804672" y="2039112"/>
            <a:ext cx="6492240" cy="3154680"/>
          </a:xfrm>
          <a:prstGeom prst="rect">
            <a:avLst/>
          </a:prstGeom>
          <a:noFill/>
          <a:ln/>
        </p:spPr>
        <p:txBody>
          <a:bodyPr wrap="square" lIns="0" tIns="0" rIns="0" bIns="0" rtlCol="0" anchor="t"/>
          <a:lstStyle/>
          <a:p>
            <a:pPr indent="0" marL="0">
              <a:lnSpc>
                <a:spcPct val="118000"/>
              </a:lnSpc>
              <a:buNone/>
            </a:pPr>
            <a:r>
              <a:rPr lang="en-US" sz="1450" dirty="0">
                <a:solidFill>
                  <a:srgbClr val="E7EDF6"/>
                </a:solidFill>
                <a:latin typeface="Courier New" pitchFamily="34" charset="0"/>
                <a:ea typeface="Courier New" pitchFamily="34" charset="-122"/>
                <a:cs typeface="Courier New" pitchFamily="34" charset="-120"/>
              </a:rPr>
              <a:t>int *data = NULL;                 // 1. init to NULL</a:t>
            </a:r>
            <a:endParaRPr lang="en-US" sz="1450" dirty="0"/>
          </a:p>
          <a:p>
            <a:pPr indent="0" marL="0">
              <a:lnSpc>
                <a:spcPct val="118000"/>
              </a:lnSpc>
              <a:buNone/>
            </a:pPr>
            <a:r>
              <a:rPr lang="en-US" sz="1450" dirty="0">
                <a:solidFill>
                  <a:srgbClr val="E7EDF6"/>
                </a:solidFill>
                <a:latin typeface="Courier New" pitchFamily="34" charset="0"/>
                <a:ea typeface="Courier New" pitchFamily="34" charset="-122"/>
                <a:cs typeface="Courier New" pitchFamily="34" charset="-120"/>
              </a:rPr>
              <a:t> </a:t>
            </a:r>
            <a:endParaRPr lang="en-US" sz="1450" dirty="0"/>
          </a:p>
          <a:p>
            <a:pPr indent="0" marL="0">
              <a:lnSpc>
                <a:spcPct val="118000"/>
              </a:lnSpc>
              <a:buNone/>
            </a:pPr>
            <a:r>
              <a:rPr lang="en-US" sz="1450" dirty="0">
                <a:solidFill>
                  <a:srgbClr val="E7EDF6"/>
                </a:solidFill>
                <a:latin typeface="Courier New" pitchFamily="34" charset="0"/>
                <a:ea typeface="Courier New" pitchFamily="34" charset="-122"/>
                <a:cs typeface="Courier New" pitchFamily="34" charset="-120"/>
              </a:rPr>
              <a:t>data = malloc(sizeof(int) * 5);</a:t>
            </a:r>
            <a:endParaRPr lang="en-US" sz="1450" dirty="0"/>
          </a:p>
          <a:p>
            <a:pPr indent="0" marL="0">
              <a:lnSpc>
                <a:spcPct val="118000"/>
              </a:lnSpc>
              <a:buNone/>
            </a:pPr>
            <a:r>
              <a:rPr lang="en-US" sz="1450" dirty="0">
                <a:solidFill>
                  <a:srgbClr val="E7EDF6"/>
                </a:solidFill>
                <a:latin typeface="Courier New" pitchFamily="34" charset="0"/>
                <a:ea typeface="Courier New" pitchFamily="34" charset="-122"/>
                <a:cs typeface="Courier New" pitchFamily="34" charset="-120"/>
              </a:rPr>
              <a:t>if (data == NULL) {               // 2. check malloc</a:t>
            </a:r>
            <a:endParaRPr lang="en-US" sz="1450" dirty="0"/>
          </a:p>
          <a:p>
            <a:pPr indent="0" marL="0">
              <a:lnSpc>
                <a:spcPct val="118000"/>
              </a:lnSpc>
              <a:buNone/>
            </a:pPr>
            <a:r>
              <a:rPr lang="en-US" sz="1450" dirty="0">
                <a:solidFill>
                  <a:srgbClr val="E7EDF6"/>
                </a:solidFill>
                <a:latin typeface="Courier New" pitchFamily="34" charset="0"/>
                <a:ea typeface="Courier New" pitchFamily="34" charset="-122"/>
                <a:cs typeface="Courier New" pitchFamily="34" charset="-120"/>
              </a:rPr>
              <a:t>    fprintf(stderr, "malloc failed\n");</a:t>
            </a:r>
            <a:endParaRPr lang="en-US" sz="1450" dirty="0"/>
          </a:p>
          <a:p>
            <a:pPr indent="0" marL="0">
              <a:lnSpc>
                <a:spcPct val="118000"/>
              </a:lnSpc>
              <a:buNone/>
            </a:pPr>
            <a:r>
              <a:rPr lang="en-US" sz="1450" dirty="0">
                <a:solidFill>
                  <a:srgbClr val="E7EDF6"/>
                </a:solidFill>
                <a:latin typeface="Courier New" pitchFamily="34" charset="0"/>
                <a:ea typeface="Courier New" pitchFamily="34" charset="-122"/>
                <a:cs typeface="Courier New" pitchFamily="34" charset="-120"/>
              </a:rPr>
              <a:t>    return 1;</a:t>
            </a:r>
            <a:endParaRPr lang="en-US" sz="1450" dirty="0"/>
          </a:p>
          <a:p>
            <a:pPr indent="0" marL="0">
              <a:lnSpc>
                <a:spcPct val="118000"/>
              </a:lnSpc>
              <a:buNone/>
            </a:pPr>
            <a:r>
              <a:rPr lang="en-US" sz="1450" dirty="0">
                <a:solidFill>
                  <a:srgbClr val="E7EDF6"/>
                </a:solidFill>
                <a:latin typeface="Courier New" pitchFamily="34" charset="0"/>
                <a:ea typeface="Courier New" pitchFamily="34" charset="-122"/>
                <a:cs typeface="Courier New" pitchFamily="34" charset="-120"/>
              </a:rPr>
              <a:t>}</a:t>
            </a:r>
            <a:endParaRPr lang="en-US" sz="1450" dirty="0"/>
          </a:p>
          <a:p>
            <a:pPr indent="0" marL="0">
              <a:lnSpc>
                <a:spcPct val="118000"/>
              </a:lnSpc>
              <a:buNone/>
            </a:pPr>
            <a:r>
              <a:rPr lang="en-US" sz="1450" dirty="0">
                <a:solidFill>
                  <a:srgbClr val="E7EDF6"/>
                </a:solidFill>
                <a:latin typeface="Courier New" pitchFamily="34" charset="0"/>
                <a:ea typeface="Courier New" pitchFamily="34" charset="-122"/>
                <a:cs typeface="Courier New" pitchFamily="34" charset="-120"/>
              </a:rPr>
              <a:t>...</a:t>
            </a:r>
            <a:endParaRPr lang="en-US" sz="1450" dirty="0"/>
          </a:p>
          <a:p>
            <a:pPr indent="0" marL="0">
              <a:lnSpc>
                <a:spcPct val="118000"/>
              </a:lnSpc>
              <a:buNone/>
            </a:pPr>
            <a:r>
              <a:rPr lang="en-US" sz="1450" dirty="0">
                <a:solidFill>
                  <a:srgbClr val="E7EDF6"/>
                </a:solidFill>
                <a:latin typeface="Courier New" pitchFamily="34" charset="0"/>
                <a:ea typeface="Courier New" pitchFamily="34" charset="-122"/>
                <a:cs typeface="Courier New" pitchFamily="34" charset="-120"/>
              </a:rPr>
              <a:t>free(data);                       // 3. exactly one free</a:t>
            </a:r>
            <a:endParaRPr lang="en-US" sz="1450" dirty="0"/>
          </a:p>
          <a:p>
            <a:pPr indent="0" marL="0">
              <a:lnSpc>
                <a:spcPct val="118000"/>
              </a:lnSpc>
              <a:buNone/>
            </a:pPr>
            <a:r>
              <a:rPr lang="en-US" sz="1450" dirty="0">
                <a:solidFill>
                  <a:srgbClr val="E7EDF6"/>
                </a:solidFill>
                <a:latin typeface="Courier New" pitchFamily="34" charset="0"/>
                <a:ea typeface="Courier New" pitchFamily="34" charset="-122"/>
                <a:cs typeface="Courier New" pitchFamily="34" charset="-120"/>
              </a:rPr>
              <a:t>data = NULL;                      // ...then NULL it out</a:t>
            </a:r>
            <a:endParaRPr lang="en-US" sz="1450" dirty="0"/>
          </a:p>
        </p:txBody>
      </p:sp>
      <p:sp>
        <p:nvSpPr>
          <p:cNvPr id="10" name="Shape 8"/>
          <p:cNvSpPr/>
          <p:nvPr/>
        </p:nvSpPr>
        <p:spPr>
          <a:xfrm>
            <a:off x="548640" y="5513832"/>
            <a:ext cx="6949440" cy="621792"/>
          </a:xfrm>
          <a:prstGeom prst="roundRect">
            <a:avLst>
              <a:gd name="adj" fmla="val 8824"/>
            </a:avLst>
          </a:prstGeom>
          <a:solidFill>
            <a:srgbClr val="0B1F3A"/>
          </a:solidFill>
          <a:ln/>
        </p:spPr>
      </p:sp>
      <p:sp>
        <p:nvSpPr>
          <p:cNvPr id="11" name="Text 9"/>
          <p:cNvSpPr txBox="1"/>
          <p:nvPr/>
        </p:nvSpPr>
        <p:spPr>
          <a:xfrm>
            <a:off x="749808" y="5513832"/>
            <a:ext cx="6583680" cy="621792"/>
          </a:xfrm>
          <a:prstGeom prst="rect">
            <a:avLst/>
          </a:prstGeom>
          <a:noFill/>
          <a:ln/>
        </p:spPr>
        <p:txBody>
          <a:bodyPr wrap="square" lIns="0" tIns="0" rIns="0" bIns="0" rtlCol="0" anchor="ctr"/>
          <a:lstStyle/>
          <a:p>
            <a:pPr indent="0" marL="0">
              <a:buNone/>
            </a:pPr>
            <a:r>
              <a:rPr lang="en-US" sz="1500" dirty="0">
                <a:solidFill>
                  <a:srgbClr val="3DDC84"/>
                </a:solidFill>
                <a:latin typeface="Calibri" pitchFamily="34" charset="0"/>
                <a:ea typeface="Calibri" pitchFamily="34" charset="-122"/>
                <a:cs typeface="Calibri" pitchFamily="34" charset="-120"/>
              </a:rPr>
              <a:t>▸ </a:t>
            </a:r>
            <a:pPr indent="0" marL="0">
              <a:buNone/>
            </a:pPr>
            <a:r>
              <a:rPr lang="en-US" sz="1500" dirty="0">
                <a:solidFill>
                  <a:srgbClr val="F5F8FC"/>
                </a:solidFill>
                <a:latin typeface="Calibri" pitchFamily="34" charset="0"/>
                <a:ea typeface="Calibri" pitchFamily="34" charset="-122"/>
                <a:cs typeface="Calibri" pitchFamily="34" charset="-120"/>
              </a:rPr>
              <a:t>Compile with -Wall and read every warning — the compiler catches some of these for free, before you ever need a debugger.</a:t>
            </a:r>
            <a:endParaRPr lang="en-US" sz="1500" dirty="0"/>
          </a:p>
        </p:txBody>
      </p:sp>
      <p:sp>
        <p:nvSpPr>
          <p:cNvPr id="12" name="Text 10"/>
          <p:cNvSpPr txBox="1"/>
          <p:nvPr/>
        </p:nvSpPr>
        <p:spPr>
          <a:xfrm>
            <a:off x="7909560" y="1691640"/>
            <a:ext cx="3733495" cy="4480560"/>
          </a:xfrm>
          <a:prstGeom prst="rect">
            <a:avLst/>
          </a:prstGeom>
          <a:noFill/>
          <a:ln/>
        </p:spPr>
        <p:txBody>
          <a:bodyPr wrap="square" lIns="0" tIns="0" rIns="0" bIns="0" rtlCol="0" anchor="t"/>
          <a:lstStyle/>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Always initialize pointers — NULL if you don't have a real address yet.</a:t>
            </a:r>
            <a:endParaRPr lang="en-US" sz="1650" dirty="0"/>
          </a:p>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Always check malloc/fopen return values before using them.</a:t>
            </a:r>
            <a:endParaRPr lang="en-US" sz="1650" dirty="0"/>
          </a:p>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Match every malloc with exactly one free — not zero (leak), not two (double free).</a:t>
            </a:r>
            <a:endParaRPr lang="en-US" sz="1650" dirty="0"/>
          </a:p>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A warning ignored today is a gdb session tomorrow.</a:t>
            </a:r>
            <a:endParaRPr lang="en-US" sz="1650" dirty="0"/>
          </a:p>
        </p:txBody>
      </p:sp>
      <p:sp>
        <p:nvSpPr>
          <p:cNvPr id="13" name="Text 1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15 — DEBUGGING &amp; MEMORY SAFETY</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48640" y="502920"/>
            <a:ext cx="985723" cy="310896"/>
          </a:xfrm>
          <a:prstGeom prst="roundRect">
            <a:avLst>
              <a:gd name="adj" fmla="val 50000"/>
            </a:avLst>
          </a:prstGeom>
          <a:solidFill>
            <a:srgbClr val="16304F"/>
          </a:solidFill>
          <a:ln/>
        </p:spPr>
      </p:sp>
      <p:sp>
        <p:nvSpPr>
          <p:cNvPr id="3" name="Text 1"/>
          <p:cNvSpPr txBox="1"/>
          <p:nvPr/>
        </p:nvSpPr>
        <p:spPr>
          <a:xfrm>
            <a:off x="548640" y="502920"/>
            <a:ext cx="985723" cy="310896"/>
          </a:xfrm>
          <a:prstGeom prst="rect">
            <a:avLst/>
          </a:prstGeom>
          <a:noFill/>
          <a:ln/>
        </p:spPr>
        <p:txBody>
          <a:bodyPr wrap="square" lIns="0" tIns="0" rIns="0" bIns="0" rtlCol="0" anchor="ctr"/>
          <a:lstStyle/>
          <a:p>
            <a:pPr algn="ctr" indent="0" marL="0">
              <a:buNone/>
            </a:pPr>
            <a:r>
              <a:rPr lang="en-US" sz="1100" b="1" dirty="0">
                <a:solidFill>
                  <a:srgbClr val="3DDC84"/>
                </a:solidFill>
                <a:latin typeface="Calibri" pitchFamily="34" charset="0"/>
                <a:ea typeface="Calibri" pitchFamily="34" charset="-122"/>
                <a:cs typeface="Calibri" pitchFamily="34" charset="-120"/>
              </a:rPr>
              <a:t>WATCH OUT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ctr"/>
          <a:lstStyle/>
          <a:p>
            <a:pPr indent="0" marL="0">
              <a:buNone/>
            </a:pPr>
            <a:r>
              <a:rPr lang="en-US" sz="3000" b="1" dirty="0">
                <a:solidFill>
                  <a:srgbClr val="F5F8FC"/>
                </a:solidFill>
                <a:latin typeface="Cambria" pitchFamily="34" charset="0"/>
                <a:ea typeface="Cambria" pitchFamily="34" charset="-122"/>
                <a:cs typeface="Cambria" pitchFamily="34" charset="-120"/>
              </a:rPr>
              <a:t>Common beginner mistakes</a:t>
            </a:r>
            <a:endParaRPr lang="en-US" sz="3000" dirty="0"/>
          </a:p>
        </p:txBody>
      </p:sp>
      <p:sp>
        <p:nvSpPr>
          <p:cNvPr id="5" name="Shape 3"/>
          <p:cNvSpPr/>
          <p:nvPr/>
        </p:nvSpPr>
        <p:spPr>
          <a:xfrm>
            <a:off x="548640" y="1691640"/>
            <a:ext cx="5364328" cy="1368582"/>
          </a:xfrm>
          <a:prstGeom prst="roundRect">
            <a:avLst>
              <a:gd name="adj" fmla="val 5345"/>
            </a:avLst>
          </a:prstGeom>
          <a:solidFill>
            <a:srgbClr val="16304F"/>
          </a:solidFill>
          <a:ln/>
        </p:spPr>
      </p:sp>
      <p:sp>
        <p:nvSpPr>
          <p:cNvPr id="6" name="Shape 4"/>
          <p:cNvSpPr/>
          <p:nvPr/>
        </p:nvSpPr>
        <p:spPr>
          <a:xfrm>
            <a:off x="749808" y="2165619"/>
            <a:ext cx="420624" cy="420624"/>
          </a:xfrm>
          <a:prstGeom prst="ellipse">
            <a:avLst/>
          </a:prstGeom>
          <a:solidFill>
            <a:srgbClr val="3DDC84"/>
          </a:solidFill>
          <a:ln/>
        </p:spPr>
      </p:sp>
      <p:sp>
        <p:nvSpPr>
          <p:cNvPr id="7" name="Text 5"/>
          <p:cNvSpPr txBox="1"/>
          <p:nvPr/>
        </p:nvSpPr>
        <p:spPr>
          <a:xfrm>
            <a:off x="749808" y="2165619"/>
            <a:ext cx="420624" cy="420624"/>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a:t>
            </a:r>
            <a:endParaRPr lang="en-US" sz="1800" dirty="0"/>
          </a:p>
        </p:txBody>
      </p:sp>
      <p:sp>
        <p:nvSpPr>
          <p:cNvPr id="8" name="Text 6"/>
          <p:cNvSpPr txBox="1"/>
          <p:nvPr/>
        </p:nvSpPr>
        <p:spPr>
          <a:xfrm>
            <a:off x="1325880" y="1783080"/>
            <a:ext cx="4404208" cy="1185702"/>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Forgetting -g — gdb can't find your source lines, only raw addresses.</a:t>
            </a:r>
            <a:endParaRPr lang="en-US" sz="1350" dirty="0"/>
          </a:p>
        </p:txBody>
      </p:sp>
      <p:sp>
        <p:nvSpPr>
          <p:cNvPr id="9" name="Shape 7"/>
          <p:cNvSpPr/>
          <p:nvPr/>
        </p:nvSpPr>
        <p:spPr>
          <a:xfrm>
            <a:off x="6278728" y="1691640"/>
            <a:ext cx="5364328" cy="1368582"/>
          </a:xfrm>
          <a:prstGeom prst="roundRect">
            <a:avLst>
              <a:gd name="adj" fmla="val 5345"/>
            </a:avLst>
          </a:prstGeom>
          <a:solidFill>
            <a:srgbClr val="16304F"/>
          </a:solidFill>
          <a:ln/>
        </p:spPr>
      </p:sp>
      <p:sp>
        <p:nvSpPr>
          <p:cNvPr id="10" name="Shape 8"/>
          <p:cNvSpPr/>
          <p:nvPr/>
        </p:nvSpPr>
        <p:spPr>
          <a:xfrm>
            <a:off x="6479896" y="2165619"/>
            <a:ext cx="420624" cy="420624"/>
          </a:xfrm>
          <a:prstGeom prst="ellipse">
            <a:avLst/>
          </a:prstGeom>
          <a:solidFill>
            <a:srgbClr val="3DDC84"/>
          </a:solidFill>
          <a:ln/>
        </p:spPr>
      </p:sp>
      <p:sp>
        <p:nvSpPr>
          <p:cNvPr id="11" name="Text 9"/>
          <p:cNvSpPr txBox="1"/>
          <p:nvPr/>
        </p:nvSpPr>
        <p:spPr>
          <a:xfrm>
            <a:off x="6479896" y="2165619"/>
            <a:ext cx="420624" cy="420624"/>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a:t>
            </a:r>
            <a:endParaRPr lang="en-US" sz="1800" dirty="0"/>
          </a:p>
        </p:txBody>
      </p:sp>
      <p:sp>
        <p:nvSpPr>
          <p:cNvPr id="12" name="Text 10"/>
          <p:cNvSpPr txBox="1"/>
          <p:nvPr/>
        </p:nvSpPr>
        <p:spPr>
          <a:xfrm>
            <a:off x="7055968" y="1783080"/>
            <a:ext cx="4404208" cy="1185702"/>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Assuming "it didn't crash" means "it's correct" — a leak or out-of-bounds read can look fine for a long time.</a:t>
            </a:r>
            <a:endParaRPr lang="en-US" sz="1350" dirty="0"/>
          </a:p>
        </p:txBody>
      </p:sp>
      <p:sp>
        <p:nvSpPr>
          <p:cNvPr id="13" name="Shape 11"/>
          <p:cNvSpPr/>
          <p:nvPr/>
        </p:nvSpPr>
        <p:spPr>
          <a:xfrm>
            <a:off x="548640" y="3316254"/>
            <a:ext cx="5364328" cy="1368582"/>
          </a:xfrm>
          <a:prstGeom prst="roundRect">
            <a:avLst>
              <a:gd name="adj" fmla="val 5345"/>
            </a:avLst>
          </a:prstGeom>
          <a:solidFill>
            <a:srgbClr val="16304F"/>
          </a:solidFill>
          <a:ln/>
        </p:spPr>
      </p:sp>
      <p:sp>
        <p:nvSpPr>
          <p:cNvPr id="14" name="Shape 12"/>
          <p:cNvSpPr/>
          <p:nvPr/>
        </p:nvSpPr>
        <p:spPr>
          <a:xfrm>
            <a:off x="749808" y="3790234"/>
            <a:ext cx="420624" cy="420624"/>
          </a:xfrm>
          <a:prstGeom prst="ellipse">
            <a:avLst/>
          </a:prstGeom>
          <a:solidFill>
            <a:srgbClr val="3DDC84"/>
          </a:solidFill>
          <a:ln/>
        </p:spPr>
      </p:sp>
      <p:sp>
        <p:nvSpPr>
          <p:cNvPr id="15" name="Text 13"/>
          <p:cNvSpPr txBox="1"/>
          <p:nvPr/>
        </p:nvSpPr>
        <p:spPr>
          <a:xfrm>
            <a:off x="749808" y="3790234"/>
            <a:ext cx="420624" cy="420624"/>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a:t>
            </a:r>
            <a:endParaRPr lang="en-US" sz="1800" dirty="0"/>
          </a:p>
        </p:txBody>
      </p:sp>
      <p:sp>
        <p:nvSpPr>
          <p:cNvPr id="16" name="Text 14"/>
          <p:cNvSpPr txBox="1"/>
          <p:nvPr/>
        </p:nvSpPr>
        <p:spPr>
          <a:xfrm>
            <a:off x="1325880" y="3407694"/>
            <a:ext cx="4404208" cy="1185702"/>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Reading only the first line of a valgrind report and skipping the backtrace underneath.</a:t>
            </a:r>
            <a:endParaRPr lang="en-US" sz="1350" dirty="0"/>
          </a:p>
        </p:txBody>
      </p:sp>
      <p:sp>
        <p:nvSpPr>
          <p:cNvPr id="17" name="Shape 15"/>
          <p:cNvSpPr/>
          <p:nvPr/>
        </p:nvSpPr>
        <p:spPr>
          <a:xfrm>
            <a:off x="6278728" y="3316254"/>
            <a:ext cx="5364328" cy="1368582"/>
          </a:xfrm>
          <a:prstGeom prst="roundRect">
            <a:avLst>
              <a:gd name="adj" fmla="val 5345"/>
            </a:avLst>
          </a:prstGeom>
          <a:solidFill>
            <a:srgbClr val="16304F"/>
          </a:solidFill>
          <a:ln/>
        </p:spPr>
      </p:sp>
      <p:sp>
        <p:nvSpPr>
          <p:cNvPr id="18" name="Shape 16"/>
          <p:cNvSpPr/>
          <p:nvPr/>
        </p:nvSpPr>
        <p:spPr>
          <a:xfrm>
            <a:off x="6479896" y="3790234"/>
            <a:ext cx="420624" cy="420624"/>
          </a:xfrm>
          <a:prstGeom prst="ellipse">
            <a:avLst/>
          </a:prstGeom>
          <a:solidFill>
            <a:srgbClr val="3DDC84"/>
          </a:solidFill>
          <a:ln/>
        </p:spPr>
      </p:sp>
      <p:sp>
        <p:nvSpPr>
          <p:cNvPr id="19" name="Text 17"/>
          <p:cNvSpPr txBox="1"/>
          <p:nvPr/>
        </p:nvSpPr>
        <p:spPr>
          <a:xfrm>
            <a:off x="6479896" y="3790234"/>
            <a:ext cx="420624" cy="420624"/>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a:t>
            </a:r>
            <a:endParaRPr lang="en-US" sz="1800" dirty="0"/>
          </a:p>
        </p:txBody>
      </p:sp>
      <p:sp>
        <p:nvSpPr>
          <p:cNvPr id="20" name="Text 18"/>
          <p:cNvSpPr txBox="1"/>
          <p:nvPr/>
        </p:nvSpPr>
        <p:spPr>
          <a:xfrm>
            <a:off x="7055968" y="3407694"/>
            <a:ext cx="4404208" cy="1185702"/>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Freeing a pointer and continuing to use it — free() doesn't change the variable itself.</a:t>
            </a:r>
            <a:endParaRPr lang="en-US" sz="1350" dirty="0"/>
          </a:p>
        </p:txBody>
      </p:sp>
      <p:sp>
        <p:nvSpPr>
          <p:cNvPr id="21" name="Shape 19"/>
          <p:cNvSpPr/>
          <p:nvPr/>
        </p:nvSpPr>
        <p:spPr>
          <a:xfrm>
            <a:off x="548640" y="4940869"/>
            <a:ext cx="5364328" cy="1368582"/>
          </a:xfrm>
          <a:prstGeom prst="roundRect">
            <a:avLst>
              <a:gd name="adj" fmla="val 5345"/>
            </a:avLst>
          </a:prstGeom>
          <a:solidFill>
            <a:srgbClr val="16304F"/>
          </a:solidFill>
          <a:ln/>
        </p:spPr>
      </p:sp>
      <p:sp>
        <p:nvSpPr>
          <p:cNvPr id="22" name="Shape 20"/>
          <p:cNvSpPr/>
          <p:nvPr/>
        </p:nvSpPr>
        <p:spPr>
          <a:xfrm>
            <a:off x="749808" y="5414848"/>
            <a:ext cx="420624" cy="420624"/>
          </a:xfrm>
          <a:prstGeom prst="ellipse">
            <a:avLst/>
          </a:prstGeom>
          <a:solidFill>
            <a:srgbClr val="3DDC84"/>
          </a:solidFill>
          <a:ln/>
        </p:spPr>
      </p:sp>
      <p:sp>
        <p:nvSpPr>
          <p:cNvPr id="23" name="Text 21"/>
          <p:cNvSpPr txBox="1"/>
          <p:nvPr/>
        </p:nvSpPr>
        <p:spPr>
          <a:xfrm>
            <a:off x="749808" y="5414848"/>
            <a:ext cx="420624" cy="420624"/>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a:t>
            </a:r>
            <a:endParaRPr lang="en-US" sz="1800" dirty="0"/>
          </a:p>
        </p:txBody>
      </p:sp>
      <p:sp>
        <p:nvSpPr>
          <p:cNvPr id="24" name="Text 22"/>
          <p:cNvSpPr txBox="1"/>
          <p:nvPr/>
        </p:nvSpPr>
        <p:spPr>
          <a:xfrm>
            <a:off x="1325880" y="5032309"/>
            <a:ext cx="4404208" cy="1185702"/>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Panicking at a bare "Segmentation fault" instead of treating it as debugging's starting point.</a:t>
            </a:r>
            <a:endParaRPr lang="en-US" sz="1350" dirty="0"/>
          </a:p>
        </p:txBody>
      </p:sp>
      <p:sp>
        <p:nvSpPr>
          <p:cNvPr id="25" name="Text 2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8CA3C2"/>
                </a:solidFill>
                <a:latin typeface="Calibri" pitchFamily="34" charset="0"/>
                <a:ea typeface="Calibri" pitchFamily="34" charset="-122"/>
                <a:cs typeface="Calibri" pitchFamily="34" charset="-120"/>
              </a:rPr>
              <a:t>MODULE 15 — DEBUGGING &amp; MEMORY SAFETY</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48640" y="502920"/>
            <a:ext cx="1435608" cy="310896"/>
          </a:xfrm>
          <a:prstGeom prst="roundRect">
            <a:avLst>
              <a:gd name="adj" fmla="val 50000"/>
            </a:avLst>
          </a:prstGeom>
          <a:solidFill>
            <a:srgbClr val="16304F"/>
          </a:solidFill>
          <a:ln/>
        </p:spPr>
      </p:sp>
      <p:sp>
        <p:nvSpPr>
          <p:cNvPr id="3" name="Text 1"/>
          <p:cNvSpPr txBox="1"/>
          <p:nvPr/>
        </p:nvSpPr>
        <p:spPr>
          <a:xfrm>
            <a:off x="548640" y="502920"/>
            <a:ext cx="1435608" cy="310896"/>
          </a:xfrm>
          <a:prstGeom prst="rect">
            <a:avLst/>
          </a:prstGeom>
          <a:noFill/>
          <a:ln/>
        </p:spPr>
        <p:txBody>
          <a:bodyPr wrap="square" lIns="0" tIns="0" rIns="0" bIns="0" rtlCol="0" anchor="ctr"/>
          <a:lstStyle/>
          <a:p>
            <a:pPr algn="ctr" indent="0" marL="0">
              <a:buNone/>
            </a:pPr>
            <a:r>
              <a:rPr lang="en-US" sz="1100" b="1" dirty="0">
                <a:solidFill>
                  <a:srgbClr val="3DDC84"/>
                </a:solidFill>
                <a:latin typeface="Calibri" pitchFamily="34" charset="0"/>
                <a:ea typeface="Calibri" pitchFamily="34" charset="-122"/>
                <a:cs typeface="Calibri" pitchFamily="34" charset="-120"/>
              </a:rPr>
              <a:t>TRY IT YOURSELF</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ctr"/>
          <a:lstStyle/>
          <a:p>
            <a:pPr indent="0" marL="0">
              <a:buNone/>
            </a:pPr>
            <a:r>
              <a:rPr lang="en-US" sz="3000" b="1" dirty="0">
                <a:solidFill>
                  <a:srgbClr val="F5F8FC"/>
                </a:solidFill>
                <a:latin typeface="Cambria" pitchFamily="34" charset="0"/>
                <a:ea typeface="Cambria" pitchFamily="34" charset="-122"/>
                <a:cs typeface="Cambria" pitchFamily="34" charset="-120"/>
              </a:rPr>
              <a:t>Before you move on</a:t>
            </a:r>
            <a:endParaRPr lang="en-US" sz="3000" dirty="0"/>
          </a:p>
        </p:txBody>
      </p:sp>
      <p:sp>
        <p:nvSpPr>
          <p:cNvPr id="5" name="Shape 3"/>
          <p:cNvSpPr/>
          <p:nvPr/>
        </p:nvSpPr>
        <p:spPr>
          <a:xfrm>
            <a:off x="548640" y="1783080"/>
            <a:ext cx="5318608" cy="4160520"/>
          </a:xfrm>
          <a:prstGeom prst="roundRect">
            <a:avLst>
              <a:gd name="adj" fmla="val 1758"/>
            </a:avLst>
          </a:prstGeom>
          <a:solidFill>
            <a:srgbClr val="16304F"/>
          </a:solidFill>
          <a:ln/>
        </p:spPr>
      </p:sp>
      <p:sp>
        <p:nvSpPr>
          <p:cNvPr id="6" name="Shape 4"/>
          <p:cNvSpPr/>
          <p:nvPr/>
        </p:nvSpPr>
        <p:spPr>
          <a:xfrm>
            <a:off x="804672" y="2057400"/>
            <a:ext cx="365760" cy="365760"/>
          </a:xfrm>
          <a:prstGeom prst="ellipse">
            <a:avLst/>
          </a:prstGeom>
          <a:solidFill>
            <a:srgbClr val="3DDC84"/>
          </a:solidFill>
          <a:ln/>
        </p:spPr>
      </p:sp>
      <p:sp>
        <p:nvSpPr>
          <p:cNvPr id="7" name="Text 5"/>
          <p:cNvSpPr txBox="1"/>
          <p:nvPr/>
        </p:nvSpPr>
        <p:spPr>
          <a:xfrm>
            <a:off x="804672" y="2057400"/>
            <a:ext cx="365760" cy="36576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325880" y="1984248"/>
            <a:ext cx="4541368" cy="971550"/>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Work through every file in examples/, compiling with gcc -g -Wall.</a:t>
            </a:r>
            <a:endParaRPr lang="en-US" sz="1350" dirty="0"/>
          </a:p>
        </p:txBody>
      </p:sp>
      <p:sp>
        <p:nvSpPr>
          <p:cNvPr id="9" name="Shape 7"/>
          <p:cNvSpPr/>
          <p:nvPr/>
        </p:nvSpPr>
        <p:spPr>
          <a:xfrm>
            <a:off x="804672" y="3028950"/>
            <a:ext cx="365760" cy="365760"/>
          </a:xfrm>
          <a:prstGeom prst="ellipse">
            <a:avLst/>
          </a:prstGeom>
          <a:solidFill>
            <a:srgbClr val="3DDC84"/>
          </a:solidFill>
          <a:ln/>
        </p:spPr>
      </p:sp>
      <p:sp>
        <p:nvSpPr>
          <p:cNvPr id="10" name="Text 8"/>
          <p:cNvSpPr txBox="1"/>
          <p:nvPr/>
        </p:nvSpPr>
        <p:spPr>
          <a:xfrm>
            <a:off x="804672" y="3028950"/>
            <a:ext cx="365760" cy="36576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325880" y="2955798"/>
            <a:ext cx="4541368" cy="971550"/>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Complete exercises/exercise1.c — find and describe the bug before checking the solution.</a:t>
            </a:r>
            <a:endParaRPr lang="en-US" sz="1350" dirty="0"/>
          </a:p>
        </p:txBody>
      </p:sp>
      <p:sp>
        <p:nvSpPr>
          <p:cNvPr id="12" name="Shape 10"/>
          <p:cNvSpPr/>
          <p:nvPr/>
        </p:nvSpPr>
        <p:spPr>
          <a:xfrm>
            <a:off x="804672" y="4000500"/>
            <a:ext cx="365760" cy="365760"/>
          </a:xfrm>
          <a:prstGeom prst="ellipse">
            <a:avLst/>
          </a:prstGeom>
          <a:solidFill>
            <a:srgbClr val="3DDC84"/>
          </a:solidFill>
          <a:ln/>
        </p:spPr>
      </p:sp>
      <p:sp>
        <p:nvSpPr>
          <p:cNvPr id="13" name="Text 11"/>
          <p:cNvSpPr txBox="1"/>
          <p:nvPr/>
        </p:nvSpPr>
        <p:spPr>
          <a:xfrm>
            <a:off x="804672" y="4000500"/>
            <a:ext cx="365760" cy="36576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325880" y="3927348"/>
            <a:ext cx="4541368" cy="971550"/>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Build the module project: three separate bugs, waiting for you to diagnose and fix all of them.</a:t>
            </a:r>
            <a:endParaRPr lang="en-US" sz="1350" dirty="0"/>
          </a:p>
        </p:txBody>
      </p:sp>
      <p:sp>
        <p:nvSpPr>
          <p:cNvPr id="15" name="Shape 13"/>
          <p:cNvSpPr/>
          <p:nvPr/>
        </p:nvSpPr>
        <p:spPr>
          <a:xfrm>
            <a:off x="804672" y="4972050"/>
            <a:ext cx="365760" cy="365760"/>
          </a:xfrm>
          <a:prstGeom prst="ellipse">
            <a:avLst/>
          </a:prstGeom>
          <a:solidFill>
            <a:srgbClr val="3DDC84"/>
          </a:solidFill>
          <a:ln/>
        </p:spPr>
      </p:sp>
      <p:sp>
        <p:nvSpPr>
          <p:cNvPr id="16" name="Text 14"/>
          <p:cNvSpPr txBox="1"/>
          <p:nvPr/>
        </p:nvSpPr>
        <p:spPr>
          <a:xfrm>
            <a:off x="804672" y="4972050"/>
            <a:ext cx="365760" cy="36576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325880" y="4898898"/>
            <a:ext cx="4541368" cy="971550"/>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git add . &amp;&amp; git commit -m "..." &amp;&amp; git push</a:t>
            </a:r>
            <a:endParaRPr lang="en-US" sz="1350" dirty="0"/>
          </a:p>
        </p:txBody>
      </p:sp>
      <p:sp>
        <p:nvSpPr>
          <p:cNvPr id="18" name="Shape 16"/>
          <p:cNvSpPr/>
          <p:nvPr/>
        </p:nvSpPr>
        <p:spPr>
          <a:xfrm>
            <a:off x="6324448" y="1783080"/>
            <a:ext cx="5318608" cy="4160520"/>
          </a:xfrm>
          <a:prstGeom prst="roundRect">
            <a:avLst>
              <a:gd name="adj" fmla="val 1758"/>
            </a:avLst>
          </a:prstGeom>
          <a:solidFill>
            <a:srgbClr val="3DDC84"/>
          </a:solidFill>
          <a:ln/>
        </p:spPr>
      </p:sp>
      <p:sp>
        <p:nvSpPr>
          <p:cNvPr id="19" name="Text 17"/>
          <p:cNvSpPr txBox="1"/>
          <p:nvPr/>
        </p:nvSpPr>
        <p:spPr>
          <a:xfrm>
            <a:off x="6644488" y="2103120"/>
            <a:ext cx="4678528"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UP NEXT</a:t>
            </a:r>
            <a:endParaRPr lang="en-US" sz="1200" dirty="0"/>
          </a:p>
        </p:txBody>
      </p:sp>
      <p:sp>
        <p:nvSpPr>
          <p:cNvPr id="20" name="Text 18"/>
          <p:cNvSpPr txBox="1"/>
          <p:nvPr/>
        </p:nvSpPr>
        <p:spPr>
          <a:xfrm>
            <a:off x="6644488" y="2468880"/>
            <a:ext cx="4678528" cy="118872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Module 16 — Enums, Unions &amp; Bitwise Operators</a:t>
            </a:r>
            <a:endParaRPr lang="en-US" sz="2400" dirty="0"/>
          </a:p>
        </p:txBody>
      </p:sp>
      <p:sp>
        <p:nvSpPr>
          <p:cNvPr id="21" name="Text 19"/>
          <p:cNvSpPr txBox="1"/>
          <p:nvPr/>
        </p:nvSpPr>
        <p:spPr>
          <a:xfrm>
            <a:off x="6644488" y="3703320"/>
            <a:ext cx="4678528" cy="1965960"/>
          </a:xfrm>
          <a:prstGeom prst="rect">
            <a:avLst/>
          </a:prstGeom>
          <a:noFill/>
          <a:ln/>
        </p:spPr>
        <p:txBody>
          <a:bodyPr wrap="square" lIns="0" tIns="0" rIns="0" bIns="0" rtlCol="0" anchor="ctr"/>
          <a:lstStyle/>
          <a:p>
            <a:pPr indent="0" marL="0">
              <a:buNone/>
            </a:pPr>
            <a:r>
              <a:rPr lang="en-US" sz="1400" dirty="0">
                <a:solidFill>
                  <a:srgbClr val="0B1F3A"/>
                </a:solidFill>
                <a:latin typeface="Calibri" pitchFamily="34" charset="0"/>
                <a:ea typeface="Calibri" pitchFamily="34" charset="-122"/>
                <a:cs typeface="Calibri" pitchFamily="34" charset="-120"/>
              </a:rPr>
              <a:t>One number, eight independent on/off switches — and exactly how that one line of code works.</a:t>
            </a:r>
            <a:endParaRPr lang="en-US" sz="1400" dirty="0"/>
          </a:p>
        </p:txBody>
      </p:sp>
      <p:sp>
        <p:nvSpPr>
          <p:cNvPr id="22" name="Text 2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8CA3C2"/>
                </a:solidFill>
                <a:latin typeface="Calibri" pitchFamily="34" charset="0"/>
                <a:ea typeface="Calibri" pitchFamily="34" charset="-122"/>
                <a:cs typeface="Calibri" pitchFamily="34" charset="-120"/>
              </a:rPr>
              <a:t>MODULE 15 — DEBUGGING &amp; MEMORY SAFETY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2026-09-15T18:12:03Z</dcterms:created>
  <dcterms:modified xsi:type="dcterms:W3CDTF">2026-09-15T18:12:03Z</dcterms:modified>
</cp:coreProperties>
</file>