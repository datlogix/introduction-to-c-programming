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takes Module 11's malloc/free discipline and uses it to build a structure that beats the fixed-size array: a chain of individually-allocated nodes linked by pointers.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but pointers holds this chain together -- there's no array anywhere. Ask students what would happen if you lost the `start` variable (answer: the whole list becomes unreachable, a preview of the leak discussion later in this module).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trade-off: arrays are fast to index but expensive to insert/delete in the middle; linked lists are the mirror image. Neither one is simply 'better.'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trips up almost everyone the first time. Write it on the board: the typedef isn't 'done' until the semicolon after the closing brace, so inside the braces you must use the long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exact picture on the board as you narrate: three boxes, arrows between them, head pointing at the first one. This mental model is the heartbeat of the entire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'separate pointer' -- a very common early bug is walking the list with head itself, losing the start of the list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what happens if the two lines inside the function are swapped -- they'll lose the entire rest of the list. Order matters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deleteValue's two branches on the board: the head special-case (no previous exists) versus the general case (relink around the target).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module's signature gotcha. The fix is one line of reordering: save next before you free. Also mention: overwriting head without freeing the old list first is a permanent, unrecoverable leak.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Mistake 3 (forgetting to reassign head) is the single most common one -- students write insertAtHead(head, 5); with no assignment and wonder why nothing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13 builds directly on today's insert-at-head function -- pushing onto a stack IS inserting at the head of a linked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0" b="1" spc="-1400" kern="0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41732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014984" cy="310896"/>
          </a:xfrm>
          <a:prstGeom prst="roundRect">
            <a:avLst>
              <a:gd name="adj" fmla="val 23529"/>
            </a:avLst>
          </a:prstGeom>
          <a:solidFill>
            <a:srgbClr val="163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nodes together with pointers -- a structure that grows one malloc at a time.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65453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5654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treasure hunt made of pointers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— LINKED LISTS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903720" cy="3794760"/>
          </a:xfrm>
          <a:prstGeom prst="roundRect">
            <a:avLst>
              <a:gd name="adj" fmla="val 1446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039112"/>
            <a:ext cx="639165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Node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clue[40];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*next;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Node;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*stop1 = malloc(sizeof(Node));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...stop2, stop3, stop4...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stop1-&gt;next = stop2;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stop2-&gt;next = stop3;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stop3-&gt;next = stop4;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stop4-&gt;next = NULL;  // hunt over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*start = stop1;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559552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559552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00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hook.c -o hook &amp;&amp; ./hook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blocks of memory, allocated one at a time, each holding a clue AND directions to the next one.</a:t>
            </a:r>
            <a:endParaRPr lang="en-US" sz="15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doesn't know about stop2, stop3, or stop4 directly -- it only knows stop1, and stop1 knows where stop2 is.</a:t>
            </a:r>
            <a:endParaRPr lang="en-US" sz="15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chain far enough and you reach stop4, whose next is NULL -- the treasure, and the end of the hunt.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863840" y="5074920"/>
            <a:ext cx="3776472" cy="1234440"/>
          </a:xfrm>
          <a:prstGeom prst="roundRect">
            <a:avLst>
              <a:gd name="adj" fmla="val 5926"/>
            </a:avLst>
          </a:prstGeom>
          <a:solidFill>
            <a:srgbClr val="E4F9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5074920"/>
            <a:ext cx="3410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chain is a linked list -- by the end of this module you'll be adding stops to it, removing them, and cleaning the whole thing up.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use a bigger array?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— LINKED LISTS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(with realloc)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51760"/>
            <a:ext cx="47731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11's realloc solves “I don't know how many elements I'll need.”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element 3 of 10,000 means shifting 9,997 elements left to close the gap.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arr[500]-style random access -- its biggest strength.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7648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50608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651760"/>
            <a:ext cx="47731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is its own small chunk of memory; elements point to their neighbors instead of sitting next to them.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an element becomes “change where two pointers point” -- nothing shifts.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no arr[500] shortcut -- reaching node 500 means walking there one next at a time.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and linked lists are good at opposite things -- you'll pick whichever fits the job.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node?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— LINKED LISTS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Node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value;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*next;  // a pointer to another Node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Node;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struct body, write struct Node *next -- not Node *next. The typedef name doesn't exist yet.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is a struct that holds data PLUS a pointer to another node of the same type -- a self-referential struct.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typedef says “once this whole declaration is finished, call this type Node” -- but that name isn't ready yet while you're still inside the braces.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already has a usable name at that point: struct Node. After the closing } Node;, use the short name everywhere else.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examples/01_what_is_a_node.c.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list by hand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— LINKED LISTS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9037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91740"/>
            <a:ext cx="1280160" cy="1051560"/>
          </a:xfrm>
          <a:prstGeom prst="roundRect">
            <a:avLst>
              <a:gd name="adj" fmla="val 521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014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403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node1 = 10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3120" y="3017520"/>
            <a:ext cx="411480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011680" y="27066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2491740"/>
            <a:ext cx="1280160" cy="1051560"/>
          </a:xfrm>
          <a:prstGeom prst="roundRect">
            <a:avLst>
              <a:gd name="adj" fmla="val 5217"/>
            </a:avLst>
          </a:prstGeom>
          <a:solidFill>
            <a:srgbClr val="E9EEF6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26014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30403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node2 = 20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94760" y="3017520"/>
            <a:ext cx="411480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703320" y="27066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06240" y="2491740"/>
            <a:ext cx="1280160" cy="1051560"/>
          </a:xfrm>
          <a:prstGeom prst="roundRect">
            <a:avLst>
              <a:gd name="adj" fmla="val 5217"/>
            </a:avLst>
          </a:prstGeom>
          <a:solidFill>
            <a:srgbClr val="E9EEF6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6240" y="26014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30403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node3 = 30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0" y="3017520"/>
            <a:ext cx="411480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394960" y="27066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897880" y="2491740"/>
            <a:ext cx="1280160" cy="1051560"/>
          </a:xfrm>
          <a:prstGeom prst="roundRect">
            <a:avLst>
              <a:gd name="adj" fmla="val 5217"/>
            </a:avLst>
          </a:prstGeom>
          <a:solidFill>
            <a:srgbClr val="E9EEF6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97880" y="26014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30403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list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1828800"/>
            <a:ext cx="37764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nodes, malloc'd one at a time, linked together with plain assignments: node1-&gt;next = node2, node2-&gt;next = node3, node3-&gt;next = NULL.</a:t>
            </a:r>
            <a:endParaRPr lang="en-US" sz="140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is the only variable in the whole program that remembers where node1 lives.</a:t>
            </a:r>
            <a:endParaRPr lang="en-US" sz="140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only reachable by following next pointers starting from head -- hold onto that idea.</a:t>
            </a:r>
            <a:endParaRPr lang="en-US" sz="140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examples/02_building_a_list_by_hand.c.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Traversal: walking the list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— LINKED LISTS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*current = head;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(current != NULL)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-&gt; ", current-&gt;value);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 = current-&gt;next;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printf("NULL\n");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starts at head and never modifies head -- so you never lose track of where the list begins.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anything with a list -- print it, search it, count it -- you walk it with a separate pointer, conventionally called current.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moves one node at a time until it falls off the end of the list, which is exactly when it becomes NULL.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while (current != NULL) check is the heartbeat of almost every linked-list function you'll write.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examples/03_traversing_a_list.c.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Inserting at the head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— LINKED LISTS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*insertAtHead(Node *head, int value)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*newNode = malloc(sizeof(Node));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(newNode == NULL) return head;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newNode-&gt;value = value;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newNode-&gt;next = head;  // point at OLD head first...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newNode;         // ...then become the new head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newNode-&gt;next = head must happen BEFORE head is overwritten, or you'd lose the rest of the list.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possible insertion: point the new node at the current head, then make the new node the head.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returns the new head instead of modifying head in place -- the caller must write head = insertAtHead(head, ...).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examples/04_inserting_at_the_head.c.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Inserting and deleting anywhere else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— LINKED LISTS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after current: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newNode-&gt;next = current-&gt;next;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current-&gt;next = newNode;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current (not the head), given previous: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previous-&gt;next = current-&gt;next;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free(current);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head is a special case -- there's no previous node, so head itself must be updated instead.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or deleting in the middle means walking to the node just BEFORE the spot you care about, then relinking pointers around it.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needs a previous pointer alongside current, so you can skip over the node being removed.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examples/05_inserting_and_deleting_anywhere.c -- both operations verified against expected list contents at each step.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Freeing the whole list, safely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— LINKED LISTS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-- current-&gt;next reads freed memory: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(current != NULL)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free(current);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current = current-&gt;next;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}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*next = current-&gt;next;  // save it FIRST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free(current);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= next;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next before you free the current node -- never read through memory you just returned to the system.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was malloc'd individually, so every node has to be free'd individually -- Module 11's rule, once per node.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tempting broken approach reads current-&gt;next AFTER current was just freed -- undefined behavior, often a crash.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examples/06_freeing_the_whole_list.c.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40587" cy="310896"/>
          </a:xfrm>
          <a:prstGeom prst="roundRect">
            <a:avLst>
              <a:gd name="adj" fmla="val 23529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405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— LINKED LISTS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6712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78308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Node *next; instead of struct Node *next; inside the struct body -- the typedef name doesn't exist yet at that point.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64428" y="169164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11" name="Shape 9"/>
          <p:cNvSpPr/>
          <p:nvPr/>
        </p:nvSpPr>
        <p:spPr>
          <a:xfrm>
            <a:off x="6365596" y="216712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65596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941668" y="178308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Freeing a node and then reading current-&gt;next afterward -- always save next into a local variable before calling free.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6758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9184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insertion/deletion functions must return the (possibly new) head, and forgetting head = theFunction(...) at the call site.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64428" y="320040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65596" y="36758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65596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1668" y="329184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Overwriting head (or any pointer that's the only reference to part of a list) without freeing what it used to point to -- an instant, unrecoverable leak.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518464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80060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or inserting in the middle without keeping a previous pointer -- you need the node before the target to relink around it.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64428" y="470916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27" name="Shape 25"/>
          <p:cNvSpPr/>
          <p:nvPr/>
        </p:nvSpPr>
        <p:spPr>
          <a:xfrm>
            <a:off x="6365596" y="518464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65596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941668" y="480060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NULL check after malloc -- a failed allocation returns NULL, and dereferencing it crashes the program.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90472" cy="310896"/>
          </a:xfrm>
          <a:prstGeom prst="roundRect">
            <a:avLst>
              <a:gd name="adj" fmla="val 23529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— LINKED LISTS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4160520"/>
          </a:xfrm>
          <a:prstGeom prst="roundRect">
            <a:avLst>
              <a:gd name="adj" fmla="val 1319"/>
            </a:avLst>
          </a:prstGeom>
          <a:solidFill>
            <a:srgbClr val="16304F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84248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every file in examples/, compiling and running each one.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" y="2770632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97480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exercises/exercise1.c.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" y="3483864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410712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module project.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" y="4197096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23944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push: git add . &amp;&amp; git commit -m "Complete Module 12" &amp;&amp; git push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27648" y="1783080"/>
            <a:ext cx="5321808" cy="4160520"/>
          </a:xfrm>
          <a:prstGeom prst="roundRect">
            <a:avLst>
              <a:gd name="adj" fmla="val 1319"/>
            </a:avLst>
          </a:prstGeom>
          <a:solidFill>
            <a:srgbClr val="3DDC8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47688" y="210312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2468880"/>
            <a:ext cx="468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13 — Stacks &amp; Queues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647688" y="3703320"/>
            <a:ext cx="46817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nodes and pointers, now with a rule about which end you're allowed to add to and remove from.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2026-09-15T23:21:10Z</dcterms:created>
  <dcterms:modified xsi:type="dcterms:W3CDTF">2026-09-15T23:21:10Z</dcterms:modified>
</cp:coreProperties>
</file>