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compile and run hook.c BEFORE explaining anything. The whole point is that they see six lines of output from a function with no loop. Ask: 'how did this print six times if there's no for/while?' Let the confusion sit for a moment — that's the hook. countdown() calls itself, once per line of output, and each call is a smaller version of the same problem (a smaller n). This module is entirely about understanding that mechanism: the base case (n == 0) and the recursive case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recursive function needs exactly two parts: a base case and a recursive case. Write both terms on the board and point back to countdown() from the hook: base case is n == 0 (print Liftoff, return, no further call). Recursive case is everything else: print n, then call countdown(n - 1) — note the argument is SMALLER, moving toward the base case. Emphasize 'measurable progress toward the base case' as the core discipline students need to internalize before writing their own recursive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mental model in the module: the call stack. Walk through the trace on the left slowly, pointing out that countdown(3) is still 'alive' — paused, waiting — while countdown(2), countdown(1), and countdown(0) run. Each of those four calls has its OWN n; changing n inside countdown(1) never touches countdown(3)'s n. Live-run examples/01_countdown_no_loop.c, which prints on the way back out too, so students can literally see the unwinding in reverse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factorial is the textbook example because the recursive definition IS the mathematical definition — n! = n × (n-1)!. Trace factorial(4) on the board: it can't multiply until factorial(3) returns a real value, which can't finish until factorial(2) returns, down to factorial(0) returning 1. Point out the return keyword in 'return n * factorial(n - 1);' — forgetting it is the #1 mistake (see the mistakes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generalizes recursion beyond 'a single shrinking number' to 'a shrinking array.' Point out that size == 0 is the base case (an empty array sums to 0), and arr + 1 / size - 1 is the recursive case, using pointer arithmetic from Module 7. It's worth pointing out explicitly that arr[0] + sumArray(...) means the addition happens on the way BACK from the recursion, not on the way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version is 'more correct' — anything you can write recursively you can also write with a loop. Loops are usually a little more memory-efficient (one stack frame instead of many). Recursion tends to shine when a problem is naturally self-similar — foreshadow Module 12 (Linked Lists), where walking a chain of nodes maps onto recursion almost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'recursion isn't always free' lesson. Trace fib(5) by hand on the board — students will see fib(3) computed twice and fib(2) three times. Run examples/05_fibonacci_naive_recursion.c and watch the call counter explode as n grows past ~30. This sets up later courses on memoization/dynamic programming without going there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examples/06_missing_base_case_infinite_recursion.c — the broken version is safely commented out (running it for real crashes the program on purpose, not worth doing more than once). Explain a stack overflow concretely: each call reserves a new frame, frames live in a fixed-size region of memory, and an unterminated recursion eventually exhausts it. Compare against the fixed version's real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mistake and, where possible, tie it back to a slide students already saw: no base case -&gt; the countdown/stack-overflow slide; forgetting return -&gt; the factorial slide; repeating work -&gt; the naive Fibonacci slide. The 'measurable progress' framing is worth repeating — it's the single rule that prevents almost every infinite-recursion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students into examples/ to run every file for themselves, especially the safely-disabled infinite recursion demo in 06 so they understand the danger without crashing anything they care about. Preview Module 11: dynamic memory allocation builds directly on the stack-frame mental model from this module, since the heap is explicitly the 'other' kind of memory, distinct from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949440" y="914400"/>
            <a:ext cx="5120640" cy="5120640"/>
          </a:xfrm>
          <a:prstGeom prst="rect">
            <a:avLst/>
          </a:prstGeom>
          <a:noFill/>
          <a:ln/>
        </p:spPr>
        <p:txBody>
          <a:bodyPr wrap="square" lIns="0" tIns="0" rIns="0" bIns="0" rtlCol="0" anchor="t"/>
          <a:lstStyle/>
          <a:p>
            <a:pPr algn="r" indent="0" marL="0">
              <a:buNone/>
            </a:pPr>
            <a:r>
              <a:rPr lang="en-US" sz="32000" b="1" dirty="0">
                <a:solidFill>
                  <a:srgbClr val="16304F"/>
                </a:solidFill>
                <a:latin typeface="Cambria" pitchFamily="34" charset="0"/>
                <a:ea typeface="Cambria" pitchFamily="34" charset="-122"/>
                <a:cs typeface="Cambria" pitchFamily="34" charset="-120"/>
              </a:rPr>
              <a:t>10</a:t>
            </a:r>
            <a:endParaRPr lang="en-US" sz="32000" dirty="0"/>
          </a:p>
        </p:txBody>
      </p:sp>
      <p:sp>
        <p:nvSpPr>
          <p:cNvPr id="3" name="Shape 1"/>
          <p:cNvSpPr/>
          <p:nvPr/>
        </p:nvSpPr>
        <p:spPr>
          <a:xfrm>
            <a:off x="9692640" y="-1463040"/>
            <a:ext cx="4206240" cy="4206240"/>
          </a:xfrm>
          <a:prstGeom prst="ellipse">
            <a:avLst/>
          </a:prstGeom>
          <a:ln w="28575">
            <a:solidFill>
              <a:srgbClr val="16304F"/>
            </a:solidFill>
            <a:prstDash val="solid"/>
          </a:ln>
        </p:spPr>
      </p:sp>
      <p:sp>
        <p:nvSpPr>
          <p:cNvPr id="4" name="Shape 2"/>
          <p:cNvSpPr/>
          <p:nvPr/>
        </p:nvSpPr>
        <p:spPr>
          <a:xfrm>
            <a:off x="548640" y="1417320"/>
            <a:ext cx="512064" cy="512064"/>
          </a:xfrm>
          <a:prstGeom prst="ellipse">
            <a:avLst/>
          </a:prstGeom>
          <a:solidFill>
            <a:srgbClr val="16304F"/>
          </a:solidFill>
          <a:ln/>
        </p:spPr>
      </p:sp>
      <p:sp>
        <p:nvSpPr>
          <p:cNvPr id="5" name="Text 3"/>
          <p:cNvSpPr txBox="1"/>
          <p:nvPr/>
        </p:nvSpPr>
        <p:spPr>
          <a:xfrm>
            <a:off x="548640" y="1417320"/>
            <a:ext cx="512064" cy="512064"/>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❯_</a:t>
            </a:r>
            <a:endParaRPr lang="en-US" sz="1800" dirty="0"/>
          </a:p>
        </p:txBody>
      </p:sp>
      <p:sp>
        <p:nvSpPr>
          <p:cNvPr id="6" name="Text 4"/>
          <p:cNvSpPr txBox="1"/>
          <p:nvPr/>
        </p:nvSpPr>
        <p:spPr>
          <a:xfrm>
            <a:off x="1207008" y="1417320"/>
            <a:ext cx="6400800" cy="512064"/>
          </a:xfrm>
          <a:prstGeom prst="rect">
            <a:avLst/>
          </a:prstGeom>
          <a:noFill/>
          <a:ln/>
        </p:spPr>
        <p:txBody>
          <a:bodyPr wrap="square" lIns="0" tIns="0" rIns="0" bIns="0" rtlCol="0" anchor="ctr"/>
          <a:lstStyle/>
          <a:p>
            <a:pPr indent="0" marL="0">
              <a:buNone/>
            </a:pPr>
            <a:r>
              <a:rPr lang="en-US" sz="1200" b="1" spc="100" kern="0" dirty="0">
                <a:solidFill>
                  <a:srgbClr val="8CA3C2"/>
                </a:solidFill>
                <a:latin typeface="Calibri" pitchFamily="34" charset="0"/>
                <a:ea typeface="Calibri" pitchFamily="34" charset="-122"/>
                <a:cs typeface="Calibri" pitchFamily="34" charset="-120"/>
              </a:rPr>
              <a:t>INTRODUCTION TO C PROGRAMMING</a:t>
            </a:r>
            <a:endParaRPr lang="en-US" sz="1200" dirty="0"/>
          </a:p>
        </p:txBody>
      </p:sp>
      <p:sp>
        <p:nvSpPr>
          <p:cNvPr id="7" name="Shape 5"/>
          <p:cNvSpPr/>
          <p:nvPr/>
        </p:nvSpPr>
        <p:spPr>
          <a:xfrm>
            <a:off x="548640" y="2331720"/>
            <a:ext cx="1133856" cy="310896"/>
          </a:xfrm>
          <a:prstGeom prst="roundRect">
            <a:avLst>
              <a:gd name="adj" fmla="val 50000"/>
            </a:avLst>
          </a:prstGeom>
          <a:solidFill>
            <a:srgbClr val="16304F"/>
          </a:solidFill>
          <a:ln/>
        </p:spPr>
      </p:sp>
      <p:sp>
        <p:nvSpPr>
          <p:cNvPr id="8" name="Text 6"/>
          <p:cNvSpPr txBox="1"/>
          <p:nvPr/>
        </p:nvSpPr>
        <p:spPr>
          <a:xfrm>
            <a:off x="548640" y="2331720"/>
            <a:ext cx="113385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MODULE 10</a:t>
            </a:r>
            <a:endParaRPr lang="en-US" sz="1100" dirty="0"/>
          </a:p>
        </p:txBody>
      </p:sp>
      <p:sp>
        <p:nvSpPr>
          <p:cNvPr id="9" name="Text 7"/>
          <p:cNvSpPr txBox="1"/>
          <p:nvPr/>
        </p:nvSpPr>
        <p:spPr>
          <a:xfrm>
            <a:off x="548640" y="2788920"/>
            <a:ext cx="8778240" cy="1737360"/>
          </a:xfrm>
          <a:prstGeom prst="rect">
            <a:avLst/>
          </a:prstGeom>
          <a:noFill/>
          <a:ln/>
        </p:spPr>
        <p:txBody>
          <a:bodyPr wrap="square" lIns="0" tIns="0" rIns="0" bIns="0" rtlCol="0" anchor="t"/>
          <a:lstStyle/>
          <a:p>
            <a:pPr indent="0" marL="0">
              <a:buNone/>
            </a:pPr>
            <a:r>
              <a:rPr lang="en-US" sz="4400" b="1" dirty="0">
                <a:solidFill>
                  <a:srgbClr val="F5F8FC"/>
                </a:solidFill>
                <a:latin typeface="Cambria" pitchFamily="34" charset="0"/>
                <a:ea typeface="Cambria" pitchFamily="34" charset="-122"/>
                <a:cs typeface="Cambria" pitchFamily="34" charset="-120"/>
              </a:rPr>
              <a:t>Recursion</a:t>
            </a:r>
            <a:endParaRPr lang="en-US" sz="4400" dirty="0"/>
          </a:p>
        </p:txBody>
      </p:sp>
      <p:sp>
        <p:nvSpPr>
          <p:cNvPr id="10" name="Text 8"/>
          <p:cNvSpPr txBox="1"/>
          <p:nvPr/>
        </p:nvSpPr>
        <p:spPr>
          <a:xfrm>
            <a:off x="548640" y="4343400"/>
            <a:ext cx="8412480" cy="640080"/>
          </a:xfrm>
          <a:prstGeom prst="rect">
            <a:avLst/>
          </a:prstGeom>
          <a:noFill/>
          <a:ln/>
        </p:spPr>
        <p:txBody>
          <a:bodyPr wrap="square" lIns="0" tIns="0" rIns="0" bIns="0" rtlCol="0" anchor="ctr"/>
          <a:lstStyle/>
          <a:p>
            <a:pPr indent="0" marL="0">
              <a:buNone/>
            </a:pPr>
            <a:r>
              <a:rPr lang="en-US" sz="1800" dirty="0">
                <a:solidFill>
                  <a:srgbClr val="8CA3C2"/>
                </a:solidFill>
                <a:latin typeface="Calibri" pitchFamily="34" charset="0"/>
                <a:ea typeface="Calibri" pitchFamily="34" charset="-122"/>
                <a:cs typeface="Calibri" pitchFamily="34" charset="-120"/>
              </a:rPr>
              <a:t>How a function can repeat work on a smaller version of itself — no loop required.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773936" cy="310896"/>
          </a:xfrm>
          <a:prstGeom prst="roundRect">
            <a:avLst>
              <a:gd name="adj" fmla="val 50000"/>
            </a:avLst>
          </a:prstGeom>
          <a:solidFill>
            <a:srgbClr val="0B1F3A"/>
          </a:solidFill>
          <a:ln/>
        </p:spPr>
      </p:sp>
      <p:sp>
        <p:nvSpPr>
          <p:cNvPr id="3" name="Text 1"/>
          <p:cNvSpPr txBox="1"/>
          <p:nvPr/>
        </p:nvSpPr>
        <p:spPr>
          <a:xfrm>
            <a:off x="548640" y="502920"/>
            <a:ext cx="177393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HOOK — LIVE DEMO</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800" b="1" dirty="0">
                <a:solidFill>
                  <a:srgbClr val="132038"/>
                </a:solidFill>
                <a:latin typeface="Cambria" pitchFamily="34" charset="0"/>
                <a:ea typeface="Cambria" pitchFamily="34" charset="-122"/>
                <a:cs typeface="Cambria" pitchFamily="34" charset="-120"/>
              </a:rPr>
              <a:t>A countdown with no loop anywhere in sight</a:t>
            </a:r>
            <a:endParaRPr lang="en-US" sz="28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00200"/>
            <a:ext cx="6903720" cy="3794760"/>
          </a:xfrm>
          <a:prstGeom prst="roundRect">
            <a:avLst>
              <a:gd name="adj" fmla="val 2410"/>
            </a:avLst>
          </a:prstGeom>
          <a:solidFill>
            <a:srgbClr val="102841"/>
          </a:solidFill>
          <a:ln/>
          <a:effectLst>
            <a:outerShdw sx="100000" sy="100000" kx="0" ky="0" algn="bl" rotWithShape="0" blurRad="101600" dist="38100" dir="5400000">
              <a:srgbClr val="0B1F3A">
                <a:alpha val="28000"/>
              </a:srgbClr>
            </a:outerShdw>
          </a:effectLst>
        </p:spPr>
      </p:sp>
      <p:sp>
        <p:nvSpPr>
          <p:cNvPr id="7" name="Shape 5"/>
          <p:cNvSpPr/>
          <p:nvPr/>
        </p:nvSpPr>
        <p:spPr>
          <a:xfrm>
            <a:off x="749808" y="1764792"/>
            <a:ext cx="109728" cy="109728"/>
          </a:xfrm>
          <a:prstGeom prst="ellipse">
            <a:avLst/>
          </a:prstGeom>
          <a:solidFill>
            <a:srgbClr val="E6675C"/>
          </a:solidFill>
          <a:ln/>
        </p:spPr>
      </p:sp>
      <p:sp>
        <p:nvSpPr>
          <p:cNvPr id="8" name="Shape 6"/>
          <p:cNvSpPr/>
          <p:nvPr/>
        </p:nvSpPr>
        <p:spPr>
          <a:xfrm>
            <a:off x="969264" y="1764792"/>
            <a:ext cx="109728" cy="109728"/>
          </a:xfrm>
          <a:prstGeom prst="ellipse">
            <a:avLst/>
          </a:prstGeom>
          <a:solidFill>
            <a:srgbClr val="E8C15A"/>
          </a:solidFill>
          <a:ln/>
        </p:spPr>
      </p:sp>
      <p:sp>
        <p:nvSpPr>
          <p:cNvPr id="9" name="Shape 7"/>
          <p:cNvSpPr/>
          <p:nvPr/>
        </p:nvSpPr>
        <p:spPr>
          <a:xfrm>
            <a:off x="1188720" y="1764792"/>
            <a:ext cx="109728" cy="109728"/>
          </a:xfrm>
          <a:prstGeom prst="ellipse">
            <a:avLst/>
          </a:prstGeom>
          <a:solidFill>
            <a:srgbClr val="3DDC84"/>
          </a:solidFill>
          <a:ln/>
        </p:spPr>
      </p:sp>
      <p:sp>
        <p:nvSpPr>
          <p:cNvPr id="10" name="Text 8"/>
          <p:cNvSpPr txBox="1"/>
          <p:nvPr/>
        </p:nvSpPr>
        <p:spPr>
          <a:xfrm>
            <a:off x="804672" y="2039112"/>
            <a:ext cx="6391656" cy="3081528"/>
          </a:xfrm>
          <a:prstGeom prst="rect">
            <a:avLst/>
          </a:prstGeom>
          <a:noFill/>
          <a:ln/>
        </p:spPr>
        <p:txBody>
          <a:bodyPr wrap="square" lIns="0" tIns="0" rIns="0" bIns="0" rtlCol="0" anchor="t"/>
          <a:lstStyle/>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#include &lt;stdio.h&gt;</a:t>
            </a:r>
            <a:endParaRPr lang="en-US" sz="1300" dirty="0"/>
          </a:p>
          <a:p>
            <a:pPr indent="0" marL="0">
              <a:lnSpc>
                <a:spcPct val="100000"/>
              </a:lnSpc>
              <a:buNone/>
            </a:pP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void countdown(int n) {</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if (n == 0) {</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printf("Liftoff!\n");</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return;</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printf("%d...\n", n);</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countdown(n - 1);</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a:p>
            <a:pPr indent="0" marL="0">
              <a:lnSpc>
                <a:spcPct val="100000"/>
              </a:lnSpc>
              <a:buNone/>
            </a:pP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int main(void) {</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countdown(5);</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return 0;</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548640" y="5559552"/>
            <a:ext cx="6903720" cy="566928"/>
          </a:xfrm>
          <a:prstGeom prst="roundRect">
            <a:avLst>
              <a:gd name="adj" fmla="val 12903"/>
            </a:avLst>
          </a:prstGeom>
          <a:solidFill>
            <a:srgbClr val="0B1F3A"/>
          </a:solidFill>
          <a:ln/>
        </p:spPr>
      </p:sp>
      <p:sp>
        <p:nvSpPr>
          <p:cNvPr id="12" name="Text 10"/>
          <p:cNvSpPr txBox="1"/>
          <p:nvPr/>
        </p:nvSpPr>
        <p:spPr>
          <a:xfrm>
            <a:off x="749808" y="5559552"/>
            <a:ext cx="6501384" cy="566928"/>
          </a:xfrm>
          <a:prstGeom prst="rect">
            <a:avLst/>
          </a:prstGeom>
          <a:noFill/>
          <a:ln/>
        </p:spPr>
        <p:txBody>
          <a:bodyPr wrap="square" lIns="0" tIns="0" rIns="0" bIns="0" rtlCol="0" anchor="ctr"/>
          <a:lstStyle/>
          <a:p>
            <a:pPr indent="0" marL="0">
              <a:buNone/>
            </a:pPr>
            <a:r>
              <a:rPr lang="en-US" sz="1300" b="1" dirty="0">
                <a:solidFill>
                  <a:srgbClr val="3DDC84"/>
                </a:solidFill>
                <a:latin typeface="Courier New" pitchFamily="34" charset="0"/>
                <a:ea typeface="Courier New" pitchFamily="34" charset="-122"/>
                <a:cs typeface="Courier New" pitchFamily="34" charset="-120"/>
              </a:rPr>
              <a:t>$ </a:t>
            </a:r>
            <a:pPr indent="0" marL="0">
              <a:buNone/>
            </a:pPr>
            <a:r>
              <a:rPr lang="en-US" sz="1300" dirty="0">
                <a:solidFill>
                  <a:srgbClr val="F5F8FC"/>
                </a:solidFill>
                <a:latin typeface="Courier New" pitchFamily="34" charset="0"/>
                <a:ea typeface="Courier New" pitchFamily="34" charset="-122"/>
                <a:cs typeface="Courier New" pitchFamily="34" charset="-120"/>
              </a:rPr>
              <a:t>gcc hook.c -o hook &amp;&amp; ./hook</a:t>
            </a:r>
            <a:endParaRPr lang="en-US" sz="1300" dirty="0"/>
          </a:p>
        </p:txBody>
      </p:sp>
      <p:sp>
        <p:nvSpPr>
          <p:cNvPr id="13" name="Text 11"/>
          <p:cNvSpPr txBox="1"/>
          <p:nvPr/>
        </p:nvSpPr>
        <p:spPr>
          <a:xfrm>
            <a:off x="7863840" y="1691640"/>
            <a:ext cx="3779215" cy="3291840"/>
          </a:xfrm>
          <a:prstGeom prst="rect">
            <a:avLst/>
          </a:prstGeom>
          <a:noFill/>
          <a:ln/>
        </p:spPr>
        <p:txBody>
          <a:bodyPr wrap="square" lIns="0" tIns="0" rIns="0" bIns="0" rtlCol="0" anchor="t"/>
          <a:lstStyle/>
          <a:p>
            <a:pPr indent="0" marL="0">
              <a:spcAft>
                <a:spcPts val="1200"/>
              </a:spcAft>
              <a:buNone/>
            </a:pPr>
            <a:r>
              <a:rPr lang="en-US" sz="1550" dirty="0">
                <a:solidFill>
                  <a:srgbClr val="30425E"/>
                </a:solidFill>
                <a:latin typeface="Calibri" pitchFamily="34" charset="0"/>
                <a:ea typeface="Calibri" pitchFamily="34" charset="-122"/>
                <a:cs typeface="Calibri" pitchFamily="34" charset="-120"/>
              </a:rPr>
              <a:t>5... 4... 3... 2... 1... Liftoff! — six lines of output, and there is no for, no while, no do-while anywhere in this file.</a:t>
            </a:r>
            <a:endParaRPr lang="en-US" sz="1550" dirty="0"/>
          </a:p>
          <a:p>
            <a:pPr indent="0" marL="0">
              <a:spcAft>
                <a:spcPts val="1200"/>
              </a:spcAft>
              <a:buNone/>
            </a:pPr>
            <a:endParaRPr lang="en-US" sz="1550" dirty="0"/>
          </a:p>
          <a:p>
            <a:pPr indent="0" marL="0">
              <a:spcAft>
                <a:spcPts val="1200"/>
              </a:spcAft>
              <a:buNone/>
            </a:pPr>
            <a:r>
              <a:rPr lang="en-US" sz="1550" dirty="0">
                <a:solidFill>
                  <a:srgbClr val="30425E"/>
                </a:solidFill>
                <a:latin typeface="Calibri" pitchFamily="34" charset="0"/>
                <a:ea typeface="Calibri" pitchFamily="34" charset="-122"/>
                <a:cs typeface="Calibri" pitchFamily="34" charset="-120"/>
              </a:rPr>
              <a:t>countdown is doing something new: calling itself.</a:t>
            </a:r>
            <a:endParaRPr lang="en-US" sz="1550" dirty="0"/>
          </a:p>
        </p:txBody>
      </p:sp>
      <p:sp>
        <p:nvSpPr>
          <p:cNvPr id="14" name="Shape 12"/>
          <p:cNvSpPr/>
          <p:nvPr/>
        </p:nvSpPr>
        <p:spPr>
          <a:xfrm>
            <a:off x="7863840" y="5074920"/>
            <a:ext cx="3779215" cy="1234440"/>
          </a:xfrm>
          <a:prstGeom prst="roundRect">
            <a:avLst>
              <a:gd name="adj" fmla="val 5926"/>
            </a:avLst>
          </a:prstGeom>
          <a:solidFill>
            <a:srgbClr val="E4F9ED"/>
          </a:solidFill>
          <a:ln/>
        </p:spPr>
      </p:sp>
      <p:sp>
        <p:nvSpPr>
          <p:cNvPr id="15" name="Text 13"/>
          <p:cNvSpPr txBox="1"/>
          <p:nvPr/>
        </p:nvSpPr>
        <p:spPr>
          <a:xfrm>
            <a:off x="8046720" y="5074920"/>
            <a:ext cx="3413455" cy="1234440"/>
          </a:xfrm>
          <a:prstGeom prst="rect">
            <a:avLst/>
          </a:prstGeom>
          <a:noFill/>
          <a:ln/>
        </p:spPr>
        <p:txBody>
          <a:bodyPr wrap="square" lIns="0" tIns="0" rIns="0" bIns="0" rtlCol="0" anchor="ctr"/>
          <a:lstStyle/>
          <a:p>
            <a:pPr indent="0" marL="0">
              <a:buNone/>
            </a:pPr>
            <a:r>
              <a:rPr lang="en-US" sz="1300" i="1" dirty="0">
                <a:solidFill>
                  <a:srgbClr val="156B3F"/>
                </a:solidFill>
                <a:latin typeface="Calibri" pitchFamily="34" charset="0"/>
                <a:ea typeface="Calibri" pitchFamily="34" charset="-122"/>
                <a:cs typeface="Calibri" pitchFamily="34" charset="-120"/>
              </a:rPr>
              <a:t>By the end of this module you'll understand exactly how a function can repeat work without a loop, and you'll build a recursive ASCII-art generator.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800" b="1" dirty="0">
                <a:solidFill>
                  <a:srgbClr val="132038"/>
                </a:solidFill>
                <a:latin typeface="Cambria" pitchFamily="34" charset="0"/>
                <a:ea typeface="Cambria" pitchFamily="34" charset="-122"/>
                <a:cs typeface="Cambria" pitchFamily="34" charset="-120"/>
              </a:rPr>
              <a:t>What is recursion?</a:t>
            </a:r>
            <a:endParaRPr lang="en-US" sz="28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2148840"/>
            <a:ext cx="457200" cy="457200"/>
          </a:xfrm>
          <a:prstGeom prst="ellipse">
            <a:avLst/>
          </a:prstGeom>
          <a:solidFill>
            <a:srgbClr val="F2F4F8"/>
          </a:solidFill>
          <a:ln/>
        </p:spPr>
      </p:sp>
      <p:sp>
        <p:nvSpPr>
          <p:cNvPr id="7" name="Text 5"/>
          <p:cNvSpPr txBox="1"/>
          <p:nvPr/>
        </p:nvSpPr>
        <p:spPr>
          <a:xfrm>
            <a:off x="548640" y="214884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1</a:t>
            </a:r>
            <a:endParaRPr lang="en-US" sz="1700" dirty="0"/>
          </a:p>
        </p:txBody>
      </p:sp>
      <p:sp>
        <p:nvSpPr>
          <p:cNvPr id="8" name="Text 6"/>
          <p:cNvSpPr txBox="1"/>
          <p:nvPr/>
        </p:nvSpPr>
        <p:spPr>
          <a:xfrm>
            <a:off x="1234440" y="2029968"/>
            <a:ext cx="10405872" cy="777240"/>
          </a:xfrm>
          <a:prstGeom prst="rect">
            <a:avLst/>
          </a:prstGeom>
          <a:noFill/>
          <a:ln/>
        </p:spPr>
        <p:txBody>
          <a:bodyPr wrap="square" lIns="0" tIns="0" rIns="0" bIns="0" rtlCol="0" anchor="t"/>
          <a:lstStyle/>
          <a:p>
            <a:pPr indent="0" marL="0">
              <a:buNone/>
            </a:pPr>
            <a:r>
              <a:rPr lang="en-US" sz="1500" b="1" dirty="0">
                <a:solidFill>
                  <a:srgbClr val="132038"/>
                </a:solidFill>
                <a:latin typeface="Calibri" pitchFamily="34" charset="0"/>
                <a:ea typeface="Calibri" pitchFamily="34" charset="-122"/>
                <a:cs typeface="Calibri" pitchFamily="34" charset="-120"/>
              </a:rPr>
              <a:t>The base case  —  </a:t>
            </a:r>
            <a:pPr indent="0" marL="0">
              <a:buNone/>
            </a:pPr>
            <a:r>
              <a:rPr lang="en-US" sz="1500" dirty="0">
                <a:solidFill>
                  <a:srgbClr val="30425E"/>
                </a:solidFill>
                <a:latin typeface="Calibri" pitchFamily="34" charset="0"/>
                <a:ea typeface="Calibri" pitchFamily="34" charset="-122"/>
                <a:cs typeface="Calibri" pitchFamily="34" charset="-120"/>
              </a:rPr>
              <a:t>the smallest version of the problem, answered directly, with no further recursive call. In the hook, that's n == 0: print “Liftoff!” and stop.</a:t>
            </a:r>
            <a:endParaRPr lang="en-US" sz="1500" dirty="0"/>
          </a:p>
        </p:txBody>
      </p:sp>
      <p:sp>
        <p:nvSpPr>
          <p:cNvPr id="9" name="Shape 7"/>
          <p:cNvSpPr/>
          <p:nvPr/>
        </p:nvSpPr>
        <p:spPr>
          <a:xfrm>
            <a:off x="1234440" y="2743200"/>
            <a:ext cx="10405872" cy="10973"/>
          </a:xfrm>
          <a:prstGeom prst="rect">
            <a:avLst/>
          </a:prstGeom>
          <a:solidFill>
            <a:srgbClr val="DCE2EC"/>
          </a:solidFill>
          <a:ln/>
        </p:spPr>
      </p:sp>
      <p:sp>
        <p:nvSpPr>
          <p:cNvPr id="10" name="Shape 8"/>
          <p:cNvSpPr/>
          <p:nvPr/>
        </p:nvSpPr>
        <p:spPr>
          <a:xfrm>
            <a:off x="548640" y="2985516"/>
            <a:ext cx="457200" cy="457200"/>
          </a:xfrm>
          <a:prstGeom prst="ellipse">
            <a:avLst/>
          </a:prstGeom>
          <a:solidFill>
            <a:srgbClr val="F2F4F8"/>
          </a:solidFill>
          <a:ln/>
        </p:spPr>
      </p:sp>
      <p:sp>
        <p:nvSpPr>
          <p:cNvPr id="11" name="Text 9"/>
          <p:cNvSpPr txBox="1"/>
          <p:nvPr/>
        </p:nvSpPr>
        <p:spPr>
          <a:xfrm>
            <a:off x="548640" y="2985516"/>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2</a:t>
            </a:r>
            <a:endParaRPr lang="en-US" sz="1700" dirty="0"/>
          </a:p>
        </p:txBody>
      </p:sp>
      <p:sp>
        <p:nvSpPr>
          <p:cNvPr id="12" name="Text 10"/>
          <p:cNvSpPr txBox="1"/>
          <p:nvPr/>
        </p:nvSpPr>
        <p:spPr>
          <a:xfrm>
            <a:off x="1234440" y="2866644"/>
            <a:ext cx="10405872" cy="777240"/>
          </a:xfrm>
          <a:prstGeom prst="rect">
            <a:avLst/>
          </a:prstGeom>
          <a:noFill/>
          <a:ln/>
        </p:spPr>
        <p:txBody>
          <a:bodyPr wrap="square" lIns="0" tIns="0" rIns="0" bIns="0" rtlCol="0" anchor="t"/>
          <a:lstStyle/>
          <a:p>
            <a:pPr indent="0" marL="0">
              <a:buNone/>
            </a:pPr>
            <a:r>
              <a:rPr lang="en-US" sz="1500" b="1" dirty="0">
                <a:solidFill>
                  <a:srgbClr val="132038"/>
                </a:solidFill>
                <a:latin typeface="Calibri" pitchFamily="34" charset="0"/>
                <a:ea typeface="Calibri" pitchFamily="34" charset="-122"/>
                <a:cs typeface="Calibri" pitchFamily="34" charset="-120"/>
              </a:rPr>
              <a:t>The recursive case  —  </a:t>
            </a:r>
            <a:pPr indent="0" marL="0">
              <a:buNone/>
            </a:pPr>
            <a:r>
              <a:rPr lang="en-US" sz="1500" dirty="0">
                <a:solidFill>
                  <a:srgbClr val="30425E"/>
                </a:solidFill>
                <a:latin typeface="Calibri" pitchFamily="34" charset="0"/>
                <a:ea typeface="Calibri" pitchFamily="34" charset="-122"/>
                <a:cs typeface="Calibri" pitchFamily="34" charset="-120"/>
              </a:rPr>
              <a:t>do a small piece of work, then call the same function again on a problem that's closer to the base case. In the hook: print n, then countdown from n - 1.</a:t>
            </a:r>
            <a:endParaRPr lang="en-US" sz="1500" dirty="0"/>
          </a:p>
        </p:txBody>
      </p:sp>
      <p:sp>
        <p:nvSpPr>
          <p:cNvPr id="13" name="Shape 11"/>
          <p:cNvSpPr/>
          <p:nvPr/>
        </p:nvSpPr>
        <p:spPr>
          <a:xfrm>
            <a:off x="1234440" y="3579876"/>
            <a:ext cx="10405872" cy="10973"/>
          </a:xfrm>
          <a:prstGeom prst="rect">
            <a:avLst/>
          </a:prstGeom>
          <a:solidFill>
            <a:srgbClr val="DCE2EC"/>
          </a:solidFill>
          <a:ln/>
        </p:spPr>
      </p:sp>
      <p:sp>
        <p:nvSpPr>
          <p:cNvPr id="14" name="Shape 12"/>
          <p:cNvSpPr/>
          <p:nvPr/>
        </p:nvSpPr>
        <p:spPr>
          <a:xfrm>
            <a:off x="548640" y="3822192"/>
            <a:ext cx="457200" cy="457200"/>
          </a:xfrm>
          <a:prstGeom prst="ellipse">
            <a:avLst/>
          </a:prstGeom>
          <a:solidFill>
            <a:srgbClr val="F2F4F8"/>
          </a:solidFill>
          <a:ln/>
        </p:spPr>
      </p:sp>
      <p:sp>
        <p:nvSpPr>
          <p:cNvPr id="15" name="Text 13"/>
          <p:cNvSpPr txBox="1"/>
          <p:nvPr/>
        </p:nvSpPr>
        <p:spPr>
          <a:xfrm>
            <a:off x="548640" y="3822192"/>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3</a:t>
            </a:r>
            <a:endParaRPr lang="en-US" sz="1700" dirty="0"/>
          </a:p>
        </p:txBody>
      </p:sp>
      <p:sp>
        <p:nvSpPr>
          <p:cNvPr id="16" name="Text 14"/>
          <p:cNvSpPr txBox="1"/>
          <p:nvPr/>
        </p:nvSpPr>
        <p:spPr>
          <a:xfrm>
            <a:off x="1234440" y="3703320"/>
            <a:ext cx="10405872" cy="777240"/>
          </a:xfrm>
          <a:prstGeom prst="rect">
            <a:avLst/>
          </a:prstGeom>
          <a:noFill/>
          <a:ln/>
        </p:spPr>
        <p:txBody>
          <a:bodyPr wrap="square" lIns="0" tIns="0" rIns="0" bIns="0" rtlCol="0" anchor="t"/>
          <a:lstStyle/>
          <a:p>
            <a:pPr indent="0" marL="0">
              <a:buNone/>
            </a:pPr>
            <a:r>
              <a:rPr lang="en-US" sz="1500" b="1" dirty="0">
                <a:solidFill>
                  <a:srgbClr val="132038"/>
                </a:solidFill>
                <a:latin typeface="Calibri" pitchFamily="34" charset="0"/>
                <a:ea typeface="Calibri" pitchFamily="34" charset="-122"/>
                <a:cs typeface="Calibri" pitchFamily="34" charset="-120"/>
              </a:rPr>
              <a:t>Miss either one  —  </a:t>
            </a:r>
            <a:pPr indent="0" marL="0">
              <a:buNone/>
            </a:pPr>
            <a:r>
              <a:rPr lang="en-US" sz="1500" dirty="0">
                <a:solidFill>
                  <a:srgbClr val="30425E"/>
                </a:solidFill>
                <a:latin typeface="Calibri" pitchFamily="34" charset="0"/>
                <a:ea typeface="Calibri" pitchFamily="34" charset="-122"/>
                <a:cs typeface="Calibri" pitchFamily="34" charset="-120"/>
              </a:rPr>
              <a:t>and the function calls itself forever — guaranteed infinite recursion and a crash (see slide on missing base cases, later in this module).</a:t>
            </a:r>
            <a:endParaRPr lang="en-US" sz="1500" dirty="0"/>
          </a:p>
        </p:txBody>
      </p:sp>
      <p:sp>
        <p:nvSpPr>
          <p:cNvPr id="17" name="Shape 15"/>
          <p:cNvSpPr/>
          <p:nvPr/>
        </p:nvSpPr>
        <p:spPr>
          <a:xfrm>
            <a:off x="548640" y="4796028"/>
            <a:ext cx="11094415" cy="566928"/>
          </a:xfrm>
          <a:prstGeom prst="roundRect">
            <a:avLst>
              <a:gd name="adj" fmla="val 12903"/>
            </a:avLst>
          </a:prstGeom>
          <a:solidFill>
            <a:srgbClr val="E4F9ED"/>
          </a:solidFill>
          <a:ln/>
        </p:spPr>
      </p:sp>
      <p:sp>
        <p:nvSpPr>
          <p:cNvPr id="18" name="Text 16"/>
          <p:cNvSpPr txBox="1"/>
          <p:nvPr/>
        </p:nvSpPr>
        <p:spPr>
          <a:xfrm>
            <a:off x="731520" y="4796028"/>
            <a:ext cx="10728655" cy="566928"/>
          </a:xfrm>
          <a:prstGeom prst="rect">
            <a:avLst/>
          </a:prstGeom>
          <a:noFill/>
          <a:ln/>
        </p:spPr>
        <p:txBody>
          <a:bodyPr wrap="square" lIns="0" tIns="0" rIns="0" bIns="0" rtlCol="0" anchor="ctr"/>
          <a:lstStyle/>
          <a:p>
            <a:pPr indent="0" marL="0">
              <a:buNone/>
            </a:pPr>
            <a:r>
              <a:rPr lang="en-US" sz="1300" i="1" dirty="0">
                <a:solidFill>
                  <a:srgbClr val="156B3F"/>
                </a:solidFill>
                <a:latin typeface="Calibri" pitchFamily="34" charset="0"/>
                <a:ea typeface="Calibri" pitchFamily="34" charset="-122"/>
                <a:cs typeface="Calibri" pitchFamily="34" charset="-120"/>
              </a:rPr>
              <a:t>A recursive function is a function that calls itself, working on a smaller version of the same problem each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700" b="1" dirty="0">
                <a:solidFill>
                  <a:srgbClr val="132038"/>
                </a:solidFill>
                <a:latin typeface="Cambria" pitchFamily="34" charset="0"/>
                <a:ea typeface="Cambria" pitchFamily="34" charset="-122"/>
                <a:cs typeface="Cambria" pitchFamily="34" charset="-120"/>
              </a:rPr>
              <a:t>Tracing the call stack</a:t>
            </a:r>
            <a:endParaRPr lang="en-US" sz="27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91640"/>
            <a:ext cx="6903720" cy="3182112"/>
          </a:xfrm>
          <a:prstGeom prst="roundRect">
            <a:avLst>
              <a:gd name="adj" fmla="val 2874"/>
            </a:avLst>
          </a:prstGeom>
          <a:solidFill>
            <a:srgbClr val="102841"/>
          </a:solidFill>
          <a:ln/>
          <a:effectLst>
            <a:outerShdw sx="100000" sy="100000" kx="0" ky="0" algn="bl" rotWithShape="0" blurRad="101600" dist="38100" dir="5400000">
              <a:srgbClr val="0B1F3A">
                <a:alpha val="28000"/>
              </a:srgbClr>
            </a:outerShdw>
          </a:effectLst>
        </p:spPr>
      </p:sp>
      <p:sp>
        <p:nvSpPr>
          <p:cNvPr id="7" name="Shape 5"/>
          <p:cNvSpPr/>
          <p:nvPr/>
        </p:nvSpPr>
        <p:spPr>
          <a:xfrm>
            <a:off x="749808" y="1856232"/>
            <a:ext cx="109728" cy="109728"/>
          </a:xfrm>
          <a:prstGeom prst="ellipse">
            <a:avLst/>
          </a:prstGeom>
          <a:solidFill>
            <a:srgbClr val="E6675C"/>
          </a:solidFill>
          <a:ln/>
        </p:spPr>
      </p:sp>
      <p:sp>
        <p:nvSpPr>
          <p:cNvPr id="8" name="Shape 6"/>
          <p:cNvSpPr/>
          <p:nvPr/>
        </p:nvSpPr>
        <p:spPr>
          <a:xfrm>
            <a:off x="969264" y="1856232"/>
            <a:ext cx="109728" cy="109728"/>
          </a:xfrm>
          <a:prstGeom prst="ellipse">
            <a:avLst/>
          </a:prstGeom>
          <a:solidFill>
            <a:srgbClr val="E8C15A"/>
          </a:solidFill>
          <a:ln/>
        </p:spPr>
      </p:sp>
      <p:sp>
        <p:nvSpPr>
          <p:cNvPr id="9" name="Shape 7"/>
          <p:cNvSpPr/>
          <p:nvPr/>
        </p:nvSpPr>
        <p:spPr>
          <a:xfrm>
            <a:off x="1188720" y="1856232"/>
            <a:ext cx="109728" cy="109728"/>
          </a:xfrm>
          <a:prstGeom prst="ellipse">
            <a:avLst/>
          </a:prstGeom>
          <a:solidFill>
            <a:srgbClr val="3DDC84"/>
          </a:solidFill>
          <a:ln/>
        </p:spPr>
      </p:sp>
      <p:sp>
        <p:nvSpPr>
          <p:cNvPr id="10" name="Text 8"/>
          <p:cNvSpPr txBox="1"/>
          <p:nvPr/>
        </p:nvSpPr>
        <p:spPr>
          <a:xfrm>
            <a:off x="804672" y="2130552"/>
            <a:ext cx="6391656" cy="2468880"/>
          </a:xfrm>
          <a:prstGeom prst="rect">
            <a:avLst/>
          </a:prstGeom>
          <a:noFill/>
          <a:ln/>
        </p:spPr>
        <p:txBody>
          <a:bodyPr wrap="square" lIns="0" tIns="0" rIns="0" bIns="0" rtlCol="0" anchor="t"/>
          <a:lstStyle/>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countdown(3) -&gt; prints "3..."</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  countdown(2) -&gt; prints "2..."</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    countdown(1) -&gt; prints "1..."</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      countdown(0) -- base case!</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      prints "Liftoff!", returns</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    countdown(1) resumes, returns</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  countdown(2) resumes, returns</a:t>
            </a:r>
            <a:endParaRPr lang="en-US" sz="1250" dirty="0"/>
          </a:p>
          <a:p>
            <a:pPr indent="0" marL="0">
              <a:lnSpc>
                <a:spcPct val="100000"/>
              </a:lnSpc>
              <a:buNone/>
            </a:pPr>
            <a:r>
              <a:rPr lang="en-US" sz="1250" dirty="0">
                <a:solidFill>
                  <a:srgbClr val="E7EDF6"/>
                </a:solidFill>
                <a:latin typeface="Courier New" pitchFamily="34" charset="0"/>
                <a:ea typeface="Courier New" pitchFamily="34" charset="-122"/>
                <a:cs typeface="Courier New" pitchFamily="34" charset="-120"/>
              </a:rPr>
              <a:t>countdown(3) resumes, returns</a:t>
            </a:r>
            <a:endParaRPr lang="en-US" sz="1250" dirty="0"/>
          </a:p>
        </p:txBody>
      </p:sp>
      <p:sp>
        <p:nvSpPr>
          <p:cNvPr id="11" name="Shape 9"/>
          <p:cNvSpPr/>
          <p:nvPr/>
        </p:nvSpPr>
        <p:spPr>
          <a:xfrm>
            <a:off x="548640" y="5038344"/>
            <a:ext cx="6903720" cy="566928"/>
          </a:xfrm>
          <a:prstGeom prst="roundRect">
            <a:avLst>
              <a:gd name="adj" fmla="val 12903"/>
            </a:avLst>
          </a:prstGeom>
          <a:solidFill>
            <a:srgbClr val="0B1F3A"/>
          </a:solidFill>
          <a:ln/>
        </p:spPr>
      </p:sp>
      <p:sp>
        <p:nvSpPr>
          <p:cNvPr id="12" name="Text 10"/>
          <p:cNvSpPr txBox="1"/>
          <p:nvPr/>
        </p:nvSpPr>
        <p:spPr>
          <a:xfrm>
            <a:off x="749808" y="5038344"/>
            <a:ext cx="6501384" cy="566928"/>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Four stack frames existed briefly, all at once, each remembering its own value of n.</a:t>
            </a:r>
            <a:endParaRPr lang="en-US" sz="1300" dirty="0"/>
          </a:p>
        </p:txBody>
      </p:sp>
      <p:sp>
        <p:nvSpPr>
          <p:cNvPr id="13" name="Text 11"/>
          <p:cNvSpPr txBox="1"/>
          <p:nvPr/>
        </p:nvSpPr>
        <p:spPr>
          <a:xfrm>
            <a:off x="7863840" y="1691640"/>
            <a:ext cx="3779215" cy="3913632"/>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Every function call — recursive or not — gets its own private copy of its parameters and locals, stored in a stack frame.</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Normal calls (Module 6) use exactly one frame at a time. Recursion stacks a new frame on top of the last one.</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None of those frames go away until calls start returning, one at a time, from the innermost call outward.</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See examples/01_countdown_no_loop.c — it's the hook with a print added on the way back out, so you can watch the unwinding happen.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700" b="1" dirty="0">
                <a:solidFill>
                  <a:srgbClr val="132038"/>
                </a:solidFill>
                <a:latin typeface="Cambria" pitchFamily="34" charset="0"/>
                <a:ea typeface="Cambria" pitchFamily="34" charset="-122"/>
                <a:cs typeface="Cambria" pitchFamily="34" charset="-120"/>
              </a:rPr>
              <a:t>A classic example: factorial</a:t>
            </a:r>
            <a:endParaRPr lang="en-US" sz="27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91640"/>
            <a:ext cx="6903720" cy="3182112"/>
          </a:xfrm>
          <a:prstGeom prst="roundRect">
            <a:avLst>
              <a:gd name="adj" fmla="val 2874"/>
            </a:avLst>
          </a:prstGeom>
          <a:solidFill>
            <a:srgbClr val="102841"/>
          </a:solidFill>
          <a:ln/>
          <a:effectLst>
            <a:outerShdw sx="100000" sy="100000" kx="0" ky="0" algn="bl" rotWithShape="0" blurRad="101600" dist="38100" dir="5400000">
              <a:srgbClr val="0B1F3A">
                <a:alpha val="28000"/>
              </a:srgbClr>
            </a:outerShdw>
          </a:effectLst>
        </p:spPr>
      </p:sp>
      <p:sp>
        <p:nvSpPr>
          <p:cNvPr id="7" name="Shape 5"/>
          <p:cNvSpPr/>
          <p:nvPr/>
        </p:nvSpPr>
        <p:spPr>
          <a:xfrm>
            <a:off x="749808" y="1856232"/>
            <a:ext cx="109728" cy="109728"/>
          </a:xfrm>
          <a:prstGeom prst="ellipse">
            <a:avLst/>
          </a:prstGeom>
          <a:solidFill>
            <a:srgbClr val="E6675C"/>
          </a:solidFill>
          <a:ln/>
        </p:spPr>
      </p:sp>
      <p:sp>
        <p:nvSpPr>
          <p:cNvPr id="8" name="Shape 6"/>
          <p:cNvSpPr/>
          <p:nvPr/>
        </p:nvSpPr>
        <p:spPr>
          <a:xfrm>
            <a:off x="969264" y="1856232"/>
            <a:ext cx="109728" cy="109728"/>
          </a:xfrm>
          <a:prstGeom prst="ellipse">
            <a:avLst/>
          </a:prstGeom>
          <a:solidFill>
            <a:srgbClr val="E8C15A"/>
          </a:solidFill>
          <a:ln/>
        </p:spPr>
      </p:sp>
      <p:sp>
        <p:nvSpPr>
          <p:cNvPr id="9" name="Shape 7"/>
          <p:cNvSpPr/>
          <p:nvPr/>
        </p:nvSpPr>
        <p:spPr>
          <a:xfrm>
            <a:off x="1188720" y="1856232"/>
            <a:ext cx="109728" cy="109728"/>
          </a:xfrm>
          <a:prstGeom prst="ellipse">
            <a:avLst/>
          </a:prstGeom>
          <a:solidFill>
            <a:srgbClr val="3DDC84"/>
          </a:solidFill>
          <a:ln/>
        </p:spPr>
      </p:sp>
      <p:sp>
        <p:nvSpPr>
          <p:cNvPr id="10" name="Text 8"/>
          <p:cNvSpPr txBox="1"/>
          <p:nvPr/>
        </p:nvSpPr>
        <p:spPr>
          <a:xfrm>
            <a:off x="804672" y="2130552"/>
            <a:ext cx="6391656" cy="2468880"/>
          </a:xfrm>
          <a:prstGeom prst="rect">
            <a:avLst/>
          </a:prstGeom>
          <a:noFill/>
          <a:ln/>
        </p:spPr>
        <p:txBody>
          <a:bodyPr wrap="square" lIns="0" tIns="0" rIns="0" bIns="0" rtlCol="0" anchor="t"/>
          <a:lstStyle/>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int factorial(int n)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if (n == 0)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 base case</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return 1;</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return n * factorial(n - 1);</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 recursive case</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548640" y="5038344"/>
            <a:ext cx="6903720" cy="566928"/>
          </a:xfrm>
          <a:prstGeom prst="roundRect">
            <a:avLst>
              <a:gd name="adj" fmla="val 12903"/>
            </a:avLst>
          </a:prstGeom>
          <a:solidFill>
            <a:srgbClr val="0B1F3A"/>
          </a:solidFill>
          <a:ln/>
        </p:spPr>
      </p:sp>
      <p:sp>
        <p:nvSpPr>
          <p:cNvPr id="12" name="Text 10"/>
          <p:cNvSpPr txBox="1"/>
          <p:nvPr/>
        </p:nvSpPr>
        <p:spPr>
          <a:xfrm>
            <a:off x="749808" y="5038344"/>
            <a:ext cx="6501384" cy="566928"/>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n! is n times (n-1)! — unless n is 0, in which case the answer is just 1.</a:t>
            </a:r>
            <a:endParaRPr lang="en-US" sz="1300" dirty="0"/>
          </a:p>
        </p:txBody>
      </p:sp>
      <p:sp>
        <p:nvSpPr>
          <p:cNvPr id="13" name="Text 11"/>
          <p:cNvSpPr txBox="1"/>
          <p:nvPr/>
        </p:nvSpPr>
        <p:spPr>
          <a:xfrm>
            <a:off x="7863840" y="1691640"/>
            <a:ext cx="3779215" cy="3913632"/>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factorial(n) = n × (n-1) × (n-2) × ... × 1, and it translates almost word-for-word into recursion.</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Every recursive call here waits for the call below it to return before it can finish its own multiplication.</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factorial(4) can't produce a final answer until factorial(3) returns, which waits on factorial(2), down to the base case.</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See examples/02_factorial_recursive.c.</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700" b="1" dirty="0">
                <a:solidFill>
                  <a:srgbClr val="132038"/>
                </a:solidFill>
                <a:latin typeface="Cambria" pitchFamily="34" charset="0"/>
                <a:ea typeface="Cambria" pitchFamily="34" charset="-122"/>
                <a:cs typeface="Cambria" pitchFamily="34" charset="-120"/>
              </a:rPr>
              <a:t>Recursion over an array: sum of elements</a:t>
            </a:r>
            <a:endParaRPr lang="en-US" sz="27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91640"/>
            <a:ext cx="6903720" cy="3182112"/>
          </a:xfrm>
          <a:prstGeom prst="roundRect">
            <a:avLst>
              <a:gd name="adj" fmla="val 2874"/>
            </a:avLst>
          </a:prstGeom>
          <a:solidFill>
            <a:srgbClr val="102841"/>
          </a:solidFill>
          <a:ln/>
          <a:effectLst>
            <a:outerShdw sx="100000" sy="100000" kx="0" ky="0" algn="bl" rotWithShape="0" blurRad="101600" dist="38100" dir="5400000">
              <a:srgbClr val="0B1F3A">
                <a:alpha val="28000"/>
              </a:srgbClr>
            </a:outerShdw>
          </a:effectLst>
        </p:spPr>
      </p:sp>
      <p:sp>
        <p:nvSpPr>
          <p:cNvPr id="7" name="Shape 5"/>
          <p:cNvSpPr/>
          <p:nvPr/>
        </p:nvSpPr>
        <p:spPr>
          <a:xfrm>
            <a:off x="749808" y="1856232"/>
            <a:ext cx="109728" cy="109728"/>
          </a:xfrm>
          <a:prstGeom prst="ellipse">
            <a:avLst/>
          </a:prstGeom>
          <a:solidFill>
            <a:srgbClr val="E6675C"/>
          </a:solidFill>
          <a:ln/>
        </p:spPr>
      </p:sp>
      <p:sp>
        <p:nvSpPr>
          <p:cNvPr id="8" name="Shape 6"/>
          <p:cNvSpPr/>
          <p:nvPr/>
        </p:nvSpPr>
        <p:spPr>
          <a:xfrm>
            <a:off x="969264" y="1856232"/>
            <a:ext cx="109728" cy="109728"/>
          </a:xfrm>
          <a:prstGeom prst="ellipse">
            <a:avLst/>
          </a:prstGeom>
          <a:solidFill>
            <a:srgbClr val="E8C15A"/>
          </a:solidFill>
          <a:ln/>
        </p:spPr>
      </p:sp>
      <p:sp>
        <p:nvSpPr>
          <p:cNvPr id="9" name="Shape 7"/>
          <p:cNvSpPr/>
          <p:nvPr/>
        </p:nvSpPr>
        <p:spPr>
          <a:xfrm>
            <a:off x="1188720" y="1856232"/>
            <a:ext cx="109728" cy="109728"/>
          </a:xfrm>
          <a:prstGeom prst="ellipse">
            <a:avLst/>
          </a:prstGeom>
          <a:solidFill>
            <a:srgbClr val="3DDC84"/>
          </a:solidFill>
          <a:ln/>
        </p:spPr>
      </p:sp>
      <p:sp>
        <p:nvSpPr>
          <p:cNvPr id="10" name="Text 8"/>
          <p:cNvSpPr txBox="1"/>
          <p:nvPr/>
        </p:nvSpPr>
        <p:spPr>
          <a:xfrm>
            <a:off x="804672" y="2130552"/>
            <a:ext cx="6391656" cy="2468880"/>
          </a:xfrm>
          <a:prstGeom prst="rect">
            <a:avLst/>
          </a:prstGeom>
          <a:noFill/>
          <a:ln/>
        </p:spPr>
        <p:txBody>
          <a:bodyPr wrap="square" lIns="0" tIns="0" rIns="0" bIns="0" rtlCol="0" anchor="t"/>
          <a:lstStyle/>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int sumArray(int arr[], int size)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if (size == 0)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 base case: an empty</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 array sums to 0</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return 0;</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return arr[0]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sumArray(arr + 1, size - 1);</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548640" y="5038344"/>
            <a:ext cx="6903720" cy="566928"/>
          </a:xfrm>
          <a:prstGeom prst="roundRect">
            <a:avLst>
              <a:gd name="adj" fmla="val 12903"/>
            </a:avLst>
          </a:prstGeom>
          <a:solidFill>
            <a:srgbClr val="0B1F3A"/>
          </a:solidFill>
          <a:ln/>
        </p:spPr>
      </p:sp>
      <p:sp>
        <p:nvSpPr>
          <p:cNvPr id="12" name="Text 10"/>
          <p:cNvSpPr txBox="1"/>
          <p:nvPr/>
        </p:nvSpPr>
        <p:spPr>
          <a:xfrm>
            <a:off x="749808" y="5038344"/>
            <a:ext cx="6501384" cy="566928"/>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arr + 1 points one element further in — each call sees one fewer element.</a:t>
            </a:r>
            <a:endParaRPr lang="en-US" sz="1300" dirty="0"/>
          </a:p>
        </p:txBody>
      </p:sp>
      <p:sp>
        <p:nvSpPr>
          <p:cNvPr id="13" name="Text 11"/>
          <p:cNvSpPr txBox="1"/>
          <p:nvPr/>
        </p:nvSpPr>
        <p:spPr>
          <a:xfrm>
            <a:off x="7863840" y="1691640"/>
            <a:ext cx="3779215" cy="3913632"/>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Recursion isn't limited to counting down a single number — it works over arrays too.</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The trick: recurse on “everything except the first element.”</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arr + 1 is pointer arithmetic from Module 7 — each recursive call moves steadily toward the base case.</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See examples/03_sum_of_array_recursive.c.</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800" b="1" dirty="0">
                <a:solidFill>
                  <a:srgbClr val="132038"/>
                </a:solidFill>
                <a:latin typeface="Cambria" pitchFamily="34" charset="0"/>
                <a:ea typeface="Cambria" pitchFamily="34" charset="-122"/>
                <a:cs typeface="Cambria" pitchFamily="34" charset="-120"/>
              </a:rPr>
              <a:t>Recursive vs. iterative: two ways to solve the same problem</a:t>
            </a:r>
            <a:endParaRPr lang="en-US" sz="28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783080"/>
            <a:ext cx="5319065" cy="3977640"/>
          </a:xfrm>
          <a:prstGeom prst="roundRect">
            <a:avLst>
              <a:gd name="adj" fmla="val 2299"/>
            </a:avLst>
          </a:prstGeom>
          <a:solidFill>
            <a:srgbClr val="FFFFFF"/>
          </a:solidFill>
          <a:ln w="12700">
            <a:solidFill>
              <a:srgbClr val="DCE2EC"/>
            </a:solidFill>
            <a:prstDash val="solid"/>
          </a:ln>
          <a:effectLst>
            <a:outerShdw sx="100000" sy="100000" kx="0" ky="0" algn="bl" rotWithShape="0" blurRad="127000" dist="38100" dir="5400000">
              <a:srgbClr val="0B1F3A">
                <a:alpha val="28000"/>
              </a:srgbClr>
            </a:outerShdw>
          </a:effectLst>
        </p:spPr>
      </p:sp>
      <p:sp>
        <p:nvSpPr>
          <p:cNvPr id="7" name="Shape 5"/>
          <p:cNvSpPr/>
          <p:nvPr/>
        </p:nvSpPr>
        <p:spPr>
          <a:xfrm>
            <a:off x="822960" y="2057400"/>
            <a:ext cx="420624" cy="420624"/>
          </a:xfrm>
          <a:prstGeom prst="ellipse">
            <a:avLst/>
          </a:prstGeom>
          <a:solidFill>
            <a:srgbClr val="0B1F3A"/>
          </a:solidFill>
          <a:ln/>
        </p:spPr>
      </p:sp>
      <p:sp>
        <p:nvSpPr>
          <p:cNvPr id="8" name="Text 6"/>
          <p:cNvSpPr txBox="1"/>
          <p:nvPr/>
        </p:nvSpPr>
        <p:spPr>
          <a:xfrm>
            <a:off x="822960" y="205740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371600" y="2057400"/>
            <a:ext cx="4313225"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Recursive</a:t>
            </a:r>
            <a:endParaRPr lang="en-US" sz="1800" dirty="0"/>
          </a:p>
        </p:txBody>
      </p:sp>
      <p:sp>
        <p:nvSpPr>
          <p:cNvPr id="10" name="Shape 8"/>
          <p:cNvSpPr/>
          <p:nvPr/>
        </p:nvSpPr>
        <p:spPr>
          <a:xfrm>
            <a:off x="822960" y="2651760"/>
            <a:ext cx="4770425" cy="777240"/>
          </a:xfrm>
          <a:prstGeom prst="rect">
            <a:avLst/>
          </a:prstGeom>
          <a:solidFill>
            <a:srgbClr val="E9EEF6"/>
          </a:solidFill>
          <a:ln/>
        </p:spPr>
      </p:sp>
      <p:sp>
        <p:nvSpPr>
          <p:cNvPr id="11" name="Text 9"/>
          <p:cNvSpPr txBox="1"/>
          <p:nvPr/>
        </p:nvSpPr>
        <p:spPr>
          <a:xfrm>
            <a:off x="932688" y="2651760"/>
            <a:ext cx="4550969" cy="777240"/>
          </a:xfrm>
          <a:prstGeom prst="rect">
            <a:avLst/>
          </a:prstGeom>
          <a:noFill/>
          <a:ln/>
        </p:spPr>
        <p:txBody>
          <a:bodyPr wrap="square" lIns="0" tIns="0" rIns="0" bIns="0" rtlCol="0" anchor="ctr"/>
          <a:lstStyle/>
          <a:p>
            <a:pPr indent="0" marL="0">
              <a:buNone/>
            </a:pPr>
            <a:r>
              <a:rPr lang="en-US" sz="1250" dirty="0">
                <a:solidFill>
                  <a:srgbClr val="0B1F3A"/>
                </a:solidFill>
                <a:latin typeface="Courier New" pitchFamily="34" charset="0"/>
                <a:ea typeface="Courier New" pitchFamily="34" charset="-122"/>
                <a:cs typeface="Courier New" pitchFamily="34" charset="-120"/>
              </a:rPr>
              <a:t>int factorial(int n) {</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  if (n == 0) return 1;</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  return n * factorial(n-1);</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a:t>
            </a:r>
            <a:endParaRPr lang="en-US" sz="1250" dirty="0"/>
          </a:p>
        </p:txBody>
      </p:sp>
      <p:sp>
        <p:nvSpPr>
          <p:cNvPr id="12" name="Text 10"/>
          <p:cNvSpPr txBox="1"/>
          <p:nvPr/>
        </p:nvSpPr>
        <p:spPr>
          <a:xfrm>
            <a:off x="822960" y="3566160"/>
            <a:ext cx="4770425" cy="2057400"/>
          </a:xfrm>
          <a:prstGeom prst="rect">
            <a:avLst/>
          </a:prstGeom>
          <a:noFill/>
          <a:ln/>
        </p:spPr>
        <p:txBody>
          <a:bodyPr wrap="square" lIns="0" tIns="0" rIns="0" bIns="0" rtlCol="0" anchor="t"/>
          <a:lstStyle/>
          <a:p>
            <a:pPr indent="0" marL="0">
              <a:spcAft>
                <a:spcPts val="800"/>
              </a:spcAft>
              <a:buNone/>
            </a:pPr>
            <a:r>
              <a:rPr lang="en-US" sz="1350" dirty="0">
                <a:solidFill>
                  <a:srgbClr val="30425E"/>
                </a:solidFill>
                <a:latin typeface="Calibri" pitchFamily="34" charset="0"/>
                <a:ea typeface="Calibri" pitchFamily="34" charset="-122"/>
                <a:cs typeface="Calibri" pitchFamily="34" charset="-120"/>
              </a:rPr>
              <a:t>One stack frame per call.</a:t>
            </a:r>
            <a:endParaRPr lang="en-US" sz="1350" dirty="0"/>
          </a:p>
          <a:p>
            <a:pPr indent="0" marL="0">
              <a:spcAft>
                <a:spcPts val="800"/>
              </a:spcAft>
              <a:buNone/>
            </a:pPr>
            <a:r>
              <a:rPr lang="en-US" sz="1350" dirty="0">
                <a:solidFill>
                  <a:srgbClr val="30425E"/>
                </a:solidFill>
                <a:latin typeface="Calibri" pitchFamily="34" charset="0"/>
                <a:ea typeface="Calibri" pitchFamily="34" charset="-122"/>
                <a:cs typeface="Calibri" pitchFamily="34" charset="-120"/>
              </a:rPr>
              <a:t>Shines when a problem is naturally defined in terms of a smaller version of itself.</a:t>
            </a:r>
            <a:endParaRPr lang="en-US" sz="1350" dirty="0"/>
          </a:p>
        </p:txBody>
      </p:sp>
      <p:sp>
        <p:nvSpPr>
          <p:cNvPr id="13" name="Shape 11"/>
          <p:cNvSpPr/>
          <p:nvPr/>
        </p:nvSpPr>
        <p:spPr>
          <a:xfrm>
            <a:off x="6324905" y="1783080"/>
            <a:ext cx="5319065" cy="3977640"/>
          </a:xfrm>
          <a:prstGeom prst="roundRect">
            <a:avLst>
              <a:gd name="adj" fmla="val 2299"/>
            </a:avLst>
          </a:prstGeom>
          <a:solidFill>
            <a:srgbClr val="FFFFFF"/>
          </a:solidFill>
          <a:ln w="12700">
            <a:solidFill>
              <a:srgbClr val="DCE2EC"/>
            </a:solidFill>
            <a:prstDash val="solid"/>
          </a:ln>
          <a:effectLst>
            <a:outerShdw sx="100000" sy="100000" kx="0" ky="0" algn="bl" rotWithShape="0" blurRad="127000" dist="38100" dir="5400000">
              <a:srgbClr val="0B1F3A">
                <a:alpha val="28000"/>
              </a:srgbClr>
            </a:outerShdw>
          </a:effectLst>
        </p:spPr>
      </p:sp>
      <p:sp>
        <p:nvSpPr>
          <p:cNvPr id="14" name="Shape 12"/>
          <p:cNvSpPr/>
          <p:nvPr/>
        </p:nvSpPr>
        <p:spPr>
          <a:xfrm>
            <a:off x="6599225" y="2057400"/>
            <a:ext cx="420624" cy="420624"/>
          </a:xfrm>
          <a:prstGeom prst="ellipse">
            <a:avLst/>
          </a:prstGeom>
          <a:solidFill>
            <a:srgbClr val="0B1F3A"/>
          </a:solidFill>
          <a:ln/>
        </p:spPr>
      </p:sp>
      <p:sp>
        <p:nvSpPr>
          <p:cNvPr id="15" name="Text 13"/>
          <p:cNvSpPr txBox="1"/>
          <p:nvPr/>
        </p:nvSpPr>
        <p:spPr>
          <a:xfrm>
            <a:off x="6599225" y="205740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7147865" y="2057400"/>
            <a:ext cx="4313225"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Iterative</a:t>
            </a:r>
            <a:endParaRPr lang="en-US" sz="1800" dirty="0"/>
          </a:p>
        </p:txBody>
      </p:sp>
      <p:sp>
        <p:nvSpPr>
          <p:cNvPr id="17" name="Shape 15"/>
          <p:cNvSpPr/>
          <p:nvPr/>
        </p:nvSpPr>
        <p:spPr>
          <a:xfrm>
            <a:off x="6599225" y="2651760"/>
            <a:ext cx="4770425" cy="777240"/>
          </a:xfrm>
          <a:prstGeom prst="rect">
            <a:avLst/>
          </a:prstGeom>
          <a:solidFill>
            <a:srgbClr val="E9EEF6"/>
          </a:solidFill>
          <a:ln/>
        </p:spPr>
      </p:sp>
      <p:sp>
        <p:nvSpPr>
          <p:cNvPr id="18" name="Text 16"/>
          <p:cNvSpPr txBox="1"/>
          <p:nvPr/>
        </p:nvSpPr>
        <p:spPr>
          <a:xfrm>
            <a:off x="6708953" y="2651760"/>
            <a:ext cx="4550969" cy="777240"/>
          </a:xfrm>
          <a:prstGeom prst="rect">
            <a:avLst/>
          </a:prstGeom>
          <a:noFill/>
          <a:ln/>
        </p:spPr>
        <p:txBody>
          <a:bodyPr wrap="square" lIns="0" tIns="0" rIns="0" bIns="0" rtlCol="0" anchor="ctr"/>
          <a:lstStyle/>
          <a:p>
            <a:pPr indent="0" marL="0">
              <a:buNone/>
            </a:pPr>
            <a:r>
              <a:rPr lang="en-US" sz="1250" dirty="0">
                <a:solidFill>
                  <a:srgbClr val="0B1F3A"/>
                </a:solidFill>
                <a:latin typeface="Courier New" pitchFamily="34" charset="0"/>
                <a:ea typeface="Courier New" pitchFamily="34" charset="-122"/>
                <a:cs typeface="Courier New" pitchFamily="34" charset="-120"/>
              </a:rPr>
              <a:t>int factorialIterative(int n) {</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  int result = 1;</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  for (int i=1;i&lt;=n;i++)</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    result *= i;</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  return result;</a:t>
            </a:r>
            <a:endParaRPr lang="en-US" sz="1250" dirty="0"/>
          </a:p>
          <a:p>
            <a:pPr indent="0" marL="0">
              <a:buNone/>
            </a:pPr>
            <a:r>
              <a:rPr lang="en-US" sz="1250" dirty="0">
                <a:solidFill>
                  <a:srgbClr val="0B1F3A"/>
                </a:solidFill>
                <a:latin typeface="Courier New" pitchFamily="34" charset="0"/>
                <a:ea typeface="Courier New" pitchFamily="34" charset="-122"/>
                <a:cs typeface="Courier New" pitchFamily="34" charset="-120"/>
              </a:rPr>
              <a:t>}</a:t>
            </a:r>
            <a:endParaRPr lang="en-US" sz="1250" dirty="0"/>
          </a:p>
        </p:txBody>
      </p:sp>
      <p:sp>
        <p:nvSpPr>
          <p:cNvPr id="19" name="Text 17"/>
          <p:cNvSpPr txBox="1"/>
          <p:nvPr/>
        </p:nvSpPr>
        <p:spPr>
          <a:xfrm>
            <a:off x="6599225" y="3566160"/>
            <a:ext cx="4770425" cy="2057400"/>
          </a:xfrm>
          <a:prstGeom prst="rect">
            <a:avLst/>
          </a:prstGeom>
          <a:noFill/>
          <a:ln/>
        </p:spPr>
        <p:txBody>
          <a:bodyPr wrap="square" lIns="0" tIns="0" rIns="0" bIns="0" rtlCol="0" anchor="t"/>
          <a:lstStyle/>
          <a:p>
            <a:pPr indent="0" marL="0">
              <a:spcAft>
                <a:spcPts val="800"/>
              </a:spcAft>
              <a:buNone/>
            </a:pPr>
            <a:r>
              <a:rPr lang="en-US" sz="1350" dirty="0">
                <a:solidFill>
                  <a:srgbClr val="30425E"/>
                </a:solidFill>
                <a:latin typeface="Calibri" pitchFamily="34" charset="0"/>
                <a:ea typeface="Calibri" pitchFamily="34" charset="-122"/>
                <a:cs typeface="Calibri" pitchFamily="34" charset="-120"/>
              </a:rPr>
              <a:t>One stack frame total — more memory-efficient.</a:t>
            </a:r>
            <a:endParaRPr lang="en-US" sz="1350" dirty="0"/>
          </a:p>
          <a:p>
            <a:pPr indent="0" marL="0">
              <a:spcAft>
                <a:spcPts val="800"/>
              </a:spcAft>
              <a:buNone/>
            </a:pPr>
            <a:r>
              <a:rPr lang="en-US" sz="1350" dirty="0">
                <a:solidFill>
                  <a:srgbClr val="30425E"/>
                </a:solidFill>
                <a:latin typeface="Calibri" pitchFamily="34" charset="0"/>
                <a:ea typeface="Calibri" pitchFamily="34" charset="-122"/>
                <a:cs typeface="Calibri" pitchFamily="34" charset="-120"/>
              </a:rPr>
              <a:t>Often easier to follow for simple counting.</a:t>
            </a:r>
            <a:endParaRPr lang="en-US" sz="1350" dirty="0"/>
          </a:p>
        </p:txBody>
      </p:sp>
      <p:sp>
        <p:nvSpPr>
          <p:cNvPr id="20" name="Text 18"/>
          <p:cNvSpPr txBox="1"/>
          <p:nvPr/>
        </p:nvSpPr>
        <p:spPr>
          <a:xfrm>
            <a:off x="548640" y="5943600"/>
            <a:ext cx="11094415" cy="457200"/>
          </a:xfrm>
          <a:prstGeom prst="rect">
            <a:avLst/>
          </a:prstGeom>
          <a:noFill/>
          <a:ln/>
        </p:spPr>
        <p:txBody>
          <a:bodyPr wrap="square" lIns="0" tIns="0" rIns="0" bIns="0"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Honest beginner rule: if a loop solves it cleanly, use the loop — reach for recursion when the problem genuinely describes itself in smaller pieces. See examples/04_recursive_vs_iterative.c.</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700" b="1" dirty="0">
                <a:solidFill>
                  <a:srgbClr val="132038"/>
                </a:solidFill>
                <a:latin typeface="Cambria" pitchFamily="34" charset="0"/>
                <a:ea typeface="Cambria" pitchFamily="34" charset="-122"/>
                <a:cs typeface="Cambria" pitchFamily="34" charset="-120"/>
              </a:rPr>
              <a:t>A cautionary tale: naive Fibonacci</a:t>
            </a:r>
            <a:endParaRPr lang="en-US" sz="27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91640"/>
            <a:ext cx="6903720" cy="3182112"/>
          </a:xfrm>
          <a:prstGeom prst="roundRect">
            <a:avLst>
              <a:gd name="adj" fmla="val 2874"/>
            </a:avLst>
          </a:prstGeom>
          <a:solidFill>
            <a:srgbClr val="102841"/>
          </a:solidFill>
          <a:ln/>
          <a:effectLst>
            <a:outerShdw sx="100000" sy="100000" kx="0" ky="0" algn="bl" rotWithShape="0" blurRad="101600" dist="38100" dir="5400000">
              <a:srgbClr val="0B1F3A">
                <a:alpha val="28000"/>
              </a:srgbClr>
            </a:outerShdw>
          </a:effectLst>
        </p:spPr>
      </p:sp>
      <p:sp>
        <p:nvSpPr>
          <p:cNvPr id="7" name="Shape 5"/>
          <p:cNvSpPr/>
          <p:nvPr/>
        </p:nvSpPr>
        <p:spPr>
          <a:xfrm>
            <a:off x="749808" y="1856232"/>
            <a:ext cx="109728" cy="109728"/>
          </a:xfrm>
          <a:prstGeom prst="ellipse">
            <a:avLst/>
          </a:prstGeom>
          <a:solidFill>
            <a:srgbClr val="E6675C"/>
          </a:solidFill>
          <a:ln/>
        </p:spPr>
      </p:sp>
      <p:sp>
        <p:nvSpPr>
          <p:cNvPr id="8" name="Shape 6"/>
          <p:cNvSpPr/>
          <p:nvPr/>
        </p:nvSpPr>
        <p:spPr>
          <a:xfrm>
            <a:off x="969264" y="1856232"/>
            <a:ext cx="109728" cy="109728"/>
          </a:xfrm>
          <a:prstGeom prst="ellipse">
            <a:avLst/>
          </a:prstGeom>
          <a:solidFill>
            <a:srgbClr val="E8C15A"/>
          </a:solidFill>
          <a:ln/>
        </p:spPr>
      </p:sp>
      <p:sp>
        <p:nvSpPr>
          <p:cNvPr id="9" name="Shape 7"/>
          <p:cNvSpPr/>
          <p:nvPr/>
        </p:nvSpPr>
        <p:spPr>
          <a:xfrm>
            <a:off x="1188720" y="1856232"/>
            <a:ext cx="109728" cy="109728"/>
          </a:xfrm>
          <a:prstGeom prst="ellipse">
            <a:avLst/>
          </a:prstGeom>
          <a:solidFill>
            <a:srgbClr val="3DDC84"/>
          </a:solidFill>
          <a:ln/>
        </p:spPr>
      </p:sp>
      <p:sp>
        <p:nvSpPr>
          <p:cNvPr id="10" name="Text 8"/>
          <p:cNvSpPr txBox="1"/>
          <p:nvPr/>
        </p:nvSpPr>
        <p:spPr>
          <a:xfrm>
            <a:off x="804672" y="2130552"/>
            <a:ext cx="6391656" cy="2468880"/>
          </a:xfrm>
          <a:prstGeom prst="rect">
            <a:avLst/>
          </a:prstGeom>
          <a:noFill/>
          <a:ln/>
        </p:spPr>
        <p:txBody>
          <a:bodyPr wrap="square" lIns="0" tIns="0" rIns="0" bIns="0" rtlCol="0" anchor="t"/>
          <a:lstStyle/>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int fib(int n)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if (n &lt;= 1)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return n;</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    return fib(n - 1) + fib(n - 2);</a:t>
            </a:r>
            <a:endParaRPr lang="en-US" sz="1500" dirty="0"/>
          </a:p>
          <a:p>
            <a:pPr indent="0" marL="0">
              <a:lnSpc>
                <a:spcPct val="100000"/>
              </a:lnSpc>
              <a:buNone/>
            </a:pPr>
            <a:r>
              <a:rPr lang="en-US" sz="1500" dirty="0">
                <a:solidFill>
                  <a:srgbClr val="E7EDF6"/>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548640" y="5038344"/>
            <a:ext cx="6903720" cy="566928"/>
          </a:xfrm>
          <a:prstGeom prst="roundRect">
            <a:avLst>
              <a:gd name="adj" fmla="val 12903"/>
            </a:avLst>
          </a:prstGeom>
          <a:solidFill>
            <a:srgbClr val="0B1F3A"/>
          </a:solidFill>
          <a:ln/>
        </p:spPr>
      </p:sp>
      <p:sp>
        <p:nvSpPr>
          <p:cNvPr id="12" name="Text 10"/>
          <p:cNvSpPr txBox="1"/>
          <p:nvPr/>
        </p:nvSpPr>
        <p:spPr>
          <a:xfrm>
            <a:off x="749808" y="5038344"/>
            <a:ext cx="6501384" cy="566928"/>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Correct — and past roughly n = 35, painfully slow.</a:t>
            </a:r>
            <a:endParaRPr lang="en-US" sz="1300" dirty="0"/>
          </a:p>
        </p:txBody>
      </p:sp>
      <p:sp>
        <p:nvSpPr>
          <p:cNvPr id="13" name="Text 11"/>
          <p:cNvSpPr txBox="1"/>
          <p:nvPr/>
        </p:nvSpPr>
        <p:spPr>
          <a:xfrm>
            <a:off x="7863840" y="1691640"/>
            <a:ext cx="3779215" cy="3913632"/>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fib(3) gets computed twice, fib(2) three times — it only gets worse as n grows.</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The same work is repeated over and over instead of reused.</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Not a reason to distrust recursion — a reason to notice when a recursive definition is quietly doing far more work than it looks like on paper.</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See examples/05_fibonacci_naive_recursion.c, which prints a call counter so you can watch the blowup happen.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50976" cy="310896"/>
          </a:xfrm>
          <a:prstGeom prst="roundRect">
            <a:avLst>
              <a:gd name="adj" fmla="val 50000"/>
            </a:avLst>
          </a:prstGeom>
          <a:solidFill>
            <a:srgbClr val="0B1F3A"/>
          </a:solidFill>
          <a:ln/>
        </p:spPr>
      </p:sp>
      <p:sp>
        <p:nvSpPr>
          <p:cNvPr id="3" name="Text 1"/>
          <p:cNvSpPr txBox="1"/>
          <p:nvPr/>
        </p:nvSpPr>
        <p:spPr>
          <a:xfrm>
            <a:off x="548640" y="502920"/>
            <a:ext cx="95097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2700" b="1" dirty="0">
                <a:solidFill>
                  <a:srgbClr val="132038"/>
                </a:solidFill>
                <a:latin typeface="Cambria" pitchFamily="34" charset="0"/>
                <a:ea typeface="Cambria" pitchFamily="34" charset="-122"/>
                <a:cs typeface="Cambria" pitchFamily="34" charset="-120"/>
              </a:rPr>
              <a:t>What happens without a base case</a:t>
            </a:r>
            <a:endParaRPr lang="en-US" sz="27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91640"/>
            <a:ext cx="6903720" cy="3182112"/>
          </a:xfrm>
          <a:prstGeom prst="roundRect">
            <a:avLst>
              <a:gd name="adj" fmla="val 2874"/>
            </a:avLst>
          </a:prstGeom>
          <a:solidFill>
            <a:srgbClr val="102841"/>
          </a:solidFill>
          <a:ln/>
          <a:effectLst>
            <a:outerShdw sx="100000" sy="100000" kx="0" ky="0" algn="bl" rotWithShape="0" blurRad="101600" dist="38100" dir="5400000">
              <a:srgbClr val="0B1F3A">
                <a:alpha val="28000"/>
              </a:srgbClr>
            </a:outerShdw>
          </a:effectLst>
        </p:spPr>
      </p:sp>
      <p:sp>
        <p:nvSpPr>
          <p:cNvPr id="7" name="Shape 5"/>
          <p:cNvSpPr/>
          <p:nvPr/>
        </p:nvSpPr>
        <p:spPr>
          <a:xfrm>
            <a:off x="749808" y="1856232"/>
            <a:ext cx="109728" cy="109728"/>
          </a:xfrm>
          <a:prstGeom prst="ellipse">
            <a:avLst/>
          </a:prstGeom>
          <a:solidFill>
            <a:srgbClr val="E6675C"/>
          </a:solidFill>
          <a:ln/>
        </p:spPr>
      </p:sp>
      <p:sp>
        <p:nvSpPr>
          <p:cNvPr id="8" name="Shape 6"/>
          <p:cNvSpPr/>
          <p:nvPr/>
        </p:nvSpPr>
        <p:spPr>
          <a:xfrm>
            <a:off x="969264" y="1856232"/>
            <a:ext cx="109728" cy="109728"/>
          </a:xfrm>
          <a:prstGeom prst="ellipse">
            <a:avLst/>
          </a:prstGeom>
          <a:solidFill>
            <a:srgbClr val="E8C15A"/>
          </a:solidFill>
          <a:ln/>
        </p:spPr>
      </p:sp>
      <p:sp>
        <p:nvSpPr>
          <p:cNvPr id="9" name="Shape 7"/>
          <p:cNvSpPr/>
          <p:nvPr/>
        </p:nvSpPr>
        <p:spPr>
          <a:xfrm>
            <a:off x="1188720" y="1856232"/>
            <a:ext cx="109728" cy="109728"/>
          </a:xfrm>
          <a:prstGeom prst="ellipse">
            <a:avLst/>
          </a:prstGeom>
          <a:solidFill>
            <a:srgbClr val="3DDC84"/>
          </a:solidFill>
          <a:ln/>
        </p:spPr>
      </p:sp>
      <p:sp>
        <p:nvSpPr>
          <p:cNvPr id="10" name="Text 8"/>
          <p:cNvSpPr txBox="1"/>
          <p:nvPr/>
        </p:nvSpPr>
        <p:spPr>
          <a:xfrm>
            <a:off x="804672" y="2130552"/>
            <a:ext cx="6391656" cy="2468880"/>
          </a:xfrm>
          <a:prstGeom prst="rect">
            <a:avLst/>
          </a:prstGeom>
          <a:noFill/>
          <a:ln/>
        </p:spPr>
        <p:txBody>
          <a:bodyPr wrap="square" lIns="0" tIns="0" rIns="0" bIns="0" rtlCol="0" anchor="t"/>
          <a:lstStyle/>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DISABLED ON PURPOSE -- crashes:</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void broken(int n) {</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printf("%d\n", n);</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broken(n);  // same n forever!</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void fixed(int n) {</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if (n == 0) return;  // base case</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printf("%d\n", n);</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    fixed(n - 1);</a:t>
            </a:r>
            <a:endParaRPr lang="en-US" sz="1300" dirty="0"/>
          </a:p>
          <a:p>
            <a:pPr indent="0" marL="0">
              <a:lnSpc>
                <a:spcPct val="100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548640" y="5038344"/>
            <a:ext cx="6903720" cy="566928"/>
          </a:xfrm>
          <a:prstGeom prst="roundRect">
            <a:avLst>
              <a:gd name="adj" fmla="val 12903"/>
            </a:avLst>
          </a:prstGeom>
          <a:solidFill>
            <a:srgbClr val="0B1F3A"/>
          </a:solidFill>
          <a:ln/>
        </p:spPr>
      </p:sp>
      <p:sp>
        <p:nvSpPr>
          <p:cNvPr id="12" name="Text 10"/>
          <p:cNvSpPr txBox="1"/>
          <p:nvPr/>
        </p:nvSpPr>
        <p:spPr>
          <a:xfrm>
            <a:off x="749808" y="5038344"/>
            <a:ext cx="6501384" cy="566928"/>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Each call adds another stack frame — frames aren't infinite. Eventually: stack overflow.</a:t>
            </a:r>
            <a:endParaRPr lang="en-US" sz="1300" dirty="0"/>
          </a:p>
        </p:txBody>
      </p:sp>
      <p:sp>
        <p:nvSpPr>
          <p:cNvPr id="13" name="Text 11"/>
          <p:cNvSpPr txBox="1"/>
          <p:nvPr/>
        </p:nvSpPr>
        <p:spPr>
          <a:xfrm>
            <a:off x="7863840" y="1691640"/>
            <a:ext cx="3779215" cy="3913632"/>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A recursive function with no base case (or one never actually reached) calls itself forever.</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See examples/06_missing_base_case_infinite_recursion.c for the full story, safely disabled behind a comment.</a:t>
            </a:r>
            <a:endParaRPr lang="en-US" sz="1450" dirty="0"/>
          </a:p>
          <a:p>
            <a:pPr marL="228600" indent="-228600">
              <a:spcAft>
                <a:spcPts val="1400"/>
              </a:spcAft>
              <a:buSzPct val="100000"/>
              <a:buChar char="▸"/>
            </a:pPr>
            <a:r>
              <a:rPr lang="en-US" sz="1450" dirty="0">
                <a:solidFill>
                  <a:srgbClr val="30425E"/>
                </a:solidFill>
                <a:latin typeface="Calibri" pitchFamily="34" charset="0"/>
                <a:ea typeface="Calibri" pitchFamily="34" charset="-122"/>
                <a:cs typeface="Calibri" pitchFamily="34" charset="-120"/>
              </a:rPr>
              <a:t>The corrected version sits right alongside it, so you can see exactly what separates them.</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1133856" cy="310896"/>
          </a:xfrm>
          <a:prstGeom prst="roundRect">
            <a:avLst>
              <a:gd name="adj" fmla="val 50000"/>
            </a:avLst>
          </a:prstGeom>
          <a:solidFill>
            <a:srgbClr val="16304F"/>
          </a:solidFill>
          <a:ln/>
        </p:spPr>
      </p:sp>
      <p:sp>
        <p:nvSpPr>
          <p:cNvPr id="3" name="Text 1"/>
          <p:cNvSpPr txBox="1"/>
          <p:nvPr/>
        </p:nvSpPr>
        <p:spPr>
          <a:xfrm>
            <a:off x="548640" y="502920"/>
            <a:ext cx="113385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WATCH OUT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3000" b="1" dirty="0">
                <a:solidFill>
                  <a:srgbClr val="F5F8FC"/>
                </a:solidFill>
                <a:latin typeface="Cambria" pitchFamily="34" charset="0"/>
                <a:ea typeface="Cambria" pitchFamily="34" charset="-122"/>
                <a:cs typeface="Cambria" pitchFamily="34" charset="-120"/>
              </a:rPr>
              <a:t>Common beginner mistakes</a:t>
            </a:r>
            <a:endParaRPr lang="en-US" sz="30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691640"/>
            <a:ext cx="5364785" cy="1368857"/>
          </a:xfrm>
          <a:prstGeom prst="roundRect">
            <a:avLst>
              <a:gd name="adj" fmla="val 5344"/>
            </a:avLst>
          </a:prstGeom>
          <a:solidFill>
            <a:srgbClr val="16304F"/>
          </a:solidFill>
          <a:ln/>
        </p:spPr>
      </p:sp>
      <p:sp>
        <p:nvSpPr>
          <p:cNvPr id="7" name="Shape 5"/>
          <p:cNvSpPr/>
          <p:nvPr/>
        </p:nvSpPr>
        <p:spPr>
          <a:xfrm>
            <a:off x="749808" y="2165756"/>
            <a:ext cx="420624" cy="420624"/>
          </a:xfrm>
          <a:prstGeom prst="ellipse">
            <a:avLst/>
          </a:prstGeom>
          <a:solidFill>
            <a:srgbClr val="3DDC84"/>
          </a:solidFill>
          <a:ln/>
        </p:spPr>
      </p:sp>
      <p:sp>
        <p:nvSpPr>
          <p:cNvPr id="8" name="Text 6"/>
          <p:cNvSpPr txBox="1"/>
          <p:nvPr/>
        </p:nvSpPr>
        <p:spPr>
          <a:xfrm>
            <a:off x="749808" y="2165756"/>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1325880" y="1783080"/>
            <a:ext cx="4404665" cy="1185977"/>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No base case at all, or a base case that's never actually reached — guaranteed infinite recursion and a crash.</a:t>
            </a:r>
            <a:endParaRPr lang="en-US" sz="1350" dirty="0"/>
          </a:p>
        </p:txBody>
      </p:sp>
      <p:sp>
        <p:nvSpPr>
          <p:cNvPr id="10" name="Shape 8"/>
          <p:cNvSpPr/>
          <p:nvPr/>
        </p:nvSpPr>
        <p:spPr>
          <a:xfrm>
            <a:off x="6279185" y="1691640"/>
            <a:ext cx="5364785" cy="1368857"/>
          </a:xfrm>
          <a:prstGeom prst="roundRect">
            <a:avLst>
              <a:gd name="adj" fmla="val 5344"/>
            </a:avLst>
          </a:prstGeom>
          <a:solidFill>
            <a:srgbClr val="16304F"/>
          </a:solidFill>
          <a:ln/>
        </p:spPr>
      </p:sp>
      <p:sp>
        <p:nvSpPr>
          <p:cNvPr id="11" name="Shape 9"/>
          <p:cNvSpPr/>
          <p:nvPr/>
        </p:nvSpPr>
        <p:spPr>
          <a:xfrm>
            <a:off x="6480353" y="2165756"/>
            <a:ext cx="420624" cy="420624"/>
          </a:xfrm>
          <a:prstGeom prst="ellipse">
            <a:avLst/>
          </a:prstGeom>
          <a:solidFill>
            <a:srgbClr val="3DDC84"/>
          </a:solidFill>
          <a:ln/>
        </p:spPr>
      </p:sp>
      <p:sp>
        <p:nvSpPr>
          <p:cNvPr id="12" name="Text 10"/>
          <p:cNvSpPr txBox="1"/>
          <p:nvPr/>
        </p:nvSpPr>
        <p:spPr>
          <a:xfrm>
            <a:off x="6480353" y="2165756"/>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7056425" y="1783080"/>
            <a:ext cx="4404665" cy="1185977"/>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A recursive case that doesn't make measurable progress toward the base case (e.g. countdown(n) instead of countdown(n - 1)).</a:t>
            </a:r>
            <a:endParaRPr lang="en-US" sz="1350" dirty="0"/>
          </a:p>
        </p:txBody>
      </p:sp>
      <p:sp>
        <p:nvSpPr>
          <p:cNvPr id="14" name="Shape 12"/>
          <p:cNvSpPr/>
          <p:nvPr/>
        </p:nvSpPr>
        <p:spPr>
          <a:xfrm>
            <a:off x="548640" y="3225089"/>
            <a:ext cx="5364785" cy="1368857"/>
          </a:xfrm>
          <a:prstGeom prst="roundRect">
            <a:avLst>
              <a:gd name="adj" fmla="val 5344"/>
            </a:avLst>
          </a:prstGeom>
          <a:solidFill>
            <a:srgbClr val="16304F"/>
          </a:solidFill>
          <a:ln/>
        </p:spPr>
      </p:sp>
      <p:sp>
        <p:nvSpPr>
          <p:cNvPr id="15" name="Shape 13"/>
          <p:cNvSpPr/>
          <p:nvPr/>
        </p:nvSpPr>
        <p:spPr>
          <a:xfrm>
            <a:off x="749808" y="3699205"/>
            <a:ext cx="420624" cy="420624"/>
          </a:xfrm>
          <a:prstGeom prst="ellipse">
            <a:avLst/>
          </a:prstGeom>
          <a:solidFill>
            <a:srgbClr val="3DDC84"/>
          </a:solidFill>
          <a:ln/>
        </p:spPr>
      </p:sp>
      <p:sp>
        <p:nvSpPr>
          <p:cNvPr id="16" name="Text 14"/>
          <p:cNvSpPr txBox="1"/>
          <p:nvPr/>
        </p:nvSpPr>
        <p:spPr>
          <a:xfrm>
            <a:off x="749808" y="3699205"/>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7" name="Text 15"/>
          <p:cNvSpPr txBox="1"/>
          <p:nvPr/>
        </p:nvSpPr>
        <p:spPr>
          <a:xfrm>
            <a:off x="1325880" y="3316529"/>
            <a:ext cx="4404665" cy="1185977"/>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Forgetting to return the recursive call's result — factorial(n - 1); instead of return n * factorial(n - 1); silently discards the computation.</a:t>
            </a:r>
            <a:endParaRPr lang="en-US" sz="1350" dirty="0"/>
          </a:p>
        </p:txBody>
      </p:sp>
      <p:sp>
        <p:nvSpPr>
          <p:cNvPr id="18" name="Shape 16"/>
          <p:cNvSpPr/>
          <p:nvPr/>
        </p:nvSpPr>
        <p:spPr>
          <a:xfrm>
            <a:off x="6279185" y="3225089"/>
            <a:ext cx="5364785" cy="1368857"/>
          </a:xfrm>
          <a:prstGeom prst="roundRect">
            <a:avLst>
              <a:gd name="adj" fmla="val 5344"/>
            </a:avLst>
          </a:prstGeom>
          <a:solidFill>
            <a:srgbClr val="16304F"/>
          </a:solidFill>
          <a:ln/>
        </p:spPr>
      </p:sp>
      <p:sp>
        <p:nvSpPr>
          <p:cNvPr id="19" name="Shape 17"/>
          <p:cNvSpPr/>
          <p:nvPr/>
        </p:nvSpPr>
        <p:spPr>
          <a:xfrm>
            <a:off x="6480353" y="3699205"/>
            <a:ext cx="420624" cy="420624"/>
          </a:xfrm>
          <a:prstGeom prst="ellipse">
            <a:avLst/>
          </a:prstGeom>
          <a:solidFill>
            <a:srgbClr val="3DDC84"/>
          </a:solidFill>
          <a:ln/>
        </p:spPr>
      </p:sp>
      <p:sp>
        <p:nvSpPr>
          <p:cNvPr id="20" name="Text 18"/>
          <p:cNvSpPr txBox="1"/>
          <p:nvPr/>
        </p:nvSpPr>
        <p:spPr>
          <a:xfrm>
            <a:off x="6480353" y="3699205"/>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1" name="Text 19"/>
          <p:cNvSpPr txBox="1"/>
          <p:nvPr/>
        </p:nvSpPr>
        <p:spPr>
          <a:xfrm>
            <a:off x="7056425" y="3316529"/>
            <a:ext cx="4404665" cy="1185977"/>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Assuming recursion is always “cleaner” — sometimes it quietly repeats huge amounts of work, as naive Fibonacci shows.</a:t>
            </a:r>
            <a:endParaRPr lang="en-US" sz="1350" dirty="0"/>
          </a:p>
        </p:txBody>
      </p:sp>
      <p:sp>
        <p:nvSpPr>
          <p:cNvPr id="22" name="Shape 20"/>
          <p:cNvSpPr/>
          <p:nvPr/>
        </p:nvSpPr>
        <p:spPr>
          <a:xfrm>
            <a:off x="548640" y="4758538"/>
            <a:ext cx="5364785" cy="1368857"/>
          </a:xfrm>
          <a:prstGeom prst="roundRect">
            <a:avLst>
              <a:gd name="adj" fmla="val 5344"/>
            </a:avLst>
          </a:prstGeom>
          <a:solidFill>
            <a:srgbClr val="16304F"/>
          </a:solidFill>
          <a:ln/>
        </p:spPr>
      </p:sp>
      <p:sp>
        <p:nvSpPr>
          <p:cNvPr id="23" name="Shape 21"/>
          <p:cNvSpPr/>
          <p:nvPr/>
        </p:nvSpPr>
        <p:spPr>
          <a:xfrm>
            <a:off x="749808" y="5232654"/>
            <a:ext cx="420624" cy="420624"/>
          </a:xfrm>
          <a:prstGeom prst="ellipse">
            <a:avLst/>
          </a:prstGeom>
          <a:solidFill>
            <a:srgbClr val="3DDC84"/>
          </a:solidFill>
          <a:ln/>
        </p:spPr>
      </p:sp>
      <p:sp>
        <p:nvSpPr>
          <p:cNvPr id="24" name="Text 22"/>
          <p:cNvSpPr txBox="1"/>
          <p:nvPr/>
        </p:nvSpPr>
        <p:spPr>
          <a:xfrm>
            <a:off x="749808" y="523265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5" name="Text 23"/>
          <p:cNvSpPr txBox="1"/>
          <p:nvPr/>
        </p:nvSpPr>
        <p:spPr>
          <a:xfrm>
            <a:off x="1325880" y="4849978"/>
            <a:ext cx="4404665" cy="1185977"/>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Off-by-one base cases (n == 1 instead of n == 0, or vice versa) — trace a small example by hand before trusting a base case is right.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1682496" cy="310896"/>
          </a:xfrm>
          <a:prstGeom prst="roundRect">
            <a:avLst>
              <a:gd name="adj" fmla="val 50000"/>
            </a:avLst>
          </a:prstGeom>
          <a:solidFill>
            <a:srgbClr val="16304F"/>
          </a:solidFill>
          <a:ln/>
        </p:spPr>
      </p:sp>
      <p:sp>
        <p:nvSpPr>
          <p:cNvPr id="3" name="Text 1"/>
          <p:cNvSpPr txBox="1"/>
          <p:nvPr/>
        </p:nvSpPr>
        <p:spPr>
          <a:xfrm>
            <a:off x="548640" y="502920"/>
            <a:ext cx="168249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TRY IT YOURSELF</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indent="0" marL="0">
              <a:buNone/>
            </a:pPr>
            <a:r>
              <a:rPr lang="en-US" sz="3000" b="1" dirty="0">
                <a:solidFill>
                  <a:srgbClr val="F5F8FC"/>
                </a:solidFill>
                <a:latin typeface="Cambria" pitchFamily="34" charset="0"/>
                <a:ea typeface="Cambria" pitchFamily="34" charset="-122"/>
                <a:cs typeface="Cambria" pitchFamily="34" charset="-120"/>
              </a:rPr>
              <a:t>Before you move on</a:t>
            </a:r>
            <a:endParaRPr lang="en-US" sz="3000" dirty="0"/>
          </a:p>
        </p:txBody>
      </p:sp>
      <p:sp>
        <p:nvSpPr>
          <p:cNvPr id="5" name="Text 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10 — RECURSION</a:t>
            </a:r>
            <a:endParaRPr lang="en-US" sz="900" dirty="0"/>
          </a:p>
        </p:txBody>
      </p:sp>
      <p:sp>
        <p:nvSpPr>
          <p:cNvPr id="6" name="Shape 4"/>
          <p:cNvSpPr/>
          <p:nvPr/>
        </p:nvSpPr>
        <p:spPr>
          <a:xfrm>
            <a:off x="548640" y="1783080"/>
            <a:ext cx="5319065" cy="4160520"/>
          </a:xfrm>
          <a:prstGeom prst="roundRect">
            <a:avLst>
              <a:gd name="adj" fmla="val 2198"/>
            </a:avLst>
          </a:prstGeom>
          <a:solidFill>
            <a:srgbClr val="16304F"/>
          </a:solidFill>
          <a:ln/>
        </p:spPr>
      </p:sp>
      <p:sp>
        <p:nvSpPr>
          <p:cNvPr id="7" name="Shape 5"/>
          <p:cNvSpPr/>
          <p:nvPr/>
        </p:nvSpPr>
        <p:spPr>
          <a:xfrm>
            <a:off x="804672" y="2057400"/>
            <a:ext cx="365760" cy="365760"/>
          </a:xfrm>
          <a:prstGeom prst="ellipse">
            <a:avLst/>
          </a:prstGeom>
          <a:solidFill>
            <a:srgbClr val="3DDC84"/>
          </a:solidFill>
          <a:ln/>
        </p:spPr>
      </p:sp>
      <p:sp>
        <p:nvSpPr>
          <p:cNvPr id="8" name="Text 6"/>
          <p:cNvSpPr txBox="1"/>
          <p:nvPr/>
        </p:nvSpPr>
        <p:spPr>
          <a:xfrm>
            <a:off x="804672" y="205740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25880" y="1984248"/>
            <a:ext cx="4313225" cy="658368"/>
          </a:xfrm>
          <a:prstGeom prst="rect">
            <a:avLst/>
          </a:prstGeom>
          <a:noFill/>
          <a:ln/>
        </p:spPr>
        <p:txBody>
          <a:bodyPr wrap="square" lIns="0" tIns="0" rIns="0" bIns="0" rtlCol="0" anchor="t"/>
          <a:lstStyle/>
          <a:p>
            <a:pPr indent="0" marL="0">
              <a:buNone/>
            </a:pPr>
            <a:r>
              <a:rPr lang="en-US" sz="1350" dirty="0">
                <a:solidFill>
                  <a:srgbClr val="F5F8FC"/>
                </a:solidFill>
                <a:latin typeface="Calibri" pitchFamily="34" charset="0"/>
                <a:ea typeface="Calibri" pitchFamily="34" charset="-122"/>
                <a:cs typeface="Calibri" pitchFamily="34" charset="-120"/>
              </a:rPr>
              <a:t>Work through every file in examples/, including the safely-disabled infinite recursion in 06.</a:t>
            </a:r>
            <a:endParaRPr lang="en-US" sz="1350" dirty="0"/>
          </a:p>
        </p:txBody>
      </p:sp>
      <p:sp>
        <p:nvSpPr>
          <p:cNvPr id="10" name="Shape 8"/>
          <p:cNvSpPr/>
          <p:nvPr/>
        </p:nvSpPr>
        <p:spPr>
          <a:xfrm>
            <a:off x="804672" y="2770632"/>
            <a:ext cx="365760" cy="365760"/>
          </a:xfrm>
          <a:prstGeom prst="ellipse">
            <a:avLst/>
          </a:prstGeom>
          <a:solidFill>
            <a:srgbClr val="3DDC84"/>
          </a:solidFill>
          <a:ln/>
        </p:spPr>
      </p:sp>
      <p:sp>
        <p:nvSpPr>
          <p:cNvPr id="11" name="Text 9"/>
          <p:cNvSpPr txBox="1"/>
          <p:nvPr/>
        </p:nvSpPr>
        <p:spPr>
          <a:xfrm>
            <a:off x="804672" y="2770632"/>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325880" y="2697480"/>
            <a:ext cx="4313225" cy="658368"/>
          </a:xfrm>
          <a:prstGeom prst="rect">
            <a:avLst/>
          </a:prstGeom>
          <a:noFill/>
          <a:ln/>
        </p:spPr>
        <p:txBody>
          <a:bodyPr wrap="square" lIns="0" tIns="0" rIns="0" bIns="0" rtlCol="0" anchor="t"/>
          <a:lstStyle/>
          <a:p>
            <a:pPr indent="0" marL="0">
              <a:buNone/>
            </a:pPr>
            <a:r>
              <a:rPr lang="en-US" sz="1350" dirty="0">
                <a:solidFill>
                  <a:srgbClr val="F5F8FC"/>
                </a:solidFill>
                <a:latin typeface="Calibri" pitchFamily="34" charset="0"/>
                <a:ea typeface="Calibri" pitchFamily="34" charset="-122"/>
                <a:cs typeface="Calibri" pitchFamily="34" charset="-120"/>
              </a:rPr>
              <a:t>Complete exercises/exercise1.c.</a:t>
            </a:r>
            <a:endParaRPr lang="en-US" sz="1350" dirty="0"/>
          </a:p>
        </p:txBody>
      </p:sp>
      <p:sp>
        <p:nvSpPr>
          <p:cNvPr id="13" name="Shape 11"/>
          <p:cNvSpPr/>
          <p:nvPr/>
        </p:nvSpPr>
        <p:spPr>
          <a:xfrm>
            <a:off x="804672" y="3483864"/>
            <a:ext cx="365760" cy="365760"/>
          </a:xfrm>
          <a:prstGeom prst="ellipse">
            <a:avLst/>
          </a:prstGeom>
          <a:solidFill>
            <a:srgbClr val="3DDC84"/>
          </a:solidFill>
          <a:ln/>
        </p:spPr>
      </p:sp>
      <p:sp>
        <p:nvSpPr>
          <p:cNvPr id="14" name="Text 12"/>
          <p:cNvSpPr txBox="1"/>
          <p:nvPr/>
        </p:nvSpPr>
        <p:spPr>
          <a:xfrm>
            <a:off x="804672" y="3483864"/>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325880" y="3410712"/>
            <a:ext cx="4313225" cy="658368"/>
          </a:xfrm>
          <a:prstGeom prst="rect">
            <a:avLst/>
          </a:prstGeom>
          <a:noFill/>
          <a:ln/>
        </p:spPr>
        <p:txBody>
          <a:bodyPr wrap="square" lIns="0" tIns="0" rIns="0" bIns="0" rtlCol="0" anchor="t"/>
          <a:lstStyle/>
          <a:p>
            <a:pPr indent="0" marL="0">
              <a:buNone/>
            </a:pPr>
            <a:r>
              <a:rPr lang="en-US" sz="1350" dirty="0">
                <a:solidFill>
                  <a:srgbClr val="F5F8FC"/>
                </a:solidFill>
                <a:latin typeface="Calibri" pitchFamily="34" charset="0"/>
                <a:ea typeface="Calibri" pitchFamily="34" charset="-122"/>
                <a:cs typeface="Calibri" pitchFamily="34" charset="-120"/>
              </a:rPr>
              <a:t>Build the module project.</a:t>
            </a:r>
            <a:endParaRPr lang="en-US" sz="1350" dirty="0"/>
          </a:p>
        </p:txBody>
      </p:sp>
      <p:sp>
        <p:nvSpPr>
          <p:cNvPr id="16" name="Shape 14"/>
          <p:cNvSpPr/>
          <p:nvPr/>
        </p:nvSpPr>
        <p:spPr>
          <a:xfrm>
            <a:off x="804672" y="4197096"/>
            <a:ext cx="365760" cy="365760"/>
          </a:xfrm>
          <a:prstGeom prst="ellipse">
            <a:avLst/>
          </a:prstGeom>
          <a:solidFill>
            <a:srgbClr val="3DDC84"/>
          </a:solidFill>
          <a:ln/>
        </p:spPr>
      </p:sp>
      <p:sp>
        <p:nvSpPr>
          <p:cNvPr id="17" name="Text 15"/>
          <p:cNvSpPr txBox="1"/>
          <p:nvPr/>
        </p:nvSpPr>
        <p:spPr>
          <a:xfrm>
            <a:off x="804672" y="4197096"/>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325880" y="4123944"/>
            <a:ext cx="4313225" cy="658368"/>
          </a:xfrm>
          <a:prstGeom prst="rect">
            <a:avLst/>
          </a:prstGeom>
          <a:noFill/>
          <a:ln/>
        </p:spPr>
        <p:txBody>
          <a:bodyPr wrap="square" lIns="0" tIns="0" rIns="0" bIns="0" rtlCol="0" anchor="t"/>
          <a:lstStyle/>
          <a:p>
            <a:pPr indent="0" marL="0">
              <a:buNone/>
            </a:pPr>
            <a:r>
              <a:rPr lang="en-US" sz="1350" dirty="0">
                <a:solidFill>
                  <a:srgbClr val="F5F8FC"/>
                </a:solidFill>
                <a:latin typeface="Calibri" pitchFamily="34" charset="0"/>
                <a:ea typeface="Calibri" pitchFamily="34" charset="-122"/>
                <a:cs typeface="Calibri" pitchFamily="34" charset="-120"/>
              </a:rPr>
              <a:t>Commit and push: git add . &amp;&amp; git commit -m "..." &amp;&amp; git push</a:t>
            </a:r>
            <a:endParaRPr lang="en-US" sz="1350" dirty="0"/>
          </a:p>
        </p:txBody>
      </p:sp>
      <p:sp>
        <p:nvSpPr>
          <p:cNvPr id="19" name="Shape 17"/>
          <p:cNvSpPr/>
          <p:nvPr/>
        </p:nvSpPr>
        <p:spPr>
          <a:xfrm>
            <a:off x="6324905" y="1783080"/>
            <a:ext cx="5319065" cy="4160520"/>
          </a:xfrm>
          <a:prstGeom prst="roundRect">
            <a:avLst>
              <a:gd name="adj" fmla="val 2198"/>
            </a:avLst>
          </a:prstGeom>
          <a:solidFill>
            <a:srgbClr val="3DDC84"/>
          </a:solidFill>
          <a:ln/>
        </p:spPr>
      </p:sp>
      <p:sp>
        <p:nvSpPr>
          <p:cNvPr id="20" name="Text 18"/>
          <p:cNvSpPr txBox="1"/>
          <p:nvPr/>
        </p:nvSpPr>
        <p:spPr>
          <a:xfrm>
            <a:off x="6644945" y="2103120"/>
            <a:ext cx="4678985" cy="320040"/>
          </a:xfrm>
          <a:prstGeom prst="rect">
            <a:avLst/>
          </a:prstGeom>
          <a:noFill/>
          <a:ln/>
        </p:spPr>
        <p:txBody>
          <a:bodyPr wrap="square" lIns="0" tIns="0" rIns="0" bIns="0" rtlCol="0" anchor="ctr"/>
          <a:lstStyle/>
          <a:p>
            <a:pPr indent="0" marL="0">
              <a:buNone/>
            </a:pPr>
            <a:r>
              <a:rPr lang="en-US" sz="1200" b="1" spc="100" kern="0" dirty="0">
                <a:solidFill>
                  <a:srgbClr val="0B1F3A"/>
                </a:solidFill>
                <a:latin typeface="Calibri" pitchFamily="34" charset="0"/>
                <a:ea typeface="Calibri" pitchFamily="34" charset="-122"/>
                <a:cs typeface="Calibri" pitchFamily="34" charset="-120"/>
              </a:rPr>
              <a:t>UP NEXT</a:t>
            </a:r>
            <a:endParaRPr lang="en-US" sz="1200" dirty="0"/>
          </a:p>
        </p:txBody>
      </p:sp>
      <p:sp>
        <p:nvSpPr>
          <p:cNvPr id="21" name="Text 19"/>
          <p:cNvSpPr txBox="1"/>
          <p:nvPr/>
        </p:nvSpPr>
        <p:spPr>
          <a:xfrm>
            <a:off x="6644945" y="2468880"/>
            <a:ext cx="4678985" cy="118872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Module 11 — Dynamic Memory Allocation</a:t>
            </a:r>
            <a:endParaRPr lang="en-US" sz="2400" dirty="0"/>
          </a:p>
        </p:txBody>
      </p:sp>
      <p:sp>
        <p:nvSpPr>
          <p:cNvPr id="22" name="Text 20"/>
          <p:cNvSpPr txBox="1"/>
          <p:nvPr/>
        </p:nvSpPr>
        <p:spPr>
          <a:xfrm>
            <a:off x="6644945" y="3703320"/>
            <a:ext cx="4678985" cy="1965960"/>
          </a:xfrm>
          <a:prstGeom prst="rect">
            <a:avLst/>
          </a:prstGeom>
          <a:noFill/>
          <a:ln/>
        </p:spPr>
        <p:txBody>
          <a:bodyPr wrap="square" lIns="0" tIns="0" rIns="0" bIns="0" rtlCol="0" anchor="t"/>
          <a:lstStyle/>
          <a:p>
            <a:pPr indent="0" marL="0">
              <a:buNone/>
            </a:pPr>
            <a:r>
              <a:rPr lang="en-US" sz="1400" dirty="0">
                <a:solidFill>
                  <a:srgbClr val="0B1F3A"/>
                </a:solidFill>
                <a:latin typeface="Calibri" pitchFamily="34" charset="0"/>
                <a:ea typeface="Calibri" pitchFamily="34" charset="-122"/>
                <a:cs typeface="Calibri" pitchFamily="34" charset="-120"/>
              </a:rPr>
              <a:t>Asking the heap for exactly the memory you need, at the moment you find out how much that is — malloc, calloc, realloc, and free.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2026-09-15T18:15:50Z</dcterms:created>
  <dcterms:modified xsi:type="dcterms:W3CDTF">2026-09-15T18:15:50Z</dcterms:modified>
</cp:coreProperties>
</file>