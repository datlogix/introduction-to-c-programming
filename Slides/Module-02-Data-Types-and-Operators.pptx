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live and ask students to predict the output first. Most expect 3.5 and 256. Do not explain yet — just bank the surprise. Both behaviors are explained later: integer division, and unsigned overflow/wraparound.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conceptual foundation for the whole module. Emphasize "silent" — C rarely stops you from doing something type-wise unwise, it just gives you a wrong answer without complaint.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int wholeNumber = 42; both declares AND initializes a variable in one step — Module 3 goes much deeper on naming, const, and reading values with scanf. Here we only need variables as a vehicle to inspect types.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also %s for strings, but that is a Module 5 topic — do not introduce it yet. Emphasize that mismatched specifiers are a silent bug, not a compiler error, which makes them dangerous.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sizeof produces a special unsigned type -- printf it with %zu, not %d. These byte sizes are typical on modern machines but technically platform-dependent; that nuance is optional for a first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Modulo (%) only works on integer types and gives the remainder left over from integer division. This directly explains the hook’s first surprise -- connect back to it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fix for the hook's first surprise. Emphasize precedence: (float)a applies to a alone, then the now-mixed-type division promotes b to float too. Casting the wrong operand, or casting the whole already-integer-divided expression, is the single most common mistake here -- it is explicitly listed on the mistakes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 now we are only printing what these operators produce. Using them to actually branch a program's behavior (if statements) is Module 4's job -- for now, just get comfortable that a comparison is a value ready to be printed, stored, or combined.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 -- the practical takeaway (when in doubt, parenthesize) matters far more than precedence trivia.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casting-too-late mistake trips up almost every class -- consider live-demonstrating the wrong version next to the right version from slide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every student can explain, in their own words, why (float)a / b works but (float)(a / b) does not -- that distinction is load-bearing for the rest of the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949440" y="914400"/>
            <a:ext cx="51206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16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ln w="28575">
            <a:solidFill>
              <a:srgbClr val="1630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331720"/>
            <a:ext cx="830275" cy="310896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331720"/>
            <a:ext cx="8302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Types &amp; Operators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7 / 2 is not 3.5, and why a number can silently wrap around to 0.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512064" cy="512064"/>
          </a:xfrm>
          <a:prstGeom prst="ellipse">
            <a:avLst/>
          </a:prstGeom>
          <a:solidFill>
            <a:srgbClr val="1630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❯_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141732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 PROGRAMMING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59382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4593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— LIVE 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did math just break?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03720" cy="3794760"/>
          </a:xfrm>
          <a:prstGeom prst="roundRect">
            <a:avLst>
              <a:gd name="adj" fmla="val 2169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039112"/>
            <a:ext cx="6391656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 {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printf("Splitting 7 slices of pizza among 2 people: %d slices each\n",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7 / 2);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unsigned char tinyBox = 255;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tinyBox = tinyBox + 1;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printf("One more than 255 in a box that only holds 0-255: %d\n",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tinyBox);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5559552"/>
            <a:ext cx="6903720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5559552"/>
            <a:ext cx="6501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5F8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hook.c -o hook &amp;&amp; ./hook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1691640"/>
            <a:ext cx="37792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400"/>
              </a:spcAft>
              <a:buSzPct val="100000"/>
              <a:buChar char="▸"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 3 slices each — not 3.5.</a:t>
            </a:r>
            <a:endParaRPr lang="en-US" sz="1550" dirty="0"/>
          </a:p>
          <a:p>
            <a:pPr algn="l" marL="228600" indent="-228600">
              <a:spcAft>
                <a:spcPts val="1400"/>
              </a:spcAft>
              <a:buSzPct val="100000"/>
              <a:buChar char="▸"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0, where you might expect 256.</a:t>
            </a:r>
            <a:endParaRPr lang="en-US" sz="1550" dirty="0"/>
          </a:p>
          <a:p>
            <a:pPr algn="l" marL="228600" indent="-228600">
              <a:spcAft>
                <a:spcPts val="1400"/>
              </a:spcAft>
              <a:buSzPct val="100000"/>
              <a:buChar char="▸"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is a bug. Both are C doing exactly what it was told.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863840" y="5074920"/>
            <a:ext cx="3779215" cy="1234440"/>
          </a:xfrm>
          <a:prstGeom prst="roundRect">
            <a:avLst>
              <a:gd name="adj" fmla="val 5926"/>
            </a:avLst>
          </a:prstGeom>
          <a:solidFill>
            <a:srgbClr val="E4F9E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0" y="5074920"/>
            <a:ext cx="34134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15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you’ll know precisely why — and you’ll use both facts on purpose in the project.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DATA TYPES &amp; OPERATORS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5163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5163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data types exist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42316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boxes —   </a:t>
            </a:r>
            <a:pPr algn="l" indent="0" marL="0"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in C lives in memory as a fixed-size box of bits.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1234440" y="3328416"/>
            <a:ext cx="10408615" cy="0"/>
          </a:xfrm>
          <a:prstGeom prst="line">
            <a:avLst/>
          </a:prstGeom>
          <a:noFill/>
          <a:ln w="12700">
            <a:solidFill>
              <a:srgbClr val="DC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33756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 = two decisions —   </a:t>
            </a:r>
            <a:pPr algn="l" indent="0" marL="0"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big the box is, and how to interpret the bits inside it.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1234440" y="4242816"/>
            <a:ext cx="10408615" cy="0"/>
          </a:xfrm>
          <a:prstGeom prst="line">
            <a:avLst/>
          </a:prstGeom>
          <a:noFill/>
          <a:ln w="12700">
            <a:solidFill>
              <a:srgbClr val="DC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48056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25196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type, wrong answer —   </a:t>
            </a:r>
            <a:pPr algn="l" indent="0" marL="0"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it wrong and you get silently wrong results, like the hook just showed.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48640" y="5989320"/>
            <a:ext cx="11094415" cy="502920"/>
          </a:xfrm>
          <a:prstGeom prst="roundRect">
            <a:avLst>
              <a:gd name="adj" fmla="val 12727"/>
            </a:avLst>
          </a:prstGeom>
          <a:solidFill>
            <a:srgbClr val="E4F9E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598932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5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calculator or spreadsheet, C makes you choose the box size up front.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DATA TYPES &amp; OPERATORS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5163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5163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basic types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3291840"/>
        </p:xfrm>
        <a:graphic>
          <a:graphicData uri="http://schemas.openxmlformats.org/drawingml/2006/table">
            <a:tbl>
              <a:tblPr/>
              <a:tblGrid>
                <a:gridCol w="3698138"/>
                <a:gridCol w="3698138"/>
                <a:gridCol w="3698138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5F8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5F8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5F8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 -7, 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numbers, no decimal point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3.14f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~6-7 reliable digits of 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3.14159265358979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C’s default decimal type — ~2x float’s 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'A', '7', '$'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single character, in single quotes — really a small integer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394960"/>
            <a:ext cx="11094415" cy="640080"/>
          </a:xfrm>
          <a:prstGeom prst="roundRect">
            <a:avLst>
              <a:gd name="adj" fmla="val 11429"/>
            </a:avLst>
          </a:prstGeom>
          <a:solidFill>
            <a:srgbClr val="E4F9E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539496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5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You’ll also see short and long in other people’s code — int variants you rarely need as a beginner.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DATA TYPES &amp; OPERATORS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5163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5163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Picking the right format specifier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329184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5F8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5F8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printf specifier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 / double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sizeof(...) 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%zu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394960"/>
            <a:ext cx="11094415" cy="640080"/>
          </a:xfrm>
          <a:prstGeom prst="roundRect">
            <a:avLst>
              <a:gd name="adj" fmla="val 11429"/>
            </a:avLst>
          </a:prstGeom>
          <a:solidFill>
            <a:srgbClr val="E4F9E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539496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5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this wrong (e.g. %d for a float) and you get garbage output — the compiler often will not stop you.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DATA TYPES &amp; OPERATORS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72998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729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SIZEOF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big is that box, really?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499284" cy="283464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2286000"/>
            <a:ext cx="24992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1248439" y="3520440"/>
            <a:ext cx="1099685" cy="27432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3657600"/>
            <a:ext cx="22249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— int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13684" y="1965960"/>
            <a:ext cx="2499284" cy="283464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413684" y="2286000"/>
            <a:ext cx="24992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4113483" y="3520440"/>
            <a:ext cx="1099685" cy="27432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50844" y="3657600"/>
            <a:ext cx="22249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— float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78728" y="1965960"/>
            <a:ext cx="2499284" cy="283464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78728" y="2286000"/>
            <a:ext cx="24992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5" name="Shape 13"/>
          <p:cNvSpPr/>
          <p:nvPr/>
        </p:nvSpPr>
        <p:spPr>
          <a:xfrm>
            <a:off x="6978527" y="3520440"/>
            <a:ext cx="1099685" cy="27432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15888" y="3657600"/>
            <a:ext cx="22249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— double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3771" y="1965960"/>
            <a:ext cx="2499284" cy="283464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143771" y="2286000"/>
            <a:ext cx="24992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9" name="Shape 17"/>
          <p:cNvSpPr/>
          <p:nvPr/>
        </p:nvSpPr>
        <p:spPr>
          <a:xfrm>
            <a:off x="9843571" y="3520440"/>
            <a:ext cx="1099685" cy="27432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80931" y="3657600"/>
            <a:ext cx="22249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— char (always)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11094415" cy="640080"/>
          </a:xfrm>
          <a:prstGeom prst="roundRect">
            <a:avLst>
              <a:gd name="adj" fmla="val 11429"/>
            </a:avLst>
          </a:prstGeom>
          <a:solidFill>
            <a:srgbClr val="E4F9E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502920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5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sizeof(unsigned char) is 1 byte = 256 possible values (0-255). Add 1 past the top and it wraps back to 0 — that’s the hook’s second surprise.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DATA TYPES &amp; OPERATORS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5163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5163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Arithmetic operators &amp; the integer-division trap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3749040"/>
          </a:xfrm>
          <a:prstGeom prst="roundRect">
            <a:avLst>
              <a:gd name="adj" fmla="val 2195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039112"/>
            <a:ext cx="6437376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apples = 7;</a:t>
            </a:r>
            <a:endParaRPr lang="en-US" sz="17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friends = 2;</a:t>
            </a:r>
            <a:endParaRPr lang="en-US" sz="1700" dirty="0"/>
          </a:p>
          <a:p>
            <a:pPr algn="l" indent="0" marL="0">
              <a:lnSpc>
                <a:spcPct val="128000"/>
              </a:lnSpc>
              <a:buNone/>
            </a:pPr>
            <a:endParaRPr lang="en-US" sz="17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printf("%d\n", apples / friends);   // 3 -- NOT 3.5</a:t>
            </a:r>
            <a:endParaRPr lang="en-US" sz="17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printf("%d\n", apples % friends);   // 1 -- the remainder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5513832"/>
            <a:ext cx="6949440" cy="621792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5513832"/>
            <a:ext cx="6547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/ int always discards the decimal — it never rounds.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-  *  behave the way you’d guess.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and  %  need care.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probably the #1 source of silently-wrong beginner output.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DATA TYPES &amp; OPERATORS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5163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5163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conversion &amp; casting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3749040"/>
          </a:xfrm>
          <a:prstGeom prst="roundRect">
            <a:avLst>
              <a:gd name="adj" fmla="val 2195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039112"/>
            <a:ext cx="6437376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 = 7;</a:t>
            </a:r>
            <a:endParaRPr lang="en-US" sz="17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 = 2;</a:t>
            </a:r>
            <a:endParaRPr lang="en-US" sz="1700" dirty="0"/>
          </a:p>
          <a:p>
            <a:pPr algn="l" indent="0" marL="0">
              <a:lnSpc>
                <a:spcPct val="128000"/>
              </a:lnSpc>
              <a:buNone/>
            </a:pPr>
            <a:endParaRPr lang="en-US" sz="17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printf("%d\n", a / b);          // 3  -- integer division</a:t>
            </a:r>
            <a:endParaRPr lang="en-US" sz="17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printf("%f\n", (float)a / b);   // 3.500000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5513832"/>
            <a:ext cx="6949440" cy="621792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5513832"/>
            <a:ext cx="6547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BEFORE the division runs — (float)(a / b) is too late.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conversion happens automatically when types mix.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does NOT save you from int/int division.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(float)a converts just a, before / runs.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DATA TYPES &amp; OPERATORS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5163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5163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vs. logical operators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18608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057400"/>
            <a:ext cx="422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(→ 1 or 0)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51760"/>
            <a:ext cx="4769968" cy="777240"/>
          </a:xfrm>
          <a:prstGeom prst="rect">
            <a:avLst/>
          </a:prstGeom>
          <a:solidFill>
            <a:srgbClr val="E9EEF6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== 20   // equal to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!= 20   // not equal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&gt; 18    // greater than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566160"/>
            <a:ext cx="476996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has no separate boolean type.</a:t>
            </a:r>
            <a:endParaRPr lang="en-US" sz="1350" dirty="0"/>
          </a:p>
          <a:p>
            <a:pPr algn="l" marL="228600" indent="-2286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comparison IS a value: 1 or 0.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24448" y="1783080"/>
            <a:ext cx="5318608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98768" y="205740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98768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147408" y="2057400"/>
            <a:ext cx="422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(combine 1s/0s)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598768" y="2651760"/>
            <a:ext cx="4769968" cy="777240"/>
          </a:xfrm>
          <a:prstGeom prst="rect">
            <a:avLst/>
          </a:prstGeom>
          <a:solidFill>
            <a:srgbClr val="E9EEF6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&amp;&amp; b   // both true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|| b   // either true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!a       // flips it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598768" y="3566160"/>
            <a:ext cx="476996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&amp;&amp;  requires both sides true.</a:t>
            </a:r>
            <a:endParaRPr lang="en-US" sz="1350" dirty="0"/>
          </a:p>
          <a:p>
            <a:pPr algn="l" marL="228600" indent="-2286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||  requires at least one true.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92531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(comparison) and = (assignment) look alike but are different operators — mixing them up is a classic bug you’ll meet again in Module 4.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DATA TYPES &amp; OPERATORS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5163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5163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precedence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3749040"/>
          </a:xfrm>
          <a:prstGeom prst="roundRect">
            <a:avLst>
              <a:gd name="adj" fmla="val 2195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039112"/>
            <a:ext cx="6437376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printf("%d\n", 2 + 3 * 4);     // 14, not 20</a:t>
            </a:r>
            <a:endParaRPr lang="en-US" sz="18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printf("%d\n", (2 + 3) * 4);   // 20 -- parentheses run first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5513832"/>
            <a:ext cx="6949440" cy="621792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5513832"/>
            <a:ext cx="6547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100% sure how it evaluates? Add parentheses. It costs nothing.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 and  /  run before  +  and  -,  just like in math class.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don’t need to memorize a full precedence table.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Parentheses make your intent obvious to anyone reading the code.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DATA TYPES &amp; OPERATORS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08914" cy="310896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9089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mistakes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64328" cy="1368552"/>
          </a:xfrm>
          <a:prstGeom prst="roundRect">
            <a:avLst>
              <a:gd name="adj" fmla="val 5345"/>
            </a:avLst>
          </a:prstGeom>
          <a:solidFill>
            <a:srgbClr val="16304F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165604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1656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83080"/>
            <a:ext cx="4404208" cy="1185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int / int gives a decimal answer — 7 / 2 is 3, full stop.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78728" y="1691640"/>
            <a:ext cx="5364328" cy="1368552"/>
          </a:xfrm>
          <a:prstGeom prst="roundRect">
            <a:avLst>
              <a:gd name="adj" fmla="val 5345"/>
            </a:avLst>
          </a:prstGeom>
          <a:solidFill>
            <a:srgbClr val="16304F"/>
          </a:solidFill>
          <a:ln/>
        </p:spPr>
      </p:sp>
      <p:sp>
        <p:nvSpPr>
          <p:cNvPr id="10" name="Shape 8"/>
          <p:cNvSpPr/>
          <p:nvPr/>
        </p:nvSpPr>
        <p:spPr>
          <a:xfrm>
            <a:off x="6479896" y="2165604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79896" y="21656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55968" y="1783080"/>
            <a:ext cx="4404208" cy="1185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printf specifier for the type (e.g. %d for a float) — often no error, just garbage.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316224"/>
            <a:ext cx="5364328" cy="1368552"/>
          </a:xfrm>
          <a:prstGeom prst="roundRect">
            <a:avLst>
              <a:gd name="adj" fmla="val 5345"/>
            </a:avLst>
          </a:prstGeom>
          <a:solidFill>
            <a:srgbClr val="16304F"/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" y="379018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37901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407664"/>
            <a:ext cx="4404208" cy="1185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%d for the result of sizeof instead of %zu.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78728" y="3316224"/>
            <a:ext cx="5364328" cy="1368552"/>
          </a:xfrm>
          <a:prstGeom prst="roundRect">
            <a:avLst>
              <a:gd name="adj" fmla="val 5345"/>
            </a:avLst>
          </a:prstGeom>
          <a:solidFill>
            <a:srgbClr val="16304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79896" y="379018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79896" y="37901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055968" y="3407664"/>
            <a:ext cx="4404208" cy="1185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= (assignment) with == (comparison).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4940808"/>
            <a:ext cx="5364328" cy="1368552"/>
          </a:xfrm>
          <a:prstGeom prst="roundRect">
            <a:avLst>
              <a:gd name="adj" fmla="val 5345"/>
            </a:avLst>
          </a:prstGeom>
          <a:solidFill>
            <a:srgbClr val="16304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5414772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9808" y="54147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5032248"/>
            <a:ext cx="4404208" cy="1185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single quotes for char literals — 'A', not "A".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78728" y="4940808"/>
            <a:ext cx="5364328" cy="1368552"/>
          </a:xfrm>
          <a:prstGeom prst="roundRect">
            <a:avLst>
              <a:gd name="adj" fmla="val 5345"/>
            </a:avLst>
          </a:prstGeom>
          <a:solidFill>
            <a:srgbClr val="16304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79896" y="5414772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79896" y="54147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055968" y="5032248"/>
            <a:ext cx="4404208" cy="1185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Casting too late: (float)(a / b) still divides as int first.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DATA TYPES &amp; OPERATORS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80744" cy="310896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move 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18608" cy="4160520"/>
          </a:xfrm>
          <a:prstGeom prst="roundRect">
            <a:avLst>
              <a:gd name="adj" fmla="val 1978"/>
            </a:avLst>
          </a:prstGeom>
          <a:solidFill>
            <a:srgbClr val="16304F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057400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984248"/>
            <a:ext cx="431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every file in examples/ — predict output before running.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4672" y="2770632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2770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697480"/>
            <a:ext cx="431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exercises/exercise1.c.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" y="3483864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410712"/>
            <a:ext cx="431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module project.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4672" y="4197096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123944"/>
            <a:ext cx="431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. &amp;&amp; git commit -m "..." &amp;&amp; git push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24448" y="1783080"/>
            <a:ext cx="5318608" cy="4160520"/>
          </a:xfrm>
          <a:prstGeom prst="roundRect">
            <a:avLst>
              <a:gd name="adj" fmla="val 1978"/>
            </a:avLst>
          </a:prstGeom>
          <a:solidFill>
            <a:srgbClr val="3DDC8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44488" y="2103120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644488" y="2468880"/>
            <a:ext cx="46785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 — Variables &amp; I/O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644488" y="3703320"/>
            <a:ext cx="467852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values well, reading input from the user with scanf, and locking values down with const.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DATA TYPES &amp; OPERATORS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Introduction to C Programming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Introduction to C Programming</dc:creator>
  <cp:lastModifiedBy>Introduction to C Programming</cp:lastModifiedBy>
  <cp:revision>1</cp:revision>
  <dcterms:created xsi:type="dcterms:W3CDTF">2026-09-14T07:01:23Z</dcterms:created>
  <dcterms:modified xsi:type="dcterms:W3CDTF">2026-09-14T07:01:23Z</dcterms:modified>
</cp:coreProperties>
</file>