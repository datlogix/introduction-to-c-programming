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a single-session module — it's a multi-week project spanning the rest of the term, run in teams via GitHub Classroom. Your job shifts from lecturing to coaching: forming teams correctly, catching struggling teams early via commit history, and holding every project to the same core requirements regardless of topic choice. Suggested duration: 2-3 weeks of class/lab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Announce your actual class size and resulting team size explicitly on day one — walk through this table live before students touch GitHub Classroom. Resolve 'I don't have a team yet' problems in this session, not by message later; mismatched team sizes are much harder to unwind once repos are provisioned. Approve 'daring' solo requests generously but honestly — a student not yet comfortable with Module 7's pointers will struggle more alone than in a pair, and going solo requires every stretch goal on top of the core work, not less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repo with every commit from one teammate and none from the other is a problem worth fixing early, not at the deadline — spot-check each team's commit history weekly starting in Sprint 1: are commits coming from more than one username? Small and frequent, or one giant dump? A quiet team with no visible struggle in their commits is not necessarily a team doing fine — check in verbally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Regardless of which project idea a team picks, this checklist is fixed and non-negotiable — it's what the whole course has been building toward, and what makes the project gradeable consistently across very different topics. This is also the moment in the struct design workshop (Sprint 0) to catch a team choosing a project that can't cleanly satisfy the struct+array+file-I/O requirement, and redirect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Have your own idea? Students may propose it — as long as it can satisfy every requirement on the previous slide, it's fair game. Keep the project menu open to genuine student proposals: the most engaged capstones are often the ones a team picked because they actually wanted to build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Commit at the end of every session you work, even if it's not finished — a commit history of one giant commit the night before the deadline is a red flag, not a shortcut. Treat these five sprints as checkpoints with visible git evidence, not just calendar dates: a team with no commits between Sprint 1 and Sprint 3 is a team to talk to immediately, not at the deadline.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Common misconception to pre-empt: 'the project is done once it compiles' — compiling is the minimum bar. Another: 'only whoever writes the most code deserves the most credit' — clarify that planning, testing, debugging, and documentation are real contributions, and commit history is used holistically, not as a strict line-count comparison. Close the module by having each team give a two-minute demo to the class — a public 'I built this' moment is a strong way to end a beginner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9692640" y="-1463040"/>
            <a:ext cx="4206240" cy="4206240"/>
          </a:xfrm>
          <a:prstGeom prst="ellipse">
            <a:avLst/>
          </a:prstGeom>
          <a:ln w="28575">
            <a:solidFill>
              <a:srgbClr val="16304F"/>
            </a:solidFill>
            <a:prstDash val="solid"/>
          </a:ln>
        </p:spPr>
      </p:sp>
      <p:sp>
        <p:nvSpPr>
          <p:cNvPr id="3" name="Text 1"/>
          <p:cNvSpPr txBox="1"/>
          <p:nvPr/>
        </p:nvSpPr>
        <p:spPr>
          <a:xfrm>
            <a:off x="6949440" y="914400"/>
            <a:ext cx="5120640" cy="5120640"/>
          </a:xfrm>
          <a:prstGeom prst="rect">
            <a:avLst/>
          </a:prstGeom>
          <a:noFill/>
          <a:ln/>
        </p:spPr>
        <p:txBody>
          <a:bodyPr wrap="square" lIns="0" tIns="0" rIns="0" bIns="0" rtlCol="0" anchor="ctr"/>
          <a:lstStyle/>
          <a:p>
            <a:pPr algn="r" indent="0" marL="0">
              <a:buNone/>
            </a:pPr>
            <a:r>
              <a:rPr lang="en-US" sz="32000" b="1" dirty="0">
                <a:solidFill>
                  <a:srgbClr val="16304F"/>
                </a:solidFill>
                <a:latin typeface="Cambria" pitchFamily="34" charset="0"/>
                <a:ea typeface="Cambria" pitchFamily="34" charset="-122"/>
                <a:cs typeface="Cambria" pitchFamily="34" charset="-120"/>
              </a:rPr>
              <a:t>09</a:t>
            </a:r>
            <a:endParaRPr lang="en-US" sz="32000" dirty="0"/>
          </a:p>
        </p:txBody>
      </p:sp>
      <p:sp>
        <p:nvSpPr>
          <p:cNvPr id="4" name="Shape 2"/>
          <p:cNvSpPr/>
          <p:nvPr/>
        </p:nvSpPr>
        <p:spPr>
          <a:xfrm>
            <a:off x="548640" y="1417320"/>
            <a:ext cx="512064" cy="512064"/>
          </a:xfrm>
          <a:prstGeom prst="ellipse">
            <a:avLst/>
          </a:prstGeom>
          <a:solidFill>
            <a:srgbClr val="16304F"/>
          </a:solidFill>
          <a:ln/>
        </p:spPr>
      </p:sp>
      <p:sp>
        <p:nvSpPr>
          <p:cNvPr id="5" name="Text 3"/>
          <p:cNvSpPr txBox="1"/>
          <p:nvPr/>
        </p:nvSpPr>
        <p:spPr>
          <a:xfrm>
            <a:off x="548640" y="1417320"/>
            <a:ext cx="512064" cy="512064"/>
          </a:xfrm>
          <a:prstGeom prst="rect">
            <a:avLst/>
          </a:prstGeom>
          <a:noFill/>
          <a:ln/>
        </p:spPr>
        <p:txBody>
          <a:bodyPr wrap="square" lIns="0" tIns="0" rIns="0" bIns="0" rtlCol="0" anchor="ctr"/>
          <a:lstStyle/>
          <a:p>
            <a:pPr algn="ctr" indent="0" marL="0">
              <a:buNone/>
            </a:pPr>
            <a:r>
              <a:rPr lang="en-US" sz="1800" b="1" dirty="0">
                <a:solidFill>
                  <a:srgbClr val="3DDC84"/>
                </a:solidFill>
                <a:latin typeface="Calibri" pitchFamily="34" charset="0"/>
                <a:ea typeface="Calibri" pitchFamily="34" charset="-122"/>
                <a:cs typeface="Calibri" pitchFamily="34" charset="-120"/>
              </a:rPr>
              <a:t>❯_</a:t>
            </a:r>
            <a:endParaRPr lang="en-US" sz="1800" dirty="0"/>
          </a:p>
        </p:txBody>
      </p:sp>
      <p:sp>
        <p:nvSpPr>
          <p:cNvPr id="6" name="Text 4"/>
          <p:cNvSpPr txBox="1"/>
          <p:nvPr/>
        </p:nvSpPr>
        <p:spPr>
          <a:xfrm>
            <a:off x="1207008" y="1417320"/>
            <a:ext cx="5486400" cy="512064"/>
          </a:xfrm>
          <a:prstGeom prst="rect">
            <a:avLst/>
          </a:prstGeom>
          <a:noFill/>
          <a:ln/>
        </p:spPr>
        <p:txBody>
          <a:bodyPr wrap="square" lIns="0" tIns="0" rIns="0" bIns="0" rtlCol="0" anchor="ctr"/>
          <a:lstStyle/>
          <a:p>
            <a:pPr indent="0" marL="0">
              <a:buNone/>
            </a:pPr>
            <a:r>
              <a:rPr lang="en-US" sz="1200" b="1" spc="100" kern="0" dirty="0">
                <a:solidFill>
                  <a:srgbClr val="8CA3C2"/>
                </a:solidFill>
                <a:latin typeface="Calibri" pitchFamily="34" charset="0"/>
                <a:ea typeface="Calibri" pitchFamily="34" charset="-122"/>
                <a:cs typeface="Calibri" pitchFamily="34" charset="-120"/>
              </a:rPr>
              <a:t>INTRODUCTION TO C PROGRAMMING</a:t>
            </a:r>
            <a:endParaRPr lang="en-US" sz="1200" dirty="0"/>
          </a:p>
        </p:txBody>
      </p:sp>
      <p:sp>
        <p:nvSpPr>
          <p:cNvPr id="7" name="Shape 5"/>
          <p:cNvSpPr/>
          <p:nvPr/>
        </p:nvSpPr>
        <p:spPr>
          <a:xfrm>
            <a:off x="548640" y="2331720"/>
            <a:ext cx="833201" cy="310896"/>
          </a:xfrm>
          <a:prstGeom prst="roundRect">
            <a:avLst>
              <a:gd name="adj" fmla="val 50000"/>
            </a:avLst>
          </a:prstGeom>
          <a:solidFill>
            <a:srgbClr val="16304F"/>
          </a:solidFill>
          <a:ln/>
        </p:spPr>
      </p:sp>
      <p:sp>
        <p:nvSpPr>
          <p:cNvPr id="8" name="Text 6"/>
          <p:cNvSpPr txBox="1"/>
          <p:nvPr/>
        </p:nvSpPr>
        <p:spPr>
          <a:xfrm>
            <a:off x="548640" y="2331720"/>
            <a:ext cx="833201" cy="310896"/>
          </a:xfrm>
          <a:prstGeom prst="rect">
            <a:avLst/>
          </a:prstGeom>
          <a:noFill/>
          <a:ln/>
        </p:spPr>
        <p:txBody>
          <a:bodyPr wrap="square" lIns="0" tIns="0" rIns="0" bIns="0" rtlCol="0" anchor="ctr"/>
          <a:lstStyle/>
          <a:p>
            <a:pPr algn="ctr" indent="0" marL="0">
              <a:buNone/>
            </a:pPr>
            <a:r>
              <a:rPr lang="en-US" sz="1100" b="1" spc="100" kern="0" dirty="0">
                <a:solidFill>
                  <a:srgbClr val="3DDC84"/>
                </a:solidFill>
                <a:latin typeface="Calibri" pitchFamily="34" charset="0"/>
                <a:ea typeface="Calibri" pitchFamily="34" charset="-122"/>
                <a:cs typeface="Calibri" pitchFamily="34" charset="-120"/>
              </a:rPr>
              <a:t>MODULE 9</a:t>
            </a:r>
            <a:endParaRPr lang="en-US" sz="1100" dirty="0"/>
          </a:p>
        </p:txBody>
      </p:sp>
      <p:sp>
        <p:nvSpPr>
          <p:cNvPr id="9" name="Text 7"/>
          <p:cNvSpPr txBox="1"/>
          <p:nvPr/>
        </p:nvSpPr>
        <p:spPr>
          <a:xfrm>
            <a:off x="548640" y="2788920"/>
            <a:ext cx="8778240" cy="1737360"/>
          </a:xfrm>
          <a:prstGeom prst="rect">
            <a:avLst/>
          </a:prstGeom>
          <a:noFill/>
          <a:ln/>
        </p:spPr>
        <p:txBody>
          <a:bodyPr wrap="square" lIns="0" tIns="0" rIns="0" bIns="0" rtlCol="0" anchor="t"/>
          <a:lstStyle/>
          <a:p>
            <a:pPr indent="0" marL="0">
              <a:buNone/>
            </a:pPr>
            <a:r>
              <a:rPr lang="en-US" sz="4400" b="1" dirty="0">
                <a:solidFill>
                  <a:srgbClr val="F5F8FC"/>
                </a:solidFill>
                <a:latin typeface="Cambria" pitchFamily="34" charset="0"/>
                <a:ea typeface="Cambria" pitchFamily="34" charset="-122"/>
                <a:cs typeface="Cambria" pitchFamily="34" charset="-120"/>
              </a:rPr>
              <a:t>Capstone Project</a:t>
            </a:r>
            <a:endParaRPr lang="en-US" sz="4400" dirty="0"/>
          </a:p>
        </p:txBody>
      </p:sp>
      <p:sp>
        <p:nvSpPr>
          <p:cNvPr id="10" name="Text 8"/>
          <p:cNvSpPr txBox="1"/>
          <p:nvPr/>
        </p:nvSpPr>
        <p:spPr>
          <a:xfrm>
            <a:off x="548640" y="4343400"/>
            <a:ext cx="8412480" cy="731520"/>
          </a:xfrm>
          <a:prstGeom prst="rect">
            <a:avLst/>
          </a:prstGeom>
          <a:noFill/>
          <a:ln/>
        </p:spPr>
        <p:txBody>
          <a:bodyPr wrap="square" lIns="0" tIns="0" rIns="0" bIns="0" rtlCol="0" anchor="t"/>
          <a:lstStyle/>
          <a:p>
            <a:pPr indent="0" marL="0">
              <a:buNone/>
            </a:pPr>
            <a:r>
              <a:rPr lang="en-US" sz="1800" dirty="0">
                <a:solidFill>
                  <a:srgbClr val="8CA3C2"/>
                </a:solidFill>
                <a:latin typeface="Calibri" pitchFamily="34" charset="0"/>
                <a:ea typeface="Calibri" pitchFamily="34" charset="-122"/>
                <a:cs typeface="Calibri" pitchFamily="34" charset="-120"/>
              </a:rPr>
              <a:t>Variables, control structures, arrays, strings, functions, pointers, structs, and file I/O — combined into one real program.</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48640" y="502920"/>
            <a:ext cx="1307226" cy="310896"/>
          </a:xfrm>
          <a:prstGeom prst="roundRect">
            <a:avLst>
              <a:gd name="adj" fmla="val 50000"/>
            </a:avLst>
          </a:prstGeom>
          <a:solidFill>
            <a:srgbClr val="0B1F3A"/>
          </a:solidFill>
          <a:ln/>
        </p:spPr>
      </p:sp>
      <p:sp>
        <p:nvSpPr>
          <p:cNvPr id="3" name="Text 1"/>
          <p:cNvSpPr txBox="1"/>
          <p:nvPr/>
        </p:nvSpPr>
        <p:spPr>
          <a:xfrm>
            <a:off x="548640" y="502920"/>
            <a:ext cx="1307226" cy="310896"/>
          </a:xfrm>
          <a:prstGeom prst="rect">
            <a:avLst/>
          </a:prstGeom>
          <a:noFill/>
          <a:ln/>
        </p:spPr>
        <p:txBody>
          <a:bodyPr wrap="square" lIns="0" tIns="0" rIns="0" bIns="0" rtlCol="0" anchor="ctr"/>
          <a:lstStyle/>
          <a:p>
            <a:pPr algn="ctr" indent="0" marL="0">
              <a:buNone/>
            </a:pPr>
            <a:r>
              <a:rPr lang="en-US" sz="1100" b="1" spc="100" kern="0" dirty="0">
                <a:solidFill>
                  <a:srgbClr val="3DDC84"/>
                </a:solidFill>
                <a:latin typeface="Calibri" pitchFamily="34" charset="0"/>
                <a:ea typeface="Calibri" pitchFamily="34" charset="-122"/>
                <a:cs typeface="Calibri" pitchFamily="34" charset="-120"/>
              </a:rPr>
              <a:t>TEAM FORMATION</a:t>
            </a:r>
            <a:endParaRPr lang="en-US" sz="1100" dirty="0"/>
          </a:p>
        </p:txBody>
      </p:sp>
      <p:sp>
        <p:nvSpPr>
          <p:cNvPr id="4" name="Text 2"/>
          <p:cNvSpPr txBox="1"/>
          <p:nvPr/>
        </p:nvSpPr>
        <p:spPr>
          <a:xfrm>
            <a:off x="548640" y="960120"/>
            <a:ext cx="11094415" cy="822960"/>
          </a:xfrm>
          <a:prstGeom prst="rect">
            <a:avLst/>
          </a:prstGeom>
          <a:noFill/>
          <a:ln/>
        </p:spPr>
        <p:txBody>
          <a:bodyPr wrap="square" lIns="0" tIns="0" rIns="0" bIns="0" rtlCol="0" anchor="t"/>
          <a:lstStyle/>
          <a:p>
            <a:pPr algn="l" indent="0" marL="0">
              <a:buNone/>
            </a:pPr>
            <a:r>
              <a:rPr lang="en-US" sz="2800" b="1" dirty="0">
                <a:solidFill>
                  <a:srgbClr val="132038"/>
                </a:solidFill>
                <a:latin typeface="Cambria" pitchFamily="34" charset="0"/>
                <a:ea typeface="Cambria" pitchFamily="34" charset="-122"/>
                <a:cs typeface="Cambria" pitchFamily="34" charset="-120"/>
              </a:rPr>
              <a:t>How teams are formed</a:t>
            </a:r>
            <a:endParaRPr lang="en-US" sz="2800" dirty="0"/>
          </a:p>
        </p:txBody>
      </p:sp>
      <p:sp>
        <p:nvSpPr>
          <p:cNvPr id="5" name="Shape 3"/>
          <p:cNvSpPr/>
          <p:nvPr/>
        </p:nvSpPr>
        <p:spPr>
          <a:xfrm>
            <a:off x="548640" y="1874520"/>
            <a:ext cx="3527450" cy="3566160"/>
          </a:xfrm>
          <a:prstGeom prst="roundRect">
            <a:avLst>
              <a:gd name="adj" fmla="val 2592"/>
            </a:avLst>
          </a:prstGeom>
          <a:solidFill>
            <a:srgbClr val="FFFFFF"/>
          </a:solidFill>
          <a:ln w="12700">
            <a:solidFill>
              <a:srgbClr val="DCE2EC"/>
            </a:solidFill>
            <a:prstDash val="solid"/>
          </a:ln>
        </p:spPr>
      </p:sp>
      <p:sp>
        <p:nvSpPr>
          <p:cNvPr id="6" name="Text 4"/>
          <p:cNvSpPr txBox="1"/>
          <p:nvPr/>
        </p:nvSpPr>
        <p:spPr>
          <a:xfrm>
            <a:off x="731520" y="2148840"/>
            <a:ext cx="3161690" cy="914400"/>
          </a:xfrm>
          <a:prstGeom prst="rect">
            <a:avLst/>
          </a:prstGeom>
          <a:noFill/>
          <a:ln/>
        </p:spPr>
        <p:txBody>
          <a:bodyPr wrap="square" lIns="0" tIns="0" rIns="0" bIns="0" rtlCol="0" anchor="ctr"/>
          <a:lstStyle/>
          <a:p>
            <a:pPr algn="ctr" indent="0" marL="0">
              <a:buNone/>
            </a:pPr>
            <a:r>
              <a:rPr lang="en-US" sz="3400" b="1" dirty="0">
                <a:solidFill>
                  <a:srgbClr val="0B1F3A"/>
                </a:solidFill>
                <a:latin typeface="Cambria" pitchFamily="34" charset="0"/>
                <a:ea typeface="Cambria" pitchFamily="34" charset="-122"/>
                <a:cs typeface="Cambria" pitchFamily="34" charset="-120"/>
              </a:rPr>
              <a:t>2:1</a:t>
            </a:r>
            <a:endParaRPr lang="en-US" sz="3400" dirty="0"/>
          </a:p>
        </p:txBody>
      </p:sp>
      <p:sp>
        <p:nvSpPr>
          <p:cNvPr id="7" name="Shape 5"/>
          <p:cNvSpPr/>
          <p:nvPr/>
        </p:nvSpPr>
        <p:spPr>
          <a:xfrm>
            <a:off x="1855165" y="3108960"/>
            <a:ext cx="914400" cy="0"/>
          </a:xfrm>
          <a:prstGeom prst="line">
            <a:avLst/>
          </a:prstGeom>
          <a:noFill/>
          <a:ln w="28575">
            <a:solidFill>
              <a:srgbClr val="3DDC84"/>
            </a:solidFill>
            <a:prstDash val="solid"/>
          </a:ln>
        </p:spPr>
      </p:sp>
      <p:sp>
        <p:nvSpPr>
          <p:cNvPr id="8" name="Text 6"/>
          <p:cNvSpPr txBox="1"/>
          <p:nvPr/>
        </p:nvSpPr>
        <p:spPr>
          <a:xfrm>
            <a:off x="731520" y="3246120"/>
            <a:ext cx="3161690" cy="411480"/>
          </a:xfrm>
          <a:prstGeom prst="rect">
            <a:avLst/>
          </a:prstGeom>
          <a:noFill/>
          <a:ln/>
        </p:spPr>
        <p:txBody>
          <a:bodyPr wrap="square" lIns="0" tIns="0" rIns="0" bIns="0" rtlCol="0" anchor="ctr"/>
          <a:lstStyle/>
          <a:p>
            <a:pPr algn="ctr" indent="0" marL="0">
              <a:buNone/>
            </a:pPr>
            <a:r>
              <a:rPr lang="en-US" sz="1500" b="1" dirty="0">
                <a:solidFill>
                  <a:srgbClr val="132038"/>
                </a:solidFill>
                <a:latin typeface="Cambria" pitchFamily="34" charset="0"/>
                <a:ea typeface="Cambria" pitchFamily="34" charset="-122"/>
                <a:cs typeface="Cambria" pitchFamily="34" charset="-120"/>
              </a:rPr>
              <a:t>Up to 20 students</a:t>
            </a:r>
            <a:endParaRPr lang="en-US" sz="1500" dirty="0"/>
          </a:p>
        </p:txBody>
      </p:sp>
      <p:sp>
        <p:nvSpPr>
          <p:cNvPr id="9" name="Text 7"/>
          <p:cNvSpPr txBox="1"/>
          <p:nvPr/>
        </p:nvSpPr>
        <p:spPr>
          <a:xfrm>
            <a:off x="777240" y="3749040"/>
            <a:ext cx="3070250" cy="1554480"/>
          </a:xfrm>
          <a:prstGeom prst="rect">
            <a:avLst/>
          </a:prstGeom>
          <a:noFill/>
          <a:ln/>
        </p:spPr>
        <p:txBody>
          <a:bodyPr wrap="square" lIns="0" tIns="0" rIns="0" bIns="0" rtlCol="0" anchor="t"/>
          <a:lstStyle/>
          <a:p>
            <a:pPr algn="ctr" indent="0" marL="0">
              <a:buNone/>
            </a:pPr>
            <a:r>
              <a:rPr lang="en-US" sz="1200" dirty="0">
                <a:solidFill>
                  <a:srgbClr val="30425E"/>
                </a:solidFill>
                <a:latin typeface="Calibri" pitchFamily="34" charset="0"/>
                <a:ea typeface="Calibri" pitchFamily="34" charset="-122"/>
                <a:cs typeface="Calibri" pitchFamily="34" charset="-120"/>
              </a:rPr>
              <a:t>Pairs. The default team size for a typical class.</a:t>
            </a:r>
            <a:endParaRPr lang="en-US" sz="1200" dirty="0"/>
          </a:p>
        </p:txBody>
      </p:sp>
      <p:sp>
        <p:nvSpPr>
          <p:cNvPr id="10" name="Shape 8"/>
          <p:cNvSpPr/>
          <p:nvPr/>
        </p:nvSpPr>
        <p:spPr>
          <a:xfrm>
            <a:off x="4332122" y="1874520"/>
            <a:ext cx="3527450" cy="3566160"/>
          </a:xfrm>
          <a:prstGeom prst="roundRect">
            <a:avLst>
              <a:gd name="adj" fmla="val 2592"/>
            </a:avLst>
          </a:prstGeom>
          <a:solidFill>
            <a:srgbClr val="FFFFFF"/>
          </a:solidFill>
          <a:ln w="12700">
            <a:solidFill>
              <a:srgbClr val="DCE2EC"/>
            </a:solidFill>
            <a:prstDash val="solid"/>
          </a:ln>
        </p:spPr>
      </p:sp>
      <p:sp>
        <p:nvSpPr>
          <p:cNvPr id="11" name="Text 9"/>
          <p:cNvSpPr txBox="1"/>
          <p:nvPr/>
        </p:nvSpPr>
        <p:spPr>
          <a:xfrm>
            <a:off x="4515002" y="2148840"/>
            <a:ext cx="3161690" cy="914400"/>
          </a:xfrm>
          <a:prstGeom prst="rect">
            <a:avLst/>
          </a:prstGeom>
          <a:noFill/>
          <a:ln/>
        </p:spPr>
        <p:txBody>
          <a:bodyPr wrap="square" lIns="0" tIns="0" rIns="0" bIns="0" rtlCol="0" anchor="ctr"/>
          <a:lstStyle/>
          <a:p>
            <a:pPr algn="ctr" indent="0" marL="0">
              <a:buNone/>
            </a:pPr>
            <a:r>
              <a:rPr lang="en-US" sz="3400" b="1" dirty="0">
                <a:solidFill>
                  <a:srgbClr val="0B1F3A"/>
                </a:solidFill>
                <a:latin typeface="Cambria" pitchFamily="34" charset="0"/>
                <a:ea typeface="Cambria" pitchFamily="34" charset="-122"/>
                <a:cs typeface="Cambria" pitchFamily="34" charset="-120"/>
              </a:rPr>
              <a:t>4:1</a:t>
            </a:r>
            <a:endParaRPr lang="en-US" sz="3400" dirty="0"/>
          </a:p>
        </p:txBody>
      </p:sp>
      <p:sp>
        <p:nvSpPr>
          <p:cNvPr id="12" name="Shape 10"/>
          <p:cNvSpPr/>
          <p:nvPr/>
        </p:nvSpPr>
        <p:spPr>
          <a:xfrm>
            <a:off x="5638648" y="3108960"/>
            <a:ext cx="914400" cy="0"/>
          </a:xfrm>
          <a:prstGeom prst="line">
            <a:avLst/>
          </a:prstGeom>
          <a:noFill/>
          <a:ln w="28575">
            <a:solidFill>
              <a:srgbClr val="3DDC84"/>
            </a:solidFill>
            <a:prstDash val="solid"/>
          </a:ln>
        </p:spPr>
      </p:sp>
      <p:sp>
        <p:nvSpPr>
          <p:cNvPr id="13" name="Text 11"/>
          <p:cNvSpPr txBox="1"/>
          <p:nvPr/>
        </p:nvSpPr>
        <p:spPr>
          <a:xfrm>
            <a:off x="4515002" y="3246120"/>
            <a:ext cx="3161690" cy="411480"/>
          </a:xfrm>
          <a:prstGeom prst="rect">
            <a:avLst/>
          </a:prstGeom>
          <a:noFill/>
          <a:ln/>
        </p:spPr>
        <p:txBody>
          <a:bodyPr wrap="square" lIns="0" tIns="0" rIns="0" bIns="0" rtlCol="0" anchor="ctr"/>
          <a:lstStyle/>
          <a:p>
            <a:pPr algn="ctr" indent="0" marL="0">
              <a:buNone/>
            </a:pPr>
            <a:r>
              <a:rPr lang="en-US" sz="1500" b="1" dirty="0">
                <a:solidFill>
                  <a:srgbClr val="132038"/>
                </a:solidFill>
                <a:latin typeface="Cambria" pitchFamily="34" charset="0"/>
                <a:ea typeface="Cambria" pitchFamily="34" charset="-122"/>
                <a:cs typeface="Cambria" pitchFamily="34" charset="-120"/>
              </a:rPr>
              <a:t>More than 20 students</a:t>
            </a:r>
            <a:endParaRPr lang="en-US" sz="1500" dirty="0"/>
          </a:p>
        </p:txBody>
      </p:sp>
      <p:sp>
        <p:nvSpPr>
          <p:cNvPr id="14" name="Text 12"/>
          <p:cNvSpPr txBox="1"/>
          <p:nvPr/>
        </p:nvSpPr>
        <p:spPr>
          <a:xfrm>
            <a:off x="4560722" y="3749040"/>
            <a:ext cx="3070250" cy="1554480"/>
          </a:xfrm>
          <a:prstGeom prst="rect">
            <a:avLst/>
          </a:prstGeom>
          <a:noFill/>
          <a:ln/>
        </p:spPr>
        <p:txBody>
          <a:bodyPr wrap="square" lIns="0" tIns="0" rIns="0" bIns="0" rtlCol="0" anchor="t"/>
          <a:lstStyle/>
          <a:p>
            <a:pPr algn="ctr" indent="0" marL="0">
              <a:buNone/>
            </a:pPr>
            <a:r>
              <a:rPr lang="en-US" sz="1200" dirty="0">
                <a:solidFill>
                  <a:srgbClr val="30425E"/>
                </a:solidFill>
                <a:latin typeface="Calibri" pitchFamily="34" charset="0"/>
                <a:ea typeface="Calibri" pitchFamily="34" charset="-122"/>
                <a:cs typeface="Calibri" pitchFamily="34" charset="-120"/>
              </a:rPr>
              <a:t>Groups of 4. Team size is enforced by GitHub Classroom — it won't let you overfill it.</a:t>
            </a:r>
            <a:endParaRPr lang="en-US" sz="1200" dirty="0"/>
          </a:p>
        </p:txBody>
      </p:sp>
      <p:sp>
        <p:nvSpPr>
          <p:cNvPr id="15" name="Shape 13"/>
          <p:cNvSpPr/>
          <p:nvPr/>
        </p:nvSpPr>
        <p:spPr>
          <a:xfrm>
            <a:off x="8115605" y="1874520"/>
            <a:ext cx="3527450" cy="3566160"/>
          </a:xfrm>
          <a:prstGeom prst="roundRect">
            <a:avLst>
              <a:gd name="adj" fmla="val 2592"/>
            </a:avLst>
          </a:prstGeom>
          <a:solidFill>
            <a:srgbClr val="FFFFFF"/>
          </a:solidFill>
          <a:ln w="12700">
            <a:solidFill>
              <a:srgbClr val="DCE2EC"/>
            </a:solidFill>
            <a:prstDash val="solid"/>
          </a:ln>
        </p:spPr>
      </p:sp>
      <p:sp>
        <p:nvSpPr>
          <p:cNvPr id="16" name="Text 14"/>
          <p:cNvSpPr txBox="1"/>
          <p:nvPr/>
        </p:nvSpPr>
        <p:spPr>
          <a:xfrm>
            <a:off x="8298485" y="2148840"/>
            <a:ext cx="3161690" cy="914400"/>
          </a:xfrm>
          <a:prstGeom prst="rect">
            <a:avLst/>
          </a:prstGeom>
          <a:noFill/>
          <a:ln/>
        </p:spPr>
        <p:txBody>
          <a:bodyPr wrap="square" lIns="0" tIns="0" rIns="0" bIns="0" rtlCol="0" anchor="ctr"/>
          <a:lstStyle/>
          <a:p>
            <a:pPr algn="ctr" indent="0" marL="0">
              <a:buNone/>
            </a:pPr>
            <a:r>
              <a:rPr lang="en-US" sz="3400" b="1" dirty="0">
                <a:solidFill>
                  <a:srgbClr val="0B1F3A"/>
                </a:solidFill>
                <a:latin typeface="Cambria" pitchFamily="34" charset="0"/>
                <a:ea typeface="Cambria" pitchFamily="34" charset="-122"/>
                <a:cs typeface="Cambria" pitchFamily="34" charset="-120"/>
              </a:rPr>
              <a:t>1:1</a:t>
            </a:r>
            <a:endParaRPr lang="en-US" sz="3400" dirty="0"/>
          </a:p>
        </p:txBody>
      </p:sp>
      <p:sp>
        <p:nvSpPr>
          <p:cNvPr id="17" name="Shape 15"/>
          <p:cNvSpPr/>
          <p:nvPr/>
        </p:nvSpPr>
        <p:spPr>
          <a:xfrm>
            <a:off x="9422130" y="3108960"/>
            <a:ext cx="914400" cy="0"/>
          </a:xfrm>
          <a:prstGeom prst="line">
            <a:avLst/>
          </a:prstGeom>
          <a:noFill/>
          <a:ln w="28575">
            <a:solidFill>
              <a:srgbClr val="3DDC84"/>
            </a:solidFill>
            <a:prstDash val="solid"/>
          </a:ln>
        </p:spPr>
      </p:sp>
      <p:sp>
        <p:nvSpPr>
          <p:cNvPr id="18" name="Text 16"/>
          <p:cNvSpPr txBox="1"/>
          <p:nvPr/>
        </p:nvSpPr>
        <p:spPr>
          <a:xfrm>
            <a:off x="8298485" y="3246120"/>
            <a:ext cx="3161690" cy="411480"/>
          </a:xfrm>
          <a:prstGeom prst="rect">
            <a:avLst/>
          </a:prstGeom>
          <a:noFill/>
          <a:ln/>
        </p:spPr>
        <p:txBody>
          <a:bodyPr wrap="square" lIns="0" tIns="0" rIns="0" bIns="0" rtlCol="0" anchor="ctr"/>
          <a:lstStyle/>
          <a:p>
            <a:pPr algn="ctr" indent="0" marL="0">
              <a:buNone/>
            </a:pPr>
            <a:r>
              <a:rPr lang="en-US" sz="1500" b="1" dirty="0">
                <a:solidFill>
                  <a:srgbClr val="132038"/>
                </a:solidFill>
                <a:latin typeface="Cambria" pitchFamily="34" charset="0"/>
                <a:ea typeface="Cambria" pitchFamily="34" charset="-122"/>
                <a:cs typeface="Cambria" pitchFamily="34" charset="-120"/>
              </a:rPr>
              <a:t>Approved “daring” students</a:t>
            </a:r>
            <a:endParaRPr lang="en-US" sz="1500" dirty="0"/>
          </a:p>
        </p:txBody>
      </p:sp>
      <p:sp>
        <p:nvSpPr>
          <p:cNvPr id="19" name="Text 17"/>
          <p:cNvSpPr txBox="1"/>
          <p:nvPr/>
        </p:nvSpPr>
        <p:spPr>
          <a:xfrm>
            <a:off x="8344205" y="3749040"/>
            <a:ext cx="3070250" cy="1554480"/>
          </a:xfrm>
          <a:prstGeom prst="rect">
            <a:avLst/>
          </a:prstGeom>
          <a:noFill/>
          <a:ln/>
        </p:spPr>
        <p:txBody>
          <a:bodyPr wrap="square" lIns="0" tIns="0" rIns="0" bIns="0" rtlCol="0" anchor="t"/>
          <a:lstStyle/>
          <a:p>
            <a:pPr algn="ctr" indent="0" marL="0">
              <a:buNone/>
            </a:pPr>
            <a:r>
              <a:rPr lang="en-US" sz="1200" dirty="0">
                <a:solidFill>
                  <a:srgbClr val="30425E"/>
                </a:solidFill>
                <a:latin typeface="Calibri" pitchFamily="34" charset="0"/>
                <a:ea typeface="Calibri" pitchFamily="34" charset="-122"/>
                <a:cs typeface="Calibri" pitchFamily="34" charset="-120"/>
              </a:rPr>
              <a:t>Solo, any class size. Same core requirements PLUS every stretch goal for your chosen project — not a smaller workload.</a:t>
            </a:r>
            <a:endParaRPr lang="en-US" sz="1200" dirty="0"/>
          </a:p>
        </p:txBody>
      </p:sp>
      <p:sp>
        <p:nvSpPr>
          <p:cNvPr id="20" name="Shape 18"/>
          <p:cNvSpPr/>
          <p:nvPr/>
        </p:nvSpPr>
        <p:spPr>
          <a:xfrm>
            <a:off x="548640" y="5623560"/>
            <a:ext cx="11094415" cy="502920"/>
          </a:xfrm>
          <a:prstGeom prst="roundRect">
            <a:avLst>
              <a:gd name="adj" fmla="val 14545"/>
            </a:avLst>
          </a:prstGeom>
          <a:solidFill>
            <a:srgbClr val="E4F9ED"/>
          </a:solidFill>
          <a:ln/>
          <a:effectLst>
            <a:outerShdw sx="100000" sy="100000" kx="0" ky="0" algn="bl" rotWithShape="0" blurRad="101600" dist="38100" dir="5400000">
              <a:srgbClr val="0B1F3A">
                <a:alpha val="28000"/>
              </a:srgbClr>
            </a:outerShdw>
          </a:effectLst>
        </p:spPr>
      </p:sp>
      <p:sp>
        <p:nvSpPr>
          <p:cNvPr id="21" name="Text 19"/>
          <p:cNvSpPr txBox="1"/>
          <p:nvPr/>
        </p:nvSpPr>
        <p:spPr>
          <a:xfrm>
            <a:off x="731520" y="5623560"/>
            <a:ext cx="10728655" cy="502920"/>
          </a:xfrm>
          <a:prstGeom prst="rect">
            <a:avLst/>
          </a:prstGeom>
          <a:noFill/>
          <a:ln/>
        </p:spPr>
        <p:txBody>
          <a:bodyPr wrap="square" lIns="0" tIns="0" rIns="0" bIns="0" rtlCol="0" anchor="ctr"/>
          <a:lstStyle/>
          <a:p>
            <a:pPr indent="0" marL="0">
              <a:buNone/>
            </a:pPr>
            <a:r>
              <a:rPr lang="en-US" sz="1200" dirty="0">
                <a:solidFill>
                  <a:srgbClr val="156B3F"/>
                </a:solidFill>
                <a:latin typeface="Calibri" pitchFamily="34" charset="0"/>
                <a:ea typeface="Calibri" pitchFamily="34" charset="-122"/>
                <a:cs typeface="Calibri" pitchFamily="34" charset="-120"/>
              </a:rPr>
              <a:t>Going solo is a good fit if you're already comfortable through Module 8 and want the extra stretch — not a reward for avoiding teammates.</a:t>
            </a:r>
            <a:endParaRPr lang="en-US" sz="1200" dirty="0"/>
          </a:p>
        </p:txBody>
      </p:sp>
      <p:sp>
        <p:nvSpPr>
          <p:cNvPr id="22" name="Text 20"/>
          <p:cNvSpPr txBox="1"/>
          <p:nvPr/>
        </p:nvSpPr>
        <p:spPr>
          <a:xfrm>
            <a:off x="548640" y="6473952"/>
            <a:ext cx="6400800" cy="274320"/>
          </a:xfrm>
          <a:prstGeom prst="rect">
            <a:avLst/>
          </a:prstGeom>
          <a:noFill/>
          <a:ln/>
        </p:spPr>
        <p:txBody>
          <a:bodyPr wrap="square" lIns="0" tIns="0" rIns="0" bIns="0" rtlCol="0" anchor="ctr"/>
          <a:lstStyle/>
          <a:p>
            <a:pPr indent="0" marL="0">
              <a:buNone/>
            </a:pPr>
            <a:r>
              <a:rPr lang="en-US" sz="900" dirty="0">
                <a:solidFill>
                  <a:srgbClr val="5B6B82"/>
                </a:solidFill>
                <a:latin typeface="Calibri" pitchFamily="34" charset="0"/>
                <a:ea typeface="Calibri" pitchFamily="34" charset="-122"/>
                <a:cs typeface="Calibri" pitchFamily="34" charset="-120"/>
              </a:rPr>
              <a:t>MODULE 9 — CAPSTONE PROJECT</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48640" y="502920"/>
            <a:ext cx="833201" cy="310896"/>
          </a:xfrm>
          <a:prstGeom prst="roundRect">
            <a:avLst>
              <a:gd name="adj" fmla="val 50000"/>
            </a:avLst>
          </a:prstGeom>
          <a:solidFill>
            <a:srgbClr val="0B1F3A"/>
          </a:solidFill>
          <a:ln/>
        </p:spPr>
      </p:sp>
      <p:sp>
        <p:nvSpPr>
          <p:cNvPr id="3" name="Text 1"/>
          <p:cNvSpPr txBox="1"/>
          <p:nvPr/>
        </p:nvSpPr>
        <p:spPr>
          <a:xfrm>
            <a:off x="548640" y="502920"/>
            <a:ext cx="833201" cy="310896"/>
          </a:xfrm>
          <a:prstGeom prst="rect">
            <a:avLst/>
          </a:prstGeom>
          <a:noFill/>
          <a:ln/>
        </p:spPr>
        <p:txBody>
          <a:bodyPr wrap="square" lIns="0" tIns="0" rIns="0" bIns="0" rtlCol="0" anchor="ctr"/>
          <a:lstStyle/>
          <a:p>
            <a:pPr algn="ctr" indent="0" marL="0">
              <a:buNone/>
            </a:pPr>
            <a:r>
              <a:rPr lang="en-US" sz="1100" b="1" spc="100" kern="0" dirty="0">
                <a:solidFill>
                  <a:srgbClr val="3DDC84"/>
                </a:solidFill>
                <a:latin typeface="Calibri" pitchFamily="34" charset="0"/>
                <a:ea typeface="Calibri" pitchFamily="34" charset="-122"/>
                <a:cs typeface="Calibri" pitchFamily="34" charset="-120"/>
              </a:rPr>
              <a:t>WORKFLOW</a:t>
            </a:r>
            <a:endParaRPr lang="en-US" sz="1100" dirty="0"/>
          </a:p>
        </p:txBody>
      </p:sp>
      <p:sp>
        <p:nvSpPr>
          <p:cNvPr id="4" name="Text 2"/>
          <p:cNvSpPr txBox="1"/>
          <p:nvPr/>
        </p:nvSpPr>
        <p:spPr>
          <a:xfrm>
            <a:off x="548640" y="960120"/>
            <a:ext cx="11094415" cy="822960"/>
          </a:xfrm>
          <a:prstGeom prst="rect">
            <a:avLst/>
          </a:prstGeom>
          <a:noFill/>
          <a:ln/>
        </p:spPr>
        <p:txBody>
          <a:bodyPr wrap="square" lIns="0" tIns="0" rIns="0" bIns="0" rtlCol="0" anchor="t"/>
          <a:lstStyle/>
          <a:p>
            <a:pPr algn="l" indent="0" marL="0">
              <a:buNone/>
            </a:pPr>
            <a:r>
              <a:rPr lang="en-US" sz="2800" b="1" dirty="0">
                <a:solidFill>
                  <a:srgbClr val="132038"/>
                </a:solidFill>
                <a:latin typeface="Cambria" pitchFamily="34" charset="0"/>
                <a:ea typeface="Cambria" pitchFamily="34" charset="-122"/>
                <a:cs typeface="Cambria" pitchFamily="34" charset="-120"/>
              </a:rPr>
              <a:t>Forming your team in GitHub Classroom</a:t>
            </a:r>
            <a:endParaRPr lang="en-US" sz="2800" dirty="0"/>
          </a:p>
        </p:txBody>
      </p:sp>
      <p:sp>
        <p:nvSpPr>
          <p:cNvPr id="5" name="Shape 3"/>
          <p:cNvSpPr/>
          <p:nvPr/>
        </p:nvSpPr>
        <p:spPr>
          <a:xfrm>
            <a:off x="777240" y="2057400"/>
            <a:ext cx="0" cy="6784848"/>
          </a:xfrm>
          <a:prstGeom prst="line">
            <a:avLst/>
          </a:prstGeom>
          <a:noFill/>
          <a:ln w="25400">
            <a:solidFill>
              <a:srgbClr val="DCE2EC"/>
            </a:solidFill>
            <a:prstDash val="solid"/>
          </a:ln>
        </p:spPr>
      </p:sp>
      <p:sp>
        <p:nvSpPr>
          <p:cNvPr id="6" name="Shape 4"/>
          <p:cNvSpPr/>
          <p:nvPr/>
        </p:nvSpPr>
        <p:spPr>
          <a:xfrm>
            <a:off x="548640" y="1874520"/>
            <a:ext cx="457200" cy="457200"/>
          </a:xfrm>
          <a:prstGeom prst="ellipse">
            <a:avLst/>
          </a:prstGeom>
          <a:solidFill>
            <a:srgbClr val="0B1F3A"/>
          </a:solidFill>
          <a:ln/>
        </p:spPr>
      </p:sp>
      <p:sp>
        <p:nvSpPr>
          <p:cNvPr id="7" name="Text 5"/>
          <p:cNvSpPr txBox="1"/>
          <p:nvPr/>
        </p:nvSpPr>
        <p:spPr>
          <a:xfrm>
            <a:off x="548640" y="1874520"/>
            <a:ext cx="457200" cy="457200"/>
          </a:xfrm>
          <a:prstGeom prst="rect">
            <a:avLst/>
          </a:prstGeom>
          <a:noFill/>
          <a:ln/>
        </p:spPr>
        <p:txBody>
          <a:bodyPr wrap="square" lIns="0" tIns="0" rIns="0" bIns="0" rtlCol="0" anchor="ctr"/>
          <a:lstStyle/>
          <a:p>
            <a:pPr algn="ctr" indent="0" marL="0">
              <a:buNone/>
            </a:pPr>
            <a:r>
              <a:rPr lang="en-US" sz="1600" b="1" dirty="0">
                <a:solidFill>
                  <a:srgbClr val="3DDC84"/>
                </a:solidFill>
                <a:latin typeface="Calibri" pitchFamily="34" charset="0"/>
                <a:ea typeface="Calibri" pitchFamily="34" charset="-122"/>
                <a:cs typeface="Calibri" pitchFamily="34" charset="-120"/>
              </a:rPr>
              <a:t>1</a:t>
            </a:r>
            <a:endParaRPr lang="en-US" sz="1600" dirty="0"/>
          </a:p>
        </p:txBody>
      </p:sp>
      <p:sp>
        <p:nvSpPr>
          <p:cNvPr id="8" name="Shape 6"/>
          <p:cNvSpPr/>
          <p:nvPr/>
        </p:nvSpPr>
        <p:spPr>
          <a:xfrm>
            <a:off x="1234440" y="1828800"/>
            <a:ext cx="10408615" cy="704088"/>
          </a:xfrm>
          <a:prstGeom prst="roundRect">
            <a:avLst>
              <a:gd name="adj" fmla="val 10390"/>
            </a:avLst>
          </a:prstGeom>
          <a:solidFill>
            <a:srgbClr val="FFFFFF"/>
          </a:solidFill>
          <a:ln w="12700">
            <a:solidFill>
              <a:srgbClr val="DCE2EC"/>
            </a:solidFill>
            <a:prstDash val="solid"/>
          </a:ln>
        </p:spPr>
      </p:sp>
      <p:sp>
        <p:nvSpPr>
          <p:cNvPr id="9" name="Text 7"/>
          <p:cNvSpPr txBox="1"/>
          <p:nvPr/>
        </p:nvSpPr>
        <p:spPr>
          <a:xfrm>
            <a:off x="1463040" y="1828800"/>
            <a:ext cx="9951415" cy="704088"/>
          </a:xfrm>
          <a:prstGeom prst="rect">
            <a:avLst/>
          </a:prstGeom>
          <a:noFill/>
          <a:ln/>
        </p:spPr>
        <p:txBody>
          <a:bodyPr wrap="square" lIns="0" tIns="0" rIns="0" bIns="0" rtlCol="0" anchor="ctr"/>
          <a:lstStyle/>
          <a:p>
            <a:pPr indent="0" marL="0">
              <a:buNone/>
            </a:pPr>
            <a:r>
              <a:rPr lang="en-US" sz="1350" dirty="0">
                <a:solidFill>
                  <a:srgbClr val="30425E"/>
                </a:solidFill>
                <a:latin typeface="Calibri" pitchFamily="34" charset="0"/>
                <a:ea typeface="Calibri" pitchFamily="34" charset="-122"/>
                <a:cs typeface="Calibri" pitchFamily="34" charset="-120"/>
              </a:rPr>
              <a:t>Your instructor posts one Group Assignment invite link for the capstone.</a:t>
            </a:r>
            <a:endParaRPr lang="en-US" sz="1350" dirty="0"/>
          </a:p>
        </p:txBody>
      </p:sp>
      <p:sp>
        <p:nvSpPr>
          <p:cNvPr id="10" name="Shape 8"/>
          <p:cNvSpPr/>
          <p:nvPr/>
        </p:nvSpPr>
        <p:spPr>
          <a:xfrm>
            <a:off x="548640" y="2779776"/>
            <a:ext cx="457200" cy="457200"/>
          </a:xfrm>
          <a:prstGeom prst="ellipse">
            <a:avLst/>
          </a:prstGeom>
          <a:solidFill>
            <a:srgbClr val="0B1F3A"/>
          </a:solidFill>
          <a:ln/>
        </p:spPr>
      </p:sp>
      <p:sp>
        <p:nvSpPr>
          <p:cNvPr id="11" name="Text 9"/>
          <p:cNvSpPr txBox="1"/>
          <p:nvPr/>
        </p:nvSpPr>
        <p:spPr>
          <a:xfrm>
            <a:off x="548640" y="2779776"/>
            <a:ext cx="457200" cy="457200"/>
          </a:xfrm>
          <a:prstGeom prst="rect">
            <a:avLst/>
          </a:prstGeom>
          <a:noFill/>
          <a:ln/>
        </p:spPr>
        <p:txBody>
          <a:bodyPr wrap="square" lIns="0" tIns="0" rIns="0" bIns="0" rtlCol="0" anchor="ctr"/>
          <a:lstStyle/>
          <a:p>
            <a:pPr algn="ctr" indent="0" marL="0">
              <a:buNone/>
            </a:pPr>
            <a:r>
              <a:rPr lang="en-US" sz="1600" b="1" dirty="0">
                <a:solidFill>
                  <a:srgbClr val="3DDC84"/>
                </a:solidFill>
                <a:latin typeface="Calibri" pitchFamily="34" charset="0"/>
                <a:ea typeface="Calibri" pitchFamily="34" charset="-122"/>
                <a:cs typeface="Calibri" pitchFamily="34" charset="-120"/>
              </a:rPr>
              <a:t>2</a:t>
            </a:r>
            <a:endParaRPr lang="en-US" sz="1600" dirty="0"/>
          </a:p>
        </p:txBody>
      </p:sp>
      <p:sp>
        <p:nvSpPr>
          <p:cNvPr id="12" name="Shape 10"/>
          <p:cNvSpPr/>
          <p:nvPr/>
        </p:nvSpPr>
        <p:spPr>
          <a:xfrm>
            <a:off x="1234440" y="2734056"/>
            <a:ext cx="10408615" cy="704088"/>
          </a:xfrm>
          <a:prstGeom prst="roundRect">
            <a:avLst>
              <a:gd name="adj" fmla="val 10390"/>
            </a:avLst>
          </a:prstGeom>
          <a:solidFill>
            <a:srgbClr val="FFFFFF"/>
          </a:solidFill>
          <a:ln w="12700">
            <a:solidFill>
              <a:srgbClr val="DCE2EC"/>
            </a:solidFill>
            <a:prstDash val="solid"/>
          </a:ln>
        </p:spPr>
      </p:sp>
      <p:sp>
        <p:nvSpPr>
          <p:cNvPr id="13" name="Text 11"/>
          <p:cNvSpPr txBox="1"/>
          <p:nvPr/>
        </p:nvSpPr>
        <p:spPr>
          <a:xfrm>
            <a:off x="1463040" y="2734056"/>
            <a:ext cx="9951415" cy="704088"/>
          </a:xfrm>
          <a:prstGeom prst="rect">
            <a:avLst/>
          </a:prstGeom>
          <a:noFill/>
          <a:ln/>
        </p:spPr>
        <p:txBody>
          <a:bodyPr wrap="square" lIns="0" tIns="0" rIns="0" bIns="0" rtlCol="0" anchor="ctr"/>
          <a:lstStyle/>
          <a:p>
            <a:pPr indent="0" marL="0">
              <a:buNone/>
            </a:pPr>
            <a:r>
              <a:rPr lang="en-US" sz="1350" dirty="0">
                <a:solidFill>
                  <a:srgbClr val="30425E"/>
                </a:solidFill>
                <a:latin typeface="Calibri" pitchFamily="34" charset="0"/>
                <a:ea typeface="Calibri" pitchFamily="34" charset="-122"/>
                <a:cs typeface="Calibri" pitchFamily="34" charset="-120"/>
              </a:rPr>
              <a:t>Open it, sign in with GitHub, and either create a new team (named after your project idea) or join an existing team a teammate already created.</a:t>
            </a:r>
            <a:endParaRPr lang="en-US" sz="1350" dirty="0"/>
          </a:p>
        </p:txBody>
      </p:sp>
      <p:sp>
        <p:nvSpPr>
          <p:cNvPr id="14" name="Shape 12"/>
          <p:cNvSpPr/>
          <p:nvPr/>
        </p:nvSpPr>
        <p:spPr>
          <a:xfrm>
            <a:off x="548640" y="3685032"/>
            <a:ext cx="457200" cy="457200"/>
          </a:xfrm>
          <a:prstGeom prst="ellipse">
            <a:avLst/>
          </a:prstGeom>
          <a:solidFill>
            <a:srgbClr val="0B1F3A"/>
          </a:solidFill>
          <a:ln/>
        </p:spPr>
      </p:sp>
      <p:sp>
        <p:nvSpPr>
          <p:cNvPr id="15" name="Text 13"/>
          <p:cNvSpPr txBox="1"/>
          <p:nvPr/>
        </p:nvSpPr>
        <p:spPr>
          <a:xfrm>
            <a:off x="548640" y="3685032"/>
            <a:ext cx="457200" cy="457200"/>
          </a:xfrm>
          <a:prstGeom prst="rect">
            <a:avLst/>
          </a:prstGeom>
          <a:noFill/>
          <a:ln/>
        </p:spPr>
        <p:txBody>
          <a:bodyPr wrap="square" lIns="0" tIns="0" rIns="0" bIns="0" rtlCol="0" anchor="ctr"/>
          <a:lstStyle/>
          <a:p>
            <a:pPr algn="ctr" indent="0" marL="0">
              <a:buNone/>
            </a:pPr>
            <a:r>
              <a:rPr lang="en-US" sz="1600" b="1" dirty="0">
                <a:solidFill>
                  <a:srgbClr val="3DDC84"/>
                </a:solidFill>
                <a:latin typeface="Calibri" pitchFamily="34" charset="0"/>
                <a:ea typeface="Calibri" pitchFamily="34" charset="-122"/>
                <a:cs typeface="Calibri" pitchFamily="34" charset="-120"/>
              </a:rPr>
              <a:t>3</a:t>
            </a:r>
            <a:endParaRPr lang="en-US" sz="1600" dirty="0"/>
          </a:p>
        </p:txBody>
      </p:sp>
      <p:sp>
        <p:nvSpPr>
          <p:cNvPr id="16" name="Shape 14"/>
          <p:cNvSpPr/>
          <p:nvPr/>
        </p:nvSpPr>
        <p:spPr>
          <a:xfrm>
            <a:off x="1234440" y="3639312"/>
            <a:ext cx="10408615" cy="704088"/>
          </a:xfrm>
          <a:prstGeom prst="roundRect">
            <a:avLst>
              <a:gd name="adj" fmla="val 10390"/>
            </a:avLst>
          </a:prstGeom>
          <a:solidFill>
            <a:srgbClr val="FFFFFF"/>
          </a:solidFill>
          <a:ln w="12700">
            <a:solidFill>
              <a:srgbClr val="DCE2EC"/>
            </a:solidFill>
            <a:prstDash val="solid"/>
          </a:ln>
        </p:spPr>
      </p:sp>
      <p:sp>
        <p:nvSpPr>
          <p:cNvPr id="17" name="Text 15"/>
          <p:cNvSpPr txBox="1"/>
          <p:nvPr/>
        </p:nvSpPr>
        <p:spPr>
          <a:xfrm>
            <a:off x="1463040" y="3639312"/>
            <a:ext cx="9951415" cy="704088"/>
          </a:xfrm>
          <a:prstGeom prst="rect">
            <a:avLst/>
          </a:prstGeom>
          <a:noFill/>
          <a:ln/>
        </p:spPr>
        <p:txBody>
          <a:bodyPr wrap="square" lIns="0" tIns="0" rIns="0" bIns="0" rtlCol="0" anchor="ctr"/>
          <a:lstStyle/>
          <a:p>
            <a:pPr indent="0" marL="0">
              <a:buNone/>
            </a:pPr>
            <a:r>
              <a:rPr lang="en-US" sz="1350" dirty="0">
                <a:solidFill>
                  <a:srgbClr val="30425E"/>
                </a:solidFill>
                <a:latin typeface="Calibri" pitchFamily="34" charset="0"/>
                <a:ea typeface="Calibri" pitchFamily="34" charset="-122"/>
                <a:cs typeface="Calibri" pitchFamily="34" charset="-120"/>
              </a:rPr>
              <a:t>Solo/“daring” students accept the same link but create a team of one.</a:t>
            </a:r>
            <a:endParaRPr lang="en-US" sz="1350" dirty="0"/>
          </a:p>
        </p:txBody>
      </p:sp>
      <p:sp>
        <p:nvSpPr>
          <p:cNvPr id="18" name="Shape 16"/>
          <p:cNvSpPr/>
          <p:nvPr/>
        </p:nvSpPr>
        <p:spPr>
          <a:xfrm>
            <a:off x="548640" y="4590288"/>
            <a:ext cx="457200" cy="457200"/>
          </a:xfrm>
          <a:prstGeom prst="ellipse">
            <a:avLst/>
          </a:prstGeom>
          <a:solidFill>
            <a:srgbClr val="0B1F3A"/>
          </a:solidFill>
          <a:ln/>
        </p:spPr>
      </p:sp>
      <p:sp>
        <p:nvSpPr>
          <p:cNvPr id="19" name="Text 17"/>
          <p:cNvSpPr txBox="1"/>
          <p:nvPr/>
        </p:nvSpPr>
        <p:spPr>
          <a:xfrm>
            <a:off x="548640" y="4590288"/>
            <a:ext cx="457200" cy="457200"/>
          </a:xfrm>
          <a:prstGeom prst="rect">
            <a:avLst/>
          </a:prstGeom>
          <a:noFill/>
          <a:ln/>
        </p:spPr>
        <p:txBody>
          <a:bodyPr wrap="square" lIns="0" tIns="0" rIns="0" bIns="0" rtlCol="0" anchor="ctr"/>
          <a:lstStyle/>
          <a:p>
            <a:pPr algn="ctr" indent="0" marL="0">
              <a:buNone/>
            </a:pPr>
            <a:r>
              <a:rPr lang="en-US" sz="1600" b="1" dirty="0">
                <a:solidFill>
                  <a:srgbClr val="3DDC84"/>
                </a:solidFill>
                <a:latin typeface="Calibri" pitchFamily="34" charset="0"/>
                <a:ea typeface="Calibri" pitchFamily="34" charset="-122"/>
                <a:cs typeface="Calibri" pitchFamily="34" charset="-120"/>
              </a:rPr>
              <a:t>4</a:t>
            </a:r>
            <a:endParaRPr lang="en-US" sz="1600" dirty="0"/>
          </a:p>
        </p:txBody>
      </p:sp>
      <p:sp>
        <p:nvSpPr>
          <p:cNvPr id="20" name="Shape 18"/>
          <p:cNvSpPr/>
          <p:nvPr/>
        </p:nvSpPr>
        <p:spPr>
          <a:xfrm>
            <a:off x="1234440" y="4544568"/>
            <a:ext cx="10408615" cy="704088"/>
          </a:xfrm>
          <a:prstGeom prst="roundRect">
            <a:avLst>
              <a:gd name="adj" fmla="val 10390"/>
            </a:avLst>
          </a:prstGeom>
          <a:solidFill>
            <a:srgbClr val="FFFFFF"/>
          </a:solidFill>
          <a:ln w="12700">
            <a:solidFill>
              <a:srgbClr val="DCE2EC"/>
            </a:solidFill>
            <a:prstDash val="solid"/>
          </a:ln>
        </p:spPr>
      </p:sp>
      <p:sp>
        <p:nvSpPr>
          <p:cNvPr id="21" name="Text 19"/>
          <p:cNvSpPr txBox="1"/>
          <p:nvPr/>
        </p:nvSpPr>
        <p:spPr>
          <a:xfrm>
            <a:off x="1463040" y="4544568"/>
            <a:ext cx="9951415" cy="704088"/>
          </a:xfrm>
          <a:prstGeom prst="rect">
            <a:avLst/>
          </a:prstGeom>
          <a:noFill/>
          <a:ln/>
        </p:spPr>
        <p:txBody>
          <a:bodyPr wrap="square" lIns="0" tIns="0" rIns="0" bIns="0" rtlCol="0" anchor="ctr"/>
          <a:lstStyle/>
          <a:p>
            <a:pPr indent="0" marL="0">
              <a:buNone/>
            </a:pPr>
            <a:r>
              <a:rPr lang="en-US" sz="1350" dirty="0">
                <a:solidFill>
                  <a:srgbClr val="30425E"/>
                </a:solidFill>
                <a:latin typeface="Calibri" pitchFamily="34" charset="0"/>
                <a:ea typeface="Calibri" pitchFamily="34" charset="-122"/>
                <a:cs typeface="Calibri" pitchFamily="34" charset="-120"/>
              </a:rPr>
              <a:t>GitHub Classroom provisions one shared repository for your team, copied from the capstone starter template — every teammate clones the SAME repo.</a:t>
            </a:r>
            <a:endParaRPr lang="en-US" sz="1350" dirty="0"/>
          </a:p>
        </p:txBody>
      </p:sp>
      <p:sp>
        <p:nvSpPr>
          <p:cNvPr id="22" name="Shape 20"/>
          <p:cNvSpPr/>
          <p:nvPr/>
        </p:nvSpPr>
        <p:spPr>
          <a:xfrm>
            <a:off x="548640" y="5495544"/>
            <a:ext cx="457200" cy="457200"/>
          </a:xfrm>
          <a:prstGeom prst="ellipse">
            <a:avLst/>
          </a:prstGeom>
          <a:solidFill>
            <a:srgbClr val="0B1F3A"/>
          </a:solidFill>
          <a:ln/>
        </p:spPr>
      </p:sp>
      <p:sp>
        <p:nvSpPr>
          <p:cNvPr id="23" name="Text 21"/>
          <p:cNvSpPr txBox="1"/>
          <p:nvPr/>
        </p:nvSpPr>
        <p:spPr>
          <a:xfrm>
            <a:off x="548640" y="5495544"/>
            <a:ext cx="457200" cy="457200"/>
          </a:xfrm>
          <a:prstGeom prst="rect">
            <a:avLst/>
          </a:prstGeom>
          <a:noFill/>
          <a:ln/>
        </p:spPr>
        <p:txBody>
          <a:bodyPr wrap="square" lIns="0" tIns="0" rIns="0" bIns="0" rtlCol="0" anchor="ctr"/>
          <a:lstStyle/>
          <a:p>
            <a:pPr algn="ctr" indent="0" marL="0">
              <a:buNone/>
            </a:pPr>
            <a:r>
              <a:rPr lang="en-US" sz="1600" b="1" dirty="0">
                <a:solidFill>
                  <a:srgbClr val="3DDC84"/>
                </a:solidFill>
                <a:latin typeface="Calibri" pitchFamily="34" charset="0"/>
                <a:ea typeface="Calibri" pitchFamily="34" charset="-122"/>
                <a:cs typeface="Calibri" pitchFamily="34" charset="-120"/>
              </a:rPr>
              <a:t>5</a:t>
            </a:r>
            <a:endParaRPr lang="en-US" sz="1600" dirty="0"/>
          </a:p>
        </p:txBody>
      </p:sp>
      <p:sp>
        <p:nvSpPr>
          <p:cNvPr id="24" name="Shape 22"/>
          <p:cNvSpPr/>
          <p:nvPr/>
        </p:nvSpPr>
        <p:spPr>
          <a:xfrm>
            <a:off x="1234440" y="5449824"/>
            <a:ext cx="10408615" cy="704088"/>
          </a:xfrm>
          <a:prstGeom prst="roundRect">
            <a:avLst>
              <a:gd name="adj" fmla="val 10390"/>
            </a:avLst>
          </a:prstGeom>
          <a:solidFill>
            <a:srgbClr val="FFFFFF"/>
          </a:solidFill>
          <a:ln w="12700">
            <a:solidFill>
              <a:srgbClr val="DCE2EC"/>
            </a:solidFill>
            <a:prstDash val="solid"/>
          </a:ln>
        </p:spPr>
      </p:sp>
      <p:sp>
        <p:nvSpPr>
          <p:cNvPr id="25" name="Text 23"/>
          <p:cNvSpPr txBox="1"/>
          <p:nvPr/>
        </p:nvSpPr>
        <p:spPr>
          <a:xfrm>
            <a:off x="1463040" y="5449824"/>
            <a:ext cx="9951415" cy="704088"/>
          </a:xfrm>
          <a:prstGeom prst="rect">
            <a:avLst/>
          </a:prstGeom>
          <a:noFill/>
          <a:ln/>
        </p:spPr>
        <p:txBody>
          <a:bodyPr wrap="square" lIns="0" tIns="0" rIns="0" bIns="0" rtlCol="0" anchor="ctr"/>
          <a:lstStyle/>
          <a:p>
            <a:pPr indent="0" marL="0">
              <a:buNone/>
            </a:pPr>
            <a:r>
              <a:rPr lang="en-US" sz="1350" dirty="0">
                <a:solidFill>
                  <a:srgbClr val="30425E"/>
                </a:solidFill>
                <a:latin typeface="Calibri" pitchFamily="34" charset="0"/>
                <a:ea typeface="Calibri" pitchFamily="34" charset="-122"/>
                <a:cs typeface="Calibri" pitchFamily="34" charset="-120"/>
              </a:rPr>
              <a:t>Everyone commits under their OWN Git identity (Module 0's git config user.name / user.email) — this is how your instructor sees who contributed what.</a:t>
            </a:r>
            <a:endParaRPr lang="en-US" sz="1350" dirty="0"/>
          </a:p>
        </p:txBody>
      </p:sp>
      <p:sp>
        <p:nvSpPr>
          <p:cNvPr id="26" name="Text 24"/>
          <p:cNvSpPr txBox="1"/>
          <p:nvPr/>
        </p:nvSpPr>
        <p:spPr>
          <a:xfrm>
            <a:off x="548640" y="6473952"/>
            <a:ext cx="6400800" cy="274320"/>
          </a:xfrm>
          <a:prstGeom prst="rect">
            <a:avLst/>
          </a:prstGeom>
          <a:noFill/>
          <a:ln/>
        </p:spPr>
        <p:txBody>
          <a:bodyPr wrap="square" lIns="0" tIns="0" rIns="0" bIns="0" rtlCol="0" anchor="ctr"/>
          <a:lstStyle/>
          <a:p>
            <a:pPr indent="0" marL="0">
              <a:buNone/>
            </a:pPr>
            <a:r>
              <a:rPr lang="en-US" sz="900" dirty="0">
                <a:solidFill>
                  <a:srgbClr val="5B6B82"/>
                </a:solidFill>
                <a:latin typeface="Calibri" pitchFamily="34" charset="0"/>
                <a:ea typeface="Calibri" pitchFamily="34" charset="-122"/>
                <a:cs typeface="Calibri" pitchFamily="34" charset="-120"/>
              </a:rPr>
              <a:t>MODULE 9 — CAPSTONE PROJECT</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48640" y="502920"/>
            <a:ext cx="1149218" cy="310896"/>
          </a:xfrm>
          <a:prstGeom prst="roundRect">
            <a:avLst>
              <a:gd name="adj" fmla="val 50000"/>
            </a:avLst>
          </a:prstGeom>
          <a:solidFill>
            <a:srgbClr val="0B1F3A"/>
          </a:solidFill>
          <a:ln/>
        </p:spPr>
      </p:sp>
      <p:sp>
        <p:nvSpPr>
          <p:cNvPr id="3" name="Text 1"/>
          <p:cNvSpPr txBox="1"/>
          <p:nvPr/>
        </p:nvSpPr>
        <p:spPr>
          <a:xfrm>
            <a:off x="548640" y="502920"/>
            <a:ext cx="1149218" cy="310896"/>
          </a:xfrm>
          <a:prstGeom prst="rect">
            <a:avLst/>
          </a:prstGeom>
          <a:noFill/>
          <a:ln/>
        </p:spPr>
        <p:txBody>
          <a:bodyPr wrap="square" lIns="0" tIns="0" rIns="0" bIns="0" rtlCol="0" anchor="ctr"/>
          <a:lstStyle/>
          <a:p>
            <a:pPr algn="ctr" indent="0" marL="0">
              <a:buNone/>
            </a:pPr>
            <a:r>
              <a:rPr lang="en-US" sz="1100" b="1" spc="100" kern="0" dirty="0">
                <a:solidFill>
                  <a:srgbClr val="3DDC84"/>
                </a:solidFill>
                <a:latin typeface="Calibri" pitchFamily="34" charset="0"/>
                <a:ea typeface="Calibri" pitchFamily="34" charset="-122"/>
                <a:cs typeface="Calibri" pitchFamily="34" charset="-120"/>
              </a:rPr>
              <a:t>REQUIREMENTS</a:t>
            </a:r>
            <a:endParaRPr lang="en-US" sz="1100" dirty="0"/>
          </a:p>
        </p:txBody>
      </p:sp>
      <p:sp>
        <p:nvSpPr>
          <p:cNvPr id="4" name="Text 2"/>
          <p:cNvSpPr txBox="1"/>
          <p:nvPr/>
        </p:nvSpPr>
        <p:spPr>
          <a:xfrm>
            <a:off x="548640" y="960120"/>
            <a:ext cx="11094415" cy="822960"/>
          </a:xfrm>
          <a:prstGeom prst="rect">
            <a:avLst/>
          </a:prstGeom>
          <a:noFill/>
          <a:ln/>
        </p:spPr>
        <p:txBody>
          <a:bodyPr wrap="square" lIns="0" tIns="0" rIns="0" bIns="0" rtlCol="0" anchor="t"/>
          <a:lstStyle/>
          <a:p>
            <a:pPr algn="l" indent="0" marL="0">
              <a:buNone/>
            </a:pPr>
            <a:r>
              <a:rPr lang="en-US" sz="2800" b="1" dirty="0">
                <a:solidFill>
                  <a:srgbClr val="132038"/>
                </a:solidFill>
                <a:latin typeface="Cambria" pitchFamily="34" charset="0"/>
                <a:ea typeface="Cambria" pitchFamily="34" charset="-122"/>
                <a:cs typeface="Cambria" pitchFamily="34" charset="-120"/>
              </a:rPr>
              <a:t>Requirements for every project</a:t>
            </a:r>
            <a:endParaRPr lang="en-US" sz="2800" dirty="0"/>
          </a:p>
        </p:txBody>
      </p:sp>
      <p:sp>
        <p:nvSpPr>
          <p:cNvPr id="5" name="Shape 3"/>
          <p:cNvSpPr/>
          <p:nvPr/>
        </p:nvSpPr>
        <p:spPr>
          <a:xfrm>
            <a:off x="548640" y="1691640"/>
            <a:ext cx="5455768" cy="1017270"/>
          </a:xfrm>
          <a:prstGeom prst="roundRect">
            <a:avLst>
              <a:gd name="adj" fmla="val 7191"/>
            </a:avLst>
          </a:prstGeom>
          <a:solidFill>
            <a:srgbClr val="FFFFFF"/>
          </a:solidFill>
          <a:ln w="12700">
            <a:solidFill>
              <a:srgbClr val="DCE2EC"/>
            </a:solidFill>
            <a:prstDash val="solid"/>
          </a:ln>
        </p:spPr>
      </p:sp>
      <p:sp>
        <p:nvSpPr>
          <p:cNvPr id="6" name="Shape 4"/>
          <p:cNvSpPr/>
          <p:nvPr/>
        </p:nvSpPr>
        <p:spPr>
          <a:xfrm>
            <a:off x="749808" y="2008251"/>
            <a:ext cx="384048" cy="384048"/>
          </a:xfrm>
          <a:prstGeom prst="ellipse">
            <a:avLst/>
          </a:prstGeom>
          <a:solidFill>
            <a:srgbClr val="3DDC84"/>
          </a:solidFill>
          <a:ln/>
        </p:spPr>
      </p:sp>
      <p:sp>
        <p:nvSpPr>
          <p:cNvPr id="7" name="Text 5"/>
          <p:cNvSpPr txBox="1"/>
          <p:nvPr/>
        </p:nvSpPr>
        <p:spPr>
          <a:xfrm>
            <a:off x="749808" y="2008251"/>
            <a:ext cx="384048" cy="384048"/>
          </a:xfrm>
          <a:prstGeom prst="rect">
            <a:avLst/>
          </a:prstGeom>
          <a:noFill/>
          <a:ln/>
        </p:spPr>
        <p:txBody>
          <a:bodyPr wrap="square" lIns="0" tIns="0" rIns="0" bIns="0" rtlCol="0" anchor="ctr"/>
          <a:lstStyle/>
          <a:p>
            <a:pPr algn="ctr" indent="0" marL="0">
              <a:buNone/>
            </a:pPr>
            <a:r>
              <a:rPr lang="en-US" sz="1500" b="1" dirty="0">
                <a:solidFill>
                  <a:srgbClr val="0B1F3A"/>
                </a:solidFill>
                <a:latin typeface="Calibri" pitchFamily="34" charset="0"/>
                <a:ea typeface="Calibri" pitchFamily="34" charset="-122"/>
                <a:cs typeface="Calibri" pitchFamily="34" charset="-120"/>
              </a:rPr>
              <a:t>✓</a:t>
            </a:r>
            <a:endParaRPr lang="en-US" sz="1500" dirty="0"/>
          </a:p>
        </p:txBody>
      </p:sp>
      <p:sp>
        <p:nvSpPr>
          <p:cNvPr id="8" name="Text 6"/>
          <p:cNvSpPr txBox="1"/>
          <p:nvPr/>
        </p:nvSpPr>
        <p:spPr>
          <a:xfrm>
            <a:off x="1280160" y="1783080"/>
            <a:ext cx="4541368" cy="834390"/>
          </a:xfrm>
          <a:prstGeom prst="rect">
            <a:avLst/>
          </a:prstGeom>
          <a:noFill/>
          <a:ln/>
        </p:spPr>
        <p:txBody>
          <a:bodyPr wrap="square" lIns="0" tIns="0" rIns="0" bIns="0" rtlCol="0" anchor="ctr"/>
          <a:lstStyle/>
          <a:p>
            <a:pPr indent="0" marL="0">
              <a:buNone/>
            </a:pPr>
            <a:r>
              <a:rPr lang="en-US" sz="1300" dirty="0">
                <a:solidFill>
                  <a:srgbClr val="30425E"/>
                </a:solidFill>
                <a:latin typeface="Calibri" pitchFamily="34" charset="0"/>
                <a:ea typeface="Calibri" pitchFamily="34" charset="-122"/>
                <a:cs typeface="Calibri" pitchFamily="34" charset="-120"/>
              </a:rPr>
              <a:t>At least one struct type, used in an array or similar collection — this is your program's core data.</a:t>
            </a:r>
            <a:endParaRPr lang="en-US" sz="1300" dirty="0"/>
          </a:p>
        </p:txBody>
      </p:sp>
      <p:sp>
        <p:nvSpPr>
          <p:cNvPr id="9" name="Shape 7"/>
          <p:cNvSpPr/>
          <p:nvPr/>
        </p:nvSpPr>
        <p:spPr>
          <a:xfrm>
            <a:off x="6187288" y="1691640"/>
            <a:ext cx="5455768" cy="1017270"/>
          </a:xfrm>
          <a:prstGeom prst="roundRect">
            <a:avLst>
              <a:gd name="adj" fmla="val 7191"/>
            </a:avLst>
          </a:prstGeom>
          <a:solidFill>
            <a:srgbClr val="FFFFFF"/>
          </a:solidFill>
          <a:ln w="12700">
            <a:solidFill>
              <a:srgbClr val="DCE2EC"/>
            </a:solidFill>
            <a:prstDash val="solid"/>
          </a:ln>
        </p:spPr>
      </p:sp>
      <p:sp>
        <p:nvSpPr>
          <p:cNvPr id="10" name="Shape 8"/>
          <p:cNvSpPr/>
          <p:nvPr/>
        </p:nvSpPr>
        <p:spPr>
          <a:xfrm>
            <a:off x="6388456" y="2008251"/>
            <a:ext cx="384048" cy="384048"/>
          </a:xfrm>
          <a:prstGeom prst="ellipse">
            <a:avLst/>
          </a:prstGeom>
          <a:solidFill>
            <a:srgbClr val="3DDC84"/>
          </a:solidFill>
          <a:ln/>
        </p:spPr>
      </p:sp>
      <p:sp>
        <p:nvSpPr>
          <p:cNvPr id="11" name="Text 9"/>
          <p:cNvSpPr txBox="1"/>
          <p:nvPr/>
        </p:nvSpPr>
        <p:spPr>
          <a:xfrm>
            <a:off x="6388456" y="2008251"/>
            <a:ext cx="384048" cy="384048"/>
          </a:xfrm>
          <a:prstGeom prst="rect">
            <a:avLst/>
          </a:prstGeom>
          <a:noFill/>
          <a:ln/>
        </p:spPr>
        <p:txBody>
          <a:bodyPr wrap="square" lIns="0" tIns="0" rIns="0" bIns="0" rtlCol="0" anchor="ctr"/>
          <a:lstStyle/>
          <a:p>
            <a:pPr algn="ctr" indent="0" marL="0">
              <a:buNone/>
            </a:pPr>
            <a:r>
              <a:rPr lang="en-US" sz="1500" b="1" dirty="0">
                <a:solidFill>
                  <a:srgbClr val="0B1F3A"/>
                </a:solidFill>
                <a:latin typeface="Calibri" pitchFamily="34" charset="0"/>
                <a:ea typeface="Calibri" pitchFamily="34" charset="-122"/>
                <a:cs typeface="Calibri" pitchFamily="34" charset="-120"/>
              </a:rPr>
              <a:t>✓</a:t>
            </a:r>
            <a:endParaRPr lang="en-US" sz="1500" dirty="0"/>
          </a:p>
        </p:txBody>
      </p:sp>
      <p:sp>
        <p:nvSpPr>
          <p:cNvPr id="12" name="Text 10"/>
          <p:cNvSpPr txBox="1"/>
          <p:nvPr/>
        </p:nvSpPr>
        <p:spPr>
          <a:xfrm>
            <a:off x="6918808" y="1783080"/>
            <a:ext cx="4541368" cy="834390"/>
          </a:xfrm>
          <a:prstGeom prst="rect">
            <a:avLst/>
          </a:prstGeom>
          <a:noFill/>
          <a:ln/>
        </p:spPr>
        <p:txBody>
          <a:bodyPr wrap="square" lIns="0" tIns="0" rIns="0" bIns="0" rtlCol="0" anchor="ctr"/>
          <a:lstStyle/>
          <a:p>
            <a:pPr indent="0" marL="0">
              <a:buNone/>
            </a:pPr>
            <a:r>
              <a:rPr lang="en-US" sz="1300" dirty="0">
                <a:solidFill>
                  <a:srgbClr val="30425E"/>
                </a:solidFill>
                <a:latin typeface="Calibri" pitchFamily="34" charset="0"/>
                <a:ea typeface="Calibri" pitchFamily="34" charset="-122"/>
                <a:cs typeface="Calibri" pitchFamily="34" charset="-120"/>
              </a:rPr>
              <a:t>File I/O: your program's data must survive being closed and reopened.</a:t>
            </a:r>
            <a:endParaRPr lang="en-US" sz="1300" dirty="0"/>
          </a:p>
        </p:txBody>
      </p:sp>
      <p:sp>
        <p:nvSpPr>
          <p:cNvPr id="13" name="Shape 11"/>
          <p:cNvSpPr/>
          <p:nvPr/>
        </p:nvSpPr>
        <p:spPr>
          <a:xfrm>
            <a:off x="548640" y="2891790"/>
            <a:ext cx="5455768" cy="1017270"/>
          </a:xfrm>
          <a:prstGeom prst="roundRect">
            <a:avLst>
              <a:gd name="adj" fmla="val 7191"/>
            </a:avLst>
          </a:prstGeom>
          <a:solidFill>
            <a:srgbClr val="FFFFFF"/>
          </a:solidFill>
          <a:ln w="12700">
            <a:solidFill>
              <a:srgbClr val="DCE2EC"/>
            </a:solidFill>
            <a:prstDash val="solid"/>
          </a:ln>
        </p:spPr>
      </p:sp>
      <p:sp>
        <p:nvSpPr>
          <p:cNvPr id="14" name="Shape 12"/>
          <p:cNvSpPr/>
          <p:nvPr/>
        </p:nvSpPr>
        <p:spPr>
          <a:xfrm>
            <a:off x="749808" y="3208401"/>
            <a:ext cx="384048" cy="384048"/>
          </a:xfrm>
          <a:prstGeom prst="ellipse">
            <a:avLst/>
          </a:prstGeom>
          <a:solidFill>
            <a:srgbClr val="3DDC84"/>
          </a:solidFill>
          <a:ln/>
        </p:spPr>
      </p:sp>
      <p:sp>
        <p:nvSpPr>
          <p:cNvPr id="15" name="Text 13"/>
          <p:cNvSpPr txBox="1"/>
          <p:nvPr/>
        </p:nvSpPr>
        <p:spPr>
          <a:xfrm>
            <a:off x="749808" y="3208401"/>
            <a:ext cx="384048" cy="384048"/>
          </a:xfrm>
          <a:prstGeom prst="rect">
            <a:avLst/>
          </a:prstGeom>
          <a:noFill/>
          <a:ln/>
        </p:spPr>
        <p:txBody>
          <a:bodyPr wrap="square" lIns="0" tIns="0" rIns="0" bIns="0" rtlCol="0" anchor="ctr"/>
          <a:lstStyle/>
          <a:p>
            <a:pPr algn="ctr" indent="0" marL="0">
              <a:buNone/>
            </a:pPr>
            <a:r>
              <a:rPr lang="en-US" sz="1500" b="1" dirty="0">
                <a:solidFill>
                  <a:srgbClr val="0B1F3A"/>
                </a:solidFill>
                <a:latin typeface="Calibri" pitchFamily="34" charset="0"/>
                <a:ea typeface="Calibri" pitchFamily="34" charset="-122"/>
                <a:cs typeface="Calibri" pitchFamily="34" charset="-120"/>
              </a:rPr>
              <a:t>✓</a:t>
            </a:r>
            <a:endParaRPr lang="en-US" sz="1500" dirty="0"/>
          </a:p>
        </p:txBody>
      </p:sp>
      <p:sp>
        <p:nvSpPr>
          <p:cNvPr id="16" name="Text 14"/>
          <p:cNvSpPr txBox="1"/>
          <p:nvPr/>
        </p:nvSpPr>
        <p:spPr>
          <a:xfrm>
            <a:off x="1280160" y="2983230"/>
            <a:ext cx="4541368" cy="834390"/>
          </a:xfrm>
          <a:prstGeom prst="rect">
            <a:avLst/>
          </a:prstGeom>
          <a:noFill/>
          <a:ln/>
        </p:spPr>
        <p:txBody>
          <a:bodyPr wrap="square" lIns="0" tIns="0" rIns="0" bIns="0" rtlCol="0" anchor="ctr"/>
          <a:lstStyle/>
          <a:p>
            <a:pPr indent="0" marL="0">
              <a:buNone/>
            </a:pPr>
            <a:r>
              <a:rPr lang="en-US" sz="1300" dirty="0">
                <a:solidFill>
                  <a:srgbClr val="30425E"/>
                </a:solidFill>
                <a:latin typeface="Calibri" pitchFamily="34" charset="0"/>
                <a:ea typeface="Calibri" pitchFamily="34" charset="-122"/>
                <a:cs typeface="Calibri" pitchFamily="34" charset="-120"/>
              </a:rPr>
              <a:t>At least 4 functions you wrote yourself, each doing one clear job — not one giant main.</a:t>
            </a:r>
            <a:endParaRPr lang="en-US" sz="1300" dirty="0"/>
          </a:p>
        </p:txBody>
      </p:sp>
      <p:sp>
        <p:nvSpPr>
          <p:cNvPr id="17" name="Shape 15"/>
          <p:cNvSpPr/>
          <p:nvPr/>
        </p:nvSpPr>
        <p:spPr>
          <a:xfrm>
            <a:off x="6187288" y="2891790"/>
            <a:ext cx="5455768" cy="1017270"/>
          </a:xfrm>
          <a:prstGeom prst="roundRect">
            <a:avLst>
              <a:gd name="adj" fmla="val 7191"/>
            </a:avLst>
          </a:prstGeom>
          <a:solidFill>
            <a:srgbClr val="FFFFFF"/>
          </a:solidFill>
          <a:ln w="12700">
            <a:solidFill>
              <a:srgbClr val="DCE2EC"/>
            </a:solidFill>
            <a:prstDash val="solid"/>
          </a:ln>
        </p:spPr>
      </p:sp>
      <p:sp>
        <p:nvSpPr>
          <p:cNvPr id="18" name="Shape 16"/>
          <p:cNvSpPr/>
          <p:nvPr/>
        </p:nvSpPr>
        <p:spPr>
          <a:xfrm>
            <a:off x="6388456" y="3208401"/>
            <a:ext cx="384048" cy="384048"/>
          </a:xfrm>
          <a:prstGeom prst="ellipse">
            <a:avLst/>
          </a:prstGeom>
          <a:solidFill>
            <a:srgbClr val="3DDC84"/>
          </a:solidFill>
          <a:ln/>
        </p:spPr>
      </p:sp>
      <p:sp>
        <p:nvSpPr>
          <p:cNvPr id="19" name="Text 17"/>
          <p:cNvSpPr txBox="1"/>
          <p:nvPr/>
        </p:nvSpPr>
        <p:spPr>
          <a:xfrm>
            <a:off x="6388456" y="3208401"/>
            <a:ext cx="384048" cy="384048"/>
          </a:xfrm>
          <a:prstGeom prst="rect">
            <a:avLst/>
          </a:prstGeom>
          <a:noFill/>
          <a:ln/>
        </p:spPr>
        <p:txBody>
          <a:bodyPr wrap="square" lIns="0" tIns="0" rIns="0" bIns="0" rtlCol="0" anchor="ctr"/>
          <a:lstStyle/>
          <a:p>
            <a:pPr algn="ctr" indent="0" marL="0">
              <a:buNone/>
            </a:pPr>
            <a:r>
              <a:rPr lang="en-US" sz="1500" b="1" dirty="0">
                <a:solidFill>
                  <a:srgbClr val="0B1F3A"/>
                </a:solidFill>
                <a:latin typeface="Calibri" pitchFamily="34" charset="0"/>
                <a:ea typeface="Calibri" pitchFamily="34" charset="-122"/>
                <a:cs typeface="Calibri" pitchFamily="34" charset="-120"/>
              </a:rPr>
              <a:t>✓</a:t>
            </a:r>
            <a:endParaRPr lang="en-US" sz="1500" dirty="0"/>
          </a:p>
        </p:txBody>
      </p:sp>
      <p:sp>
        <p:nvSpPr>
          <p:cNvPr id="20" name="Text 18"/>
          <p:cNvSpPr txBox="1"/>
          <p:nvPr/>
        </p:nvSpPr>
        <p:spPr>
          <a:xfrm>
            <a:off x="6918808" y="2983230"/>
            <a:ext cx="4541368" cy="834390"/>
          </a:xfrm>
          <a:prstGeom prst="rect">
            <a:avLst/>
          </a:prstGeom>
          <a:noFill/>
          <a:ln/>
        </p:spPr>
        <p:txBody>
          <a:bodyPr wrap="square" lIns="0" tIns="0" rIns="0" bIns="0" rtlCol="0" anchor="ctr"/>
          <a:lstStyle/>
          <a:p>
            <a:pPr indent="0" marL="0">
              <a:buNone/>
            </a:pPr>
            <a:r>
              <a:rPr lang="en-US" sz="1300" dirty="0">
                <a:solidFill>
                  <a:srgbClr val="30425E"/>
                </a:solidFill>
                <a:latin typeface="Calibri" pitchFamily="34" charset="0"/>
                <a:ea typeface="Calibri" pitchFamily="34" charset="-122"/>
                <a:cs typeface="Calibri" pitchFamily="34" charset="-120"/>
              </a:rPr>
              <a:t>Pointers used with intention somewhere real — be ready to explain why you used one where you did.</a:t>
            </a:r>
            <a:endParaRPr lang="en-US" sz="1300" dirty="0"/>
          </a:p>
        </p:txBody>
      </p:sp>
      <p:sp>
        <p:nvSpPr>
          <p:cNvPr id="21" name="Shape 19"/>
          <p:cNvSpPr/>
          <p:nvPr/>
        </p:nvSpPr>
        <p:spPr>
          <a:xfrm>
            <a:off x="548640" y="4091940"/>
            <a:ext cx="5455768" cy="1017270"/>
          </a:xfrm>
          <a:prstGeom prst="roundRect">
            <a:avLst>
              <a:gd name="adj" fmla="val 7191"/>
            </a:avLst>
          </a:prstGeom>
          <a:solidFill>
            <a:srgbClr val="FFFFFF"/>
          </a:solidFill>
          <a:ln w="12700">
            <a:solidFill>
              <a:srgbClr val="DCE2EC"/>
            </a:solidFill>
            <a:prstDash val="solid"/>
          </a:ln>
        </p:spPr>
      </p:sp>
      <p:sp>
        <p:nvSpPr>
          <p:cNvPr id="22" name="Shape 20"/>
          <p:cNvSpPr/>
          <p:nvPr/>
        </p:nvSpPr>
        <p:spPr>
          <a:xfrm>
            <a:off x="749808" y="4408551"/>
            <a:ext cx="384048" cy="384048"/>
          </a:xfrm>
          <a:prstGeom prst="ellipse">
            <a:avLst/>
          </a:prstGeom>
          <a:solidFill>
            <a:srgbClr val="3DDC84"/>
          </a:solidFill>
          <a:ln/>
        </p:spPr>
      </p:sp>
      <p:sp>
        <p:nvSpPr>
          <p:cNvPr id="23" name="Text 21"/>
          <p:cNvSpPr txBox="1"/>
          <p:nvPr/>
        </p:nvSpPr>
        <p:spPr>
          <a:xfrm>
            <a:off x="749808" y="4408551"/>
            <a:ext cx="384048" cy="384048"/>
          </a:xfrm>
          <a:prstGeom prst="rect">
            <a:avLst/>
          </a:prstGeom>
          <a:noFill/>
          <a:ln/>
        </p:spPr>
        <p:txBody>
          <a:bodyPr wrap="square" lIns="0" tIns="0" rIns="0" bIns="0" rtlCol="0" anchor="ctr"/>
          <a:lstStyle/>
          <a:p>
            <a:pPr algn="ctr" indent="0" marL="0">
              <a:buNone/>
            </a:pPr>
            <a:r>
              <a:rPr lang="en-US" sz="1500" b="1" dirty="0">
                <a:solidFill>
                  <a:srgbClr val="0B1F3A"/>
                </a:solidFill>
                <a:latin typeface="Calibri" pitchFamily="34" charset="0"/>
                <a:ea typeface="Calibri" pitchFamily="34" charset="-122"/>
                <a:cs typeface="Calibri" pitchFamily="34" charset="-120"/>
              </a:rPr>
              <a:t>✓</a:t>
            </a:r>
            <a:endParaRPr lang="en-US" sz="1500" dirty="0"/>
          </a:p>
        </p:txBody>
      </p:sp>
      <p:sp>
        <p:nvSpPr>
          <p:cNvPr id="24" name="Text 22"/>
          <p:cNvSpPr txBox="1"/>
          <p:nvPr/>
        </p:nvSpPr>
        <p:spPr>
          <a:xfrm>
            <a:off x="1280160" y="4183380"/>
            <a:ext cx="4541368" cy="834390"/>
          </a:xfrm>
          <a:prstGeom prst="rect">
            <a:avLst/>
          </a:prstGeom>
          <a:noFill/>
          <a:ln/>
        </p:spPr>
        <p:txBody>
          <a:bodyPr wrap="square" lIns="0" tIns="0" rIns="0" bIns="0" rtlCol="0" anchor="ctr"/>
          <a:lstStyle/>
          <a:p>
            <a:pPr indent="0" marL="0">
              <a:buNone/>
            </a:pPr>
            <a:r>
              <a:rPr lang="en-US" sz="1300" dirty="0">
                <a:solidFill>
                  <a:srgbClr val="30425E"/>
                </a:solidFill>
                <a:latin typeface="Calibri" pitchFamily="34" charset="0"/>
                <a:ea typeface="Calibri" pitchFamily="34" charset="-122"/>
                <a:cs typeface="Calibri" pitchFamily="34" charset="-120"/>
              </a:rPr>
              <a:t>Arrays and/or strings for any collection of data or text processing.</a:t>
            </a:r>
            <a:endParaRPr lang="en-US" sz="1300" dirty="0"/>
          </a:p>
        </p:txBody>
      </p:sp>
      <p:sp>
        <p:nvSpPr>
          <p:cNvPr id="25" name="Shape 23"/>
          <p:cNvSpPr/>
          <p:nvPr/>
        </p:nvSpPr>
        <p:spPr>
          <a:xfrm>
            <a:off x="6187288" y="4091940"/>
            <a:ext cx="5455768" cy="1017270"/>
          </a:xfrm>
          <a:prstGeom prst="roundRect">
            <a:avLst>
              <a:gd name="adj" fmla="val 7191"/>
            </a:avLst>
          </a:prstGeom>
          <a:solidFill>
            <a:srgbClr val="FFFFFF"/>
          </a:solidFill>
          <a:ln w="12700">
            <a:solidFill>
              <a:srgbClr val="DCE2EC"/>
            </a:solidFill>
            <a:prstDash val="solid"/>
          </a:ln>
        </p:spPr>
      </p:sp>
      <p:sp>
        <p:nvSpPr>
          <p:cNvPr id="26" name="Shape 24"/>
          <p:cNvSpPr/>
          <p:nvPr/>
        </p:nvSpPr>
        <p:spPr>
          <a:xfrm>
            <a:off x="6388456" y="4408551"/>
            <a:ext cx="384048" cy="384048"/>
          </a:xfrm>
          <a:prstGeom prst="ellipse">
            <a:avLst/>
          </a:prstGeom>
          <a:solidFill>
            <a:srgbClr val="3DDC84"/>
          </a:solidFill>
          <a:ln/>
        </p:spPr>
      </p:sp>
      <p:sp>
        <p:nvSpPr>
          <p:cNvPr id="27" name="Text 25"/>
          <p:cNvSpPr txBox="1"/>
          <p:nvPr/>
        </p:nvSpPr>
        <p:spPr>
          <a:xfrm>
            <a:off x="6388456" y="4408551"/>
            <a:ext cx="384048" cy="384048"/>
          </a:xfrm>
          <a:prstGeom prst="rect">
            <a:avLst/>
          </a:prstGeom>
          <a:noFill/>
          <a:ln/>
        </p:spPr>
        <p:txBody>
          <a:bodyPr wrap="square" lIns="0" tIns="0" rIns="0" bIns="0" rtlCol="0" anchor="ctr"/>
          <a:lstStyle/>
          <a:p>
            <a:pPr algn="ctr" indent="0" marL="0">
              <a:buNone/>
            </a:pPr>
            <a:r>
              <a:rPr lang="en-US" sz="1500" b="1" dirty="0">
                <a:solidFill>
                  <a:srgbClr val="0B1F3A"/>
                </a:solidFill>
                <a:latin typeface="Calibri" pitchFamily="34" charset="0"/>
                <a:ea typeface="Calibri" pitchFamily="34" charset="-122"/>
                <a:cs typeface="Calibri" pitchFamily="34" charset="-120"/>
              </a:rPr>
              <a:t>✓</a:t>
            </a:r>
            <a:endParaRPr lang="en-US" sz="1500" dirty="0"/>
          </a:p>
        </p:txBody>
      </p:sp>
      <p:sp>
        <p:nvSpPr>
          <p:cNvPr id="28" name="Text 26"/>
          <p:cNvSpPr txBox="1"/>
          <p:nvPr/>
        </p:nvSpPr>
        <p:spPr>
          <a:xfrm>
            <a:off x="6918808" y="4183380"/>
            <a:ext cx="4541368" cy="834390"/>
          </a:xfrm>
          <a:prstGeom prst="rect">
            <a:avLst/>
          </a:prstGeom>
          <a:noFill/>
          <a:ln/>
        </p:spPr>
        <p:txBody>
          <a:bodyPr wrap="square" lIns="0" tIns="0" rIns="0" bIns="0" rtlCol="0" anchor="ctr"/>
          <a:lstStyle/>
          <a:p>
            <a:pPr indent="0" marL="0">
              <a:buNone/>
            </a:pPr>
            <a:r>
              <a:rPr lang="en-US" sz="1300" dirty="0">
                <a:solidFill>
                  <a:srgbClr val="30425E"/>
                </a:solidFill>
                <a:latin typeface="Calibri" pitchFamily="34" charset="0"/>
                <a:ea typeface="Calibri" pitchFamily="34" charset="-122"/>
                <a:cs typeface="Calibri" pitchFamily="34" charset="-120"/>
              </a:rPr>
              <a:t>Control structures and a menu-driven loop — the program runs continuously until the user chooses to exit.</a:t>
            </a:r>
            <a:endParaRPr lang="en-US" sz="1300" dirty="0"/>
          </a:p>
        </p:txBody>
      </p:sp>
      <p:sp>
        <p:nvSpPr>
          <p:cNvPr id="29" name="Shape 27"/>
          <p:cNvSpPr/>
          <p:nvPr/>
        </p:nvSpPr>
        <p:spPr>
          <a:xfrm>
            <a:off x="548640" y="5292090"/>
            <a:ext cx="5455768" cy="1017270"/>
          </a:xfrm>
          <a:prstGeom prst="roundRect">
            <a:avLst>
              <a:gd name="adj" fmla="val 7191"/>
            </a:avLst>
          </a:prstGeom>
          <a:solidFill>
            <a:srgbClr val="FFFFFF"/>
          </a:solidFill>
          <a:ln w="12700">
            <a:solidFill>
              <a:srgbClr val="DCE2EC"/>
            </a:solidFill>
            <a:prstDash val="solid"/>
          </a:ln>
        </p:spPr>
      </p:sp>
      <p:sp>
        <p:nvSpPr>
          <p:cNvPr id="30" name="Shape 28"/>
          <p:cNvSpPr/>
          <p:nvPr/>
        </p:nvSpPr>
        <p:spPr>
          <a:xfrm>
            <a:off x="749808" y="5608701"/>
            <a:ext cx="384048" cy="384048"/>
          </a:xfrm>
          <a:prstGeom prst="ellipse">
            <a:avLst/>
          </a:prstGeom>
          <a:solidFill>
            <a:srgbClr val="3DDC84"/>
          </a:solidFill>
          <a:ln/>
        </p:spPr>
      </p:sp>
      <p:sp>
        <p:nvSpPr>
          <p:cNvPr id="31" name="Text 29"/>
          <p:cNvSpPr txBox="1"/>
          <p:nvPr/>
        </p:nvSpPr>
        <p:spPr>
          <a:xfrm>
            <a:off x="749808" y="5608701"/>
            <a:ext cx="384048" cy="384048"/>
          </a:xfrm>
          <a:prstGeom prst="rect">
            <a:avLst/>
          </a:prstGeom>
          <a:noFill/>
          <a:ln/>
        </p:spPr>
        <p:txBody>
          <a:bodyPr wrap="square" lIns="0" tIns="0" rIns="0" bIns="0" rtlCol="0" anchor="ctr"/>
          <a:lstStyle/>
          <a:p>
            <a:pPr algn="ctr" indent="0" marL="0">
              <a:buNone/>
            </a:pPr>
            <a:r>
              <a:rPr lang="en-US" sz="1500" b="1" dirty="0">
                <a:solidFill>
                  <a:srgbClr val="0B1F3A"/>
                </a:solidFill>
                <a:latin typeface="Calibri" pitchFamily="34" charset="0"/>
                <a:ea typeface="Calibri" pitchFamily="34" charset="-122"/>
                <a:cs typeface="Calibri" pitchFamily="34" charset="-120"/>
              </a:rPr>
              <a:t>✓</a:t>
            </a:r>
            <a:endParaRPr lang="en-US" sz="1500" dirty="0"/>
          </a:p>
        </p:txBody>
      </p:sp>
      <p:sp>
        <p:nvSpPr>
          <p:cNvPr id="32" name="Text 30"/>
          <p:cNvSpPr txBox="1"/>
          <p:nvPr/>
        </p:nvSpPr>
        <p:spPr>
          <a:xfrm>
            <a:off x="1280160" y="5383530"/>
            <a:ext cx="4541368" cy="834390"/>
          </a:xfrm>
          <a:prstGeom prst="rect">
            <a:avLst/>
          </a:prstGeom>
          <a:noFill/>
          <a:ln/>
        </p:spPr>
        <p:txBody>
          <a:bodyPr wrap="square" lIns="0" tIns="0" rIns="0" bIns="0" rtlCol="0" anchor="ctr"/>
          <a:lstStyle/>
          <a:p>
            <a:pPr indent="0" marL="0">
              <a:buNone/>
            </a:pPr>
            <a:r>
              <a:rPr lang="en-US" sz="1300" dirty="0">
                <a:solidFill>
                  <a:srgbClr val="30425E"/>
                </a:solidFill>
                <a:latin typeface="Calibri" pitchFamily="34" charset="0"/>
                <a:ea typeface="Calibri" pitchFamily="34" charset="-122"/>
                <a:cs typeface="Calibri" pitchFamily="34" charset="-120"/>
              </a:rPr>
              <a:t>A project README.md: what the program does, how to compile and run it, who worked on what.</a:t>
            </a:r>
            <a:endParaRPr lang="en-US" sz="1300" dirty="0"/>
          </a:p>
        </p:txBody>
      </p:sp>
      <p:sp>
        <p:nvSpPr>
          <p:cNvPr id="33" name="Shape 31"/>
          <p:cNvSpPr/>
          <p:nvPr/>
        </p:nvSpPr>
        <p:spPr>
          <a:xfrm>
            <a:off x="6187288" y="5292090"/>
            <a:ext cx="5455768" cy="1017270"/>
          </a:xfrm>
          <a:prstGeom prst="roundRect">
            <a:avLst>
              <a:gd name="adj" fmla="val 7191"/>
            </a:avLst>
          </a:prstGeom>
          <a:solidFill>
            <a:srgbClr val="FFFFFF"/>
          </a:solidFill>
          <a:ln w="12700">
            <a:solidFill>
              <a:srgbClr val="DCE2EC"/>
            </a:solidFill>
            <a:prstDash val="solid"/>
          </a:ln>
        </p:spPr>
      </p:sp>
      <p:sp>
        <p:nvSpPr>
          <p:cNvPr id="34" name="Shape 32"/>
          <p:cNvSpPr/>
          <p:nvPr/>
        </p:nvSpPr>
        <p:spPr>
          <a:xfrm>
            <a:off x="6388456" y="5608701"/>
            <a:ext cx="384048" cy="384048"/>
          </a:xfrm>
          <a:prstGeom prst="ellipse">
            <a:avLst/>
          </a:prstGeom>
          <a:solidFill>
            <a:srgbClr val="3DDC84"/>
          </a:solidFill>
          <a:ln/>
        </p:spPr>
      </p:sp>
      <p:sp>
        <p:nvSpPr>
          <p:cNvPr id="35" name="Text 33"/>
          <p:cNvSpPr txBox="1"/>
          <p:nvPr/>
        </p:nvSpPr>
        <p:spPr>
          <a:xfrm>
            <a:off x="6388456" y="5608701"/>
            <a:ext cx="384048" cy="384048"/>
          </a:xfrm>
          <a:prstGeom prst="rect">
            <a:avLst/>
          </a:prstGeom>
          <a:noFill/>
          <a:ln/>
        </p:spPr>
        <p:txBody>
          <a:bodyPr wrap="square" lIns="0" tIns="0" rIns="0" bIns="0" rtlCol="0" anchor="ctr"/>
          <a:lstStyle/>
          <a:p>
            <a:pPr algn="ctr" indent="0" marL="0">
              <a:buNone/>
            </a:pPr>
            <a:r>
              <a:rPr lang="en-US" sz="1500" b="1" dirty="0">
                <a:solidFill>
                  <a:srgbClr val="0B1F3A"/>
                </a:solidFill>
                <a:latin typeface="Calibri" pitchFamily="34" charset="0"/>
                <a:ea typeface="Calibri" pitchFamily="34" charset="-122"/>
                <a:cs typeface="Calibri" pitchFamily="34" charset="-120"/>
              </a:rPr>
              <a:t>✓</a:t>
            </a:r>
            <a:endParaRPr lang="en-US" sz="1500" dirty="0"/>
          </a:p>
        </p:txBody>
      </p:sp>
      <p:sp>
        <p:nvSpPr>
          <p:cNvPr id="36" name="Text 34"/>
          <p:cNvSpPr txBox="1"/>
          <p:nvPr/>
        </p:nvSpPr>
        <p:spPr>
          <a:xfrm>
            <a:off x="6918808" y="5383530"/>
            <a:ext cx="4541368" cy="834390"/>
          </a:xfrm>
          <a:prstGeom prst="rect">
            <a:avLst/>
          </a:prstGeom>
          <a:noFill/>
          <a:ln/>
        </p:spPr>
        <p:txBody>
          <a:bodyPr wrap="square" lIns="0" tIns="0" rIns="0" bIns="0" rtlCol="0" anchor="ctr"/>
          <a:lstStyle/>
          <a:p>
            <a:pPr indent="0" marL="0">
              <a:buNone/>
            </a:pPr>
            <a:r>
              <a:rPr lang="en-US" sz="1300" dirty="0">
                <a:solidFill>
                  <a:srgbClr val="30425E"/>
                </a:solidFill>
                <a:latin typeface="Calibri" pitchFamily="34" charset="0"/>
                <a:ea typeface="Calibri" pitchFamily="34" charset="-122"/>
                <a:cs typeface="Calibri" pitchFamily="34" charset="-120"/>
              </a:rPr>
              <a:t>No compiler warnings with gcc -Wall yourfile.c -o yourprogram.</a:t>
            </a:r>
            <a:endParaRPr lang="en-US" sz="1300" dirty="0"/>
          </a:p>
        </p:txBody>
      </p:sp>
      <p:sp>
        <p:nvSpPr>
          <p:cNvPr id="37" name="Text 35"/>
          <p:cNvSpPr txBox="1"/>
          <p:nvPr/>
        </p:nvSpPr>
        <p:spPr>
          <a:xfrm>
            <a:off x="548640" y="6473952"/>
            <a:ext cx="6400800" cy="274320"/>
          </a:xfrm>
          <a:prstGeom prst="rect">
            <a:avLst/>
          </a:prstGeom>
          <a:noFill/>
          <a:ln/>
        </p:spPr>
        <p:txBody>
          <a:bodyPr wrap="square" lIns="0" tIns="0" rIns="0" bIns="0" rtlCol="0" anchor="ctr"/>
          <a:lstStyle/>
          <a:p>
            <a:pPr indent="0" marL="0">
              <a:buNone/>
            </a:pPr>
            <a:r>
              <a:rPr lang="en-US" sz="900" dirty="0">
                <a:solidFill>
                  <a:srgbClr val="5B6B82"/>
                </a:solidFill>
                <a:latin typeface="Calibri" pitchFamily="34" charset="0"/>
                <a:ea typeface="Calibri" pitchFamily="34" charset="-122"/>
                <a:cs typeface="Calibri" pitchFamily="34" charset="-120"/>
              </a:rPr>
              <a:t>MODULE 9 — CAPSTONE PROJECT</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48640" y="502920"/>
            <a:ext cx="991210" cy="310896"/>
          </a:xfrm>
          <a:prstGeom prst="roundRect">
            <a:avLst>
              <a:gd name="adj" fmla="val 50000"/>
            </a:avLst>
          </a:prstGeom>
          <a:solidFill>
            <a:srgbClr val="0B1F3A"/>
          </a:solidFill>
          <a:ln/>
        </p:spPr>
      </p:sp>
      <p:sp>
        <p:nvSpPr>
          <p:cNvPr id="3" name="Text 1"/>
          <p:cNvSpPr txBox="1"/>
          <p:nvPr/>
        </p:nvSpPr>
        <p:spPr>
          <a:xfrm>
            <a:off x="548640" y="502920"/>
            <a:ext cx="991210" cy="310896"/>
          </a:xfrm>
          <a:prstGeom prst="rect">
            <a:avLst/>
          </a:prstGeom>
          <a:noFill/>
          <a:ln/>
        </p:spPr>
        <p:txBody>
          <a:bodyPr wrap="square" lIns="0" tIns="0" rIns="0" bIns="0" rtlCol="0" anchor="ctr"/>
          <a:lstStyle/>
          <a:p>
            <a:pPr algn="ctr" indent="0" marL="0">
              <a:buNone/>
            </a:pPr>
            <a:r>
              <a:rPr lang="en-US" sz="1100" b="1" spc="100" kern="0" dirty="0">
                <a:solidFill>
                  <a:srgbClr val="3DDC84"/>
                </a:solidFill>
                <a:latin typeface="Calibri" pitchFamily="34" charset="0"/>
                <a:ea typeface="Calibri" pitchFamily="34" charset="-122"/>
                <a:cs typeface="Calibri" pitchFamily="34" charset="-120"/>
              </a:rPr>
              <a:t>CHOOSE ONE</a:t>
            </a:r>
            <a:endParaRPr lang="en-US" sz="1100" dirty="0"/>
          </a:p>
        </p:txBody>
      </p:sp>
      <p:sp>
        <p:nvSpPr>
          <p:cNvPr id="4" name="Text 2"/>
          <p:cNvSpPr txBox="1"/>
          <p:nvPr/>
        </p:nvSpPr>
        <p:spPr>
          <a:xfrm>
            <a:off x="548640" y="960120"/>
            <a:ext cx="11094415" cy="822960"/>
          </a:xfrm>
          <a:prstGeom prst="rect">
            <a:avLst/>
          </a:prstGeom>
          <a:noFill/>
          <a:ln/>
        </p:spPr>
        <p:txBody>
          <a:bodyPr wrap="square" lIns="0" tIns="0" rIns="0" bIns="0" rtlCol="0" anchor="t"/>
          <a:lstStyle/>
          <a:p>
            <a:pPr algn="l" indent="0" marL="0">
              <a:buNone/>
            </a:pPr>
            <a:r>
              <a:rPr lang="en-US" sz="2800" b="1" dirty="0">
                <a:solidFill>
                  <a:srgbClr val="132038"/>
                </a:solidFill>
                <a:latin typeface="Cambria" pitchFamily="34" charset="0"/>
                <a:ea typeface="Cambria" pitchFamily="34" charset="-122"/>
                <a:cs typeface="Cambria" pitchFamily="34" charset="-120"/>
              </a:rPr>
              <a:t>Project menu</a:t>
            </a:r>
            <a:endParaRPr lang="en-US" sz="2800" dirty="0"/>
          </a:p>
        </p:txBody>
      </p:sp>
      <p:sp>
        <p:nvSpPr>
          <p:cNvPr id="5" name="Shape 3"/>
          <p:cNvSpPr/>
          <p:nvPr/>
        </p:nvSpPr>
        <p:spPr>
          <a:xfrm>
            <a:off x="548640" y="1783080"/>
            <a:ext cx="2622728" cy="2185416"/>
          </a:xfrm>
          <a:prstGeom prst="roundRect">
            <a:avLst>
              <a:gd name="adj" fmla="val 3347"/>
            </a:avLst>
          </a:prstGeom>
          <a:solidFill>
            <a:srgbClr val="FFFFFF"/>
          </a:solidFill>
          <a:ln w="12700">
            <a:solidFill>
              <a:srgbClr val="DCE2EC"/>
            </a:solidFill>
            <a:prstDash val="solid"/>
          </a:ln>
        </p:spPr>
      </p:sp>
      <p:sp>
        <p:nvSpPr>
          <p:cNvPr id="6" name="Shape 4"/>
          <p:cNvSpPr/>
          <p:nvPr/>
        </p:nvSpPr>
        <p:spPr>
          <a:xfrm>
            <a:off x="731520" y="1947672"/>
            <a:ext cx="329184" cy="329184"/>
          </a:xfrm>
          <a:prstGeom prst="ellipse">
            <a:avLst/>
          </a:prstGeom>
          <a:solidFill>
            <a:srgbClr val="0B1F3A"/>
          </a:solidFill>
          <a:ln/>
        </p:spPr>
      </p:sp>
      <p:sp>
        <p:nvSpPr>
          <p:cNvPr id="7" name="Text 5"/>
          <p:cNvSpPr txBox="1"/>
          <p:nvPr/>
        </p:nvSpPr>
        <p:spPr>
          <a:xfrm>
            <a:off x="731520" y="1947672"/>
            <a:ext cx="329184" cy="329184"/>
          </a:xfrm>
          <a:prstGeom prst="rect">
            <a:avLst/>
          </a:prstGeom>
          <a:noFill/>
          <a:ln/>
        </p:spPr>
        <p:txBody>
          <a:bodyPr wrap="square" lIns="0" tIns="0" rIns="0" bIns="0" rtlCol="0" anchor="ctr"/>
          <a:lstStyle/>
          <a:p>
            <a:pPr algn="ctr" indent="0" marL="0">
              <a:buNone/>
            </a:pPr>
            <a:r>
              <a:rPr lang="en-US" sz="1300" b="1" dirty="0">
                <a:solidFill>
                  <a:srgbClr val="3DDC84"/>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731520" y="2377440"/>
            <a:ext cx="2256968" cy="594360"/>
          </a:xfrm>
          <a:prstGeom prst="rect">
            <a:avLst/>
          </a:prstGeom>
          <a:noFill/>
          <a:ln/>
        </p:spPr>
        <p:txBody>
          <a:bodyPr wrap="square" lIns="0" tIns="0" rIns="0" bIns="0" rtlCol="0" anchor="t"/>
          <a:lstStyle/>
          <a:p>
            <a:pPr indent="0" marL="0">
              <a:buNone/>
            </a:pPr>
            <a:r>
              <a:rPr lang="en-US" sz="1350" b="1" dirty="0">
                <a:solidFill>
                  <a:srgbClr val="132038"/>
                </a:solidFill>
                <a:latin typeface="Cambria" pitchFamily="34" charset="0"/>
                <a:ea typeface="Cambria" pitchFamily="34" charset="-122"/>
                <a:cs typeface="Cambria" pitchFamily="34" charset="-120"/>
              </a:rPr>
              <a:t>Student Grading &amp; Report Card System</a:t>
            </a:r>
            <a:endParaRPr lang="en-US" sz="1350" dirty="0"/>
          </a:p>
        </p:txBody>
      </p:sp>
      <p:sp>
        <p:nvSpPr>
          <p:cNvPr id="9" name="Text 7"/>
          <p:cNvSpPr txBox="1"/>
          <p:nvPr/>
        </p:nvSpPr>
        <p:spPr>
          <a:xfrm>
            <a:off x="731520" y="2953512"/>
            <a:ext cx="2256968" cy="886968"/>
          </a:xfrm>
          <a:prstGeom prst="rect">
            <a:avLst/>
          </a:prstGeom>
          <a:noFill/>
          <a:ln/>
        </p:spPr>
        <p:txBody>
          <a:bodyPr wrap="square" lIns="0" tIns="0" rIns="0" bIns="0" rtlCol="0" anchor="t"/>
          <a:lstStyle/>
          <a:p>
            <a:pPr indent="0" marL="0">
              <a:buNone/>
            </a:pPr>
            <a:r>
              <a:rPr lang="en-US" sz="1050" dirty="0">
                <a:solidFill>
                  <a:srgbClr val="30425E"/>
                </a:solidFill>
                <a:latin typeface="Calibri" pitchFamily="34" charset="0"/>
                <a:ea typeface="Calibri" pitchFamily="34" charset="-122"/>
                <a:cs typeface="Calibri" pitchFamily="34" charset="-120"/>
              </a:rPr>
              <a:t>Struct: name, ID, scores. Compute averages/grades, save/load the roster. Stretch: rank students, export a report.</a:t>
            </a:r>
            <a:endParaRPr lang="en-US" sz="1050" dirty="0"/>
          </a:p>
        </p:txBody>
      </p:sp>
      <p:sp>
        <p:nvSpPr>
          <p:cNvPr id="10" name="Shape 8"/>
          <p:cNvSpPr/>
          <p:nvPr/>
        </p:nvSpPr>
        <p:spPr>
          <a:xfrm>
            <a:off x="3372536" y="1783080"/>
            <a:ext cx="2622728" cy="2185416"/>
          </a:xfrm>
          <a:prstGeom prst="roundRect">
            <a:avLst>
              <a:gd name="adj" fmla="val 3347"/>
            </a:avLst>
          </a:prstGeom>
          <a:solidFill>
            <a:srgbClr val="FFFFFF"/>
          </a:solidFill>
          <a:ln w="12700">
            <a:solidFill>
              <a:srgbClr val="DCE2EC"/>
            </a:solidFill>
            <a:prstDash val="solid"/>
          </a:ln>
        </p:spPr>
      </p:sp>
      <p:sp>
        <p:nvSpPr>
          <p:cNvPr id="11" name="Shape 9"/>
          <p:cNvSpPr/>
          <p:nvPr/>
        </p:nvSpPr>
        <p:spPr>
          <a:xfrm>
            <a:off x="3555416" y="1947672"/>
            <a:ext cx="329184" cy="329184"/>
          </a:xfrm>
          <a:prstGeom prst="ellipse">
            <a:avLst/>
          </a:prstGeom>
          <a:solidFill>
            <a:srgbClr val="0B1F3A"/>
          </a:solidFill>
          <a:ln/>
        </p:spPr>
      </p:sp>
      <p:sp>
        <p:nvSpPr>
          <p:cNvPr id="12" name="Text 10"/>
          <p:cNvSpPr txBox="1"/>
          <p:nvPr/>
        </p:nvSpPr>
        <p:spPr>
          <a:xfrm>
            <a:off x="3555416" y="1947672"/>
            <a:ext cx="329184" cy="329184"/>
          </a:xfrm>
          <a:prstGeom prst="rect">
            <a:avLst/>
          </a:prstGeom>
          <a:noFill/>
          <a:ln/>
        </p:spPr>
        <p:txBody>
          <a:bodyPr wrap="square" lIns="0" tIns="0" rIns="0" bIns="0" rtlCol="0" anchor="ctr"/>
          <a:lstStyle/>
          <a:p>
            <a:pPr algn="ctr" indent="0" marL="0">
              <a:buNone/>
            </a:pPr>
            <a:r>
              <a:rPr lang="en-US" sz="1300" b="1" dirty="0">
                <a:solidFill>
                  <a:srgbClr val="3DDC84"/>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3555416" y="2377440"/>
            <a:ext cx="2256968" cy="594360"/>
          </a:xfrm>
          <a:prstGeom prst="rect">
            <a:avLst/>
          </a:prstGeom>
          <a:noFill/>
          <a:ln/>
        </p:spPr>
        <p:txBody>
          <a:bodyPr wrap="square" lIns="0" tIns="0" rIns="0" bIns="0" rtlCol="0" anchor="t"/>
          <a:lstStyle/>
          <a:p>
            <a:pPr indent="0" marL="0">
              <a:buNone/>
            </a:pPr>
            <a:r>
              <a:rPr lang="en-US" sz="1350" b="1" dirty="0">
                <a:solidFill>
                  <a:srgbClr val="132038"/>
                </a:solidFill>
                <a:latin typeface="Cambria" pitchFamily="34" charset="0"/>
                <a:ea typeface="Cambria" pitchFamily="34" charset="-122"/>
                <a:cs typeface="Cambria" pitchFamily="34" charset="-120"/>
              </a:rPr>
              <a:t>Library / Inventory Management</a:t>
            </a:r>
            <a:endParaRPr lang="en-US" sz="1350" dirty="0"/>
          </a:p>
        </p:txBody>
      </p:sp>
      <p:sp>
        <p:nvSpPr>
          <p:cNvPr id="14" name="Text 12"/>
          <p:cNvSpPr txBox="1"/>
          <p:nvPr/>
        </p:nvSpPr>
        <p:spPr>
          <a:xfrm>
            <a:off x="3555416" y="2953512"/>
            <a:ext cx="2256968" cy="886968"/>
          </a:xfrm>
          <a:prstGeom prst="rect">
            <a:avLst/>
          </a:prstGeom>
          <a:noFill/>
          <a:ln/>
        </p:spPr>
        <p:txBody>
          <a:bodyPr wrap="square" lIns="0" tIns="0" rIns="0" bIns="0" rtlCol="0" anchor="t"/>
          <a:lstStyle/>
          <a:p>
            <a:pPr indent="0" marL="0">
              <a:buNone/>
            </a:pPr>
            <a:r>
              <a:rPr lang="en-US" sz="1050" dirty="0">
                <a:solidFill>
                  <a:srgbClr val="30425E"/>
                </a:solidFill>
                <a:latin typeface="Calibri" pitchFamily="34" charset="0"/>
                <a:ea typeface="Calibri" pitchFamily="34" charset="-122"/>
                <a:cs typeface="Calibri" pitchFamily="34" charset="-120"/>
              </a:rPr>
              <a:t>Struct: title, ID, quantity, checked-out status. Check items in/out, persist the catalog. Stretch: keyword search, due dates.</a:t>
            </a:r>
            <a:endParaRPr lang="en-US" sz="1050" dirty="0"/>
          </a:p>
        </p:txBody>
      </p:sp>
      <p:sp>
        <p:nvSpPr>
          <p:cNvPr id="15" name="Shape 13"/>
          <p:cNvSpPr/>
          <p:nvPr/>
        </p:nvSpPr>
        <p:spPr>
          <a:xfrm>
            <a:off x="6196432" y="1783080"/>
            <a:ext cx="2622728" cy="2185416"/>
          </a:xfrm>
          <a:prstGeom prst="roundRect">
            <a:avLst>
              <a:gd name="adj" fmla="val 3347"/>
            </a:avLst>
          </a:prstGeom>
          <a:solidFill>
            <a:srgbClr val="FFFFFF"/>
          </a:solidFill>
          <a:ln w="12700">
            <a:solidFill>
              <a:srgbClr val="DCE2EC"/>
            </a:solidFill>
            <a:prstDash val="solid"/>
          </a:ln>
        </p:spPr>
      </p:sp>
      <p:sp>
        <p:nvSpPr>
          <p:cNvPr id="16" name="Shape 14"/>
          <p:cNvSpPr/>
          <p:nvPr/>
        </p:nvSpPr>
        <p:spPr>
          <a:xfrm>
            <a:off x="6379312" y="1947672"/>
            <a:ext cx="329184" cy="329184"/>
          </a:xfrm>
          <a:prstGeom prst="ellipse">
            <a:avLst/>
          </a:prstGeom>
          <a:solidFill>
            <a:srgbClr val="0B1F3A"/>
          </a:solidFill>
          <a:ln/>
        </p:spPr>
      </p:sp>
      <p:sp>
        <p:nvSpPr>
          <p:cNvPr id="17" name="Text 15"/>
          <p:cNvSpPr txBox="1"/>
          <p:nvPr/>
        </p:nvSpPr>
        <p:spPr>
          <a:xfrm>
            <a:off x="6379312" y="1947672"/>
            <a:ext cx="329184" cy="329184"/>
          </a:xfrm>
          <a:prstGeom prst="rect">
            <a:avLst/>
          </a:prstGeom>
          <a:noFill/>
          <a:ln/>
        </p:spPr>
        <p:txBody>
          <a:bodyPr wrap="square" lIns="0" tIns="0" rIns="0" bIns="0" rtlCol="0" anchor="ctr"/>
          <a:lstStyle/>
          <a:p>
            <a:pPr algn="ctr" indent="0" marL="0">
              <a:buNone/>
            </a:pPr>
            <a:r>
              <a:rPr lang="en-US" sz="1300" b="1" dirty="0">
                <a:solidFill>
                  <a:srgbClr val="3DDC84"/>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6379312" y="2377440"/>
            <a:ext cx="2256968" cy="594360"/>
          </a:xfrm>
          <a:prstGeom prst="rect">
            <a:avLst/>
          </a:prstGeom>
          <a:noFill/>
          <a:ln/>
        </p:spPr>
        <p:txBody>
          <a:bodyPr wrap="square" lIns="0" tIns="0" rIns="0" bIns="0" rtlCol="0" anchor="t"/>
          <a:lstStyle/>
          <a:p>
            <a:pPr indent="0" marL="0">
              <a:buNone/>
            </a:pPr>
            <a:r>
              <a:rPr lang="en-US" sz="1350" b="1" dirty="0">
                <a:solidFill>
                  <a:srgbClr val="132038"/>
                </a:solidFill>
                <a:latin typeface="Cambria" pitchFamily="34" charset="0"/>
                <a:ea typeface="Cambria" pitchFamily="34" charset="-122"/>
                <a:cs typeface="Cambria" pitchFamily="34" charset="-120"/>
              </a:rPr>
              <a:t>Contact Book / Phone Directory</a:t>
            </a:r>
            <a:endParaRPr lang="en-US" sz="1350" dirty="0"/>
          </a:p>
        </p:txBody>
      </p:sp>
      <p:sp>
        <p:nvSpPr>
          <p:cNvPr id="19" name="Text 17"/>
          <p:cNvSpPr txBox="1"/>
          <p:nvPr/>
        </p:nvSpPr>
        <p:spPr>
          <a:xfrm>
            <a:off x="6379312" y="2953512"/>
            <a:ext cx="2256968" cy="886968"/>
          </a:xfrm>
          <a:prstGeom prst="rect">
            <a:avLst/>
          </a:prstGeom>
          <a:noFill/>
          <a:ln/>
        </p:spPr>
        <p:txBody>
          <a:bodyPr wrap="square" lIns="0" tIns="0" rIns="0" bIns="0" rtlCol="0" anchor="t"/>
          <a:lstStyle/>
          <a:p>
            <a:pPr indent="0" marL="0">
              <a:buNone/>
            </a:pPr>
            <a:r>
              <a:rPr lang="en-US" sz="1050" dirty="0">
                <a:solidFill>
                  <a:srgbClr val="30425E"/>
                </a:solidFill>
                <a:latin typeface="Calibri" pitchFamily="34" charset="0"/>
                <a:ea typeface="Calibri" pitchFamily="34" charset="-122"/>
                <a:cs typeface="Calibri" pitchFamily="34" charset="-120"/>
              </a:rPr>
              <a:t>Struct: name, phone, email. Add, search, edit, delete, save to a file. Stretch: alphabetical sort, categories.</a:t>
            </a:r>
            <a:endParaRPr lang="en-US" sz="1050" dirty="0"/>
          </a:p>
        </p:txBody>
      </p:sp>
      <p:sp>
        <p:nvSpPr>
          <p:cNvPr id="20" name="Shape 18"/>
          <p:cNvSpPr/>
          <p:nvPr/>
        </p:nvSpPr>
        <p:spPr>
          <a:xfrm>
            <a:off x="9020327" y="1783080"/>
            <a:ext cx="2622728" cy="2185416"/>
          </a:xfrm>
          <a:prstGeom prst="roundRect">
            <a:avLst>
              <a:gd name="adj" fmla="val 3347"/>
            </a:avLst>
          </a:prstGeom>
          <a:solidFill>
            <a:srgbClr val="FFFFFF"/>
          </a:solidFill>
          <a:ln w="12700">
            <a:solidFill>
              <a:srgbClr val="DCE2EC"/>
            </a:solidFill>
            <a:prstDash val="solid"/>
          </a:ln>
        </p:spPr>
      </p:sp>
      <p:sp>
        <p:nvSpPr>
          <p:cNvPr id="21" name="Shape 19"/>
          <p:cNvSpPr/>
          <p:nvPr/>
        </p:nvSpPr>
        <p:spPr>
          <a:xfrm>
            <a:off x="9203207" y="1947672"/>
            <a:ext cx="329184" cy="329184"/>
          </a:xfrm>
          <a:prstGeom prst="ellipse">
            <a:avLst/>
          </a:prstGeom>
          <a:solidFill>
            <a:srgbClr val="0B1F3A"/>
          </a:solidFill>
          <a:ln/>
        </p:spPr>
      </p:sp>
      <p:sp>
        <p:nvSpPr>
          <p:cNvPr id="22" name="Text 20"/>
          <p:cNvSpPr txBox="1"/>
          <p:nvPr/>
        </p:nvSpPr>
        <p:spPr>
          <a:xfrm>
            <a:off x="9203207" y="1947672"/>
            <a:ext cx="329184" cy="329184"/>
          </a:xfrm>
          <a:prstGeom prst="rect">
            <a:avLst/>
          </a:prstGeom>
          <a:noFill/>
          <a:ln/>
        </p:spPr>
        <p:txBody>
          <a:bodyPr wrap="square" lIns="0" tIns="0" rIns="0" bIns="0" rtlCol="0" anchor="ctr"/>
          <a:lstStyle/>
          <a:p>
            <a:pPr algn="ctr" indent="0" marL="0">
              <a:buNone/>
            </a:pPr>
            <a:r>
              <a:rPr lang="en-US" sz="1300" b="1" dirty="0">
                <a:solidFill>
                  <a:srgbClr val="3DDC84"/>
                </a:solidFill>
                <a:latin typeface="Calibri" pitchFamily="34" charset="0"/>
                <a:ea typeface="Calibri" pitchFamily="34" charset="-122"/>
                <a:cs typeface="Calibri" pitchFamily="34" charset="-120"/>
              </a:rPr>
              <a:t>4</a:t>
            </a:r>
            <a:endParaRPr lang="en-US" sz="1300" dirty="0"/>
          </a:p>
        </p:txBody>
      </p:sp>
      <p:sp>
        <p:nvSpPr>
          <p:cNvPr id="23" name="Text 21"/>
          <p:cNvSpPr txBox="1"/>
          <p:nvPr/>
        </p:nvSpPr>
        <p:spPr>
          <a:xfrm>
            <a:off x="9203207" y="2377440"/>
            <a:ext cx="2256968" cy="594360"/>
          </a:xfrm>
          <a:prstGeom prst="rect">
            <a:avLst/>
          </a:prstGeom>
          <a:noFill/>
          <a:ln/>
        </p:spPr>
        <p:txBody>
          <a:bodyPr wrap="square" lIns="0" tIns="0" rIns="0" bIns="0" rtlCol="0" anchor="t"/>
          <a:lstStyle/>
          <a:p>
            <a:pPr indent="0" marL="0">
              <a:buNone/>
            </a:pPr>
            <a:r>
              <a:rPr lang="en-US" sz="1350" b="1" dirty="0">
                <a:solidFill>
                  <a:srgbClr val="132038"/>
                </a:solidFill>
                <a:latin typeface="Cambria" pitchFamily="34" charset="0"/>
                <a:ea typeface="Cambria" pitchFamily="34" charset="-122"/>
                <a:cs typeface="Cambria" pitchFamily="34" charset="-120"/>
              </a:rPr>
              <a:t>Quiz Game Engine</a:t>
            </a:r>
            <a:endParaRPr lang="en-US" sz="1350" dirty="0"/>
          </a:p>
        </p:txBody>
      </p:sp>
      <p:sp>
        <p:nvSpPr>
          <p:cNvPr id="24" name="Text 22"/>
          <p:cNvSpPr txBox="1"/>
          <p:nvPr/>
        </p:nvSpPr>
        <p:spPr>
          <a:xfrm>
            <a:off x="9203207" y="2953512"/>
            <a:ext cx="2256968" cy="886968"/>
          </a:xfrm>
          <a:prstGeom prst="rect">
            <a:avLst/>
          </a:prstGeom>
          <a:noFill/>
          <a:ln/>
        </p:spPr>
        <p:txBody>
          <a:bodyPr wrap="square" lIns="0" tIns="0" rIns="0" bIns="0" rtlCol="0" anchor="t"/>
          <a:lstStyle/>
          <a:p>
            <a:pPr indent="0" marL="0">
              <a:buNone/>
            </a:pPr>
            <a:r>
              <a:rPr lang="en-US" sz="1050" dirty="0">
                <a:solidFill>
                  <a:srgbClr val="30425E"/>
                </a:solidFill>
                <a:latin typeface="Calibri" pitchFamily="34" charset="0"/>
                <a:ea typeface="Calibri" pitchFamily="34" charset="-122"/>
                <a:cs typeface="Calibri" pitchFamily="34" charset="-120"/>
              </a:rPr>
              <a:t>Load a question bank from a file, ask questions, score the player, save high scores. Stretch: difficulty levels, a timer.</a:t>
            </a:r>
            <a:endParaRPr lang="en-US" sz="1050" dirty="0"/>
          </a:p>
        </p:txBody>
      </p:sp>
      <p:sp>
        <p:nvSpPr>
          <p:cNvPr id="25" name="Shape 23"/>
          <p:cNvSpPr/>
          <p:nvPr/>
        </p:nvSpPr>
        <p:spPr>
          <a:xfrm>
            <a:off x="548640" y="4169664"/>
            <a:ext cx="2622728" cy="2185416"/>
          </a:xfrm>
          <a:prstGeom prst="roundRect">
            <a:avLst>
              <a:gd name="adj" fmla="val 3347"/>
            </a:avLst>
          </a:prstGeom>
          <a:solidFill>
            <a:srgbClr val="FFFFFF"/>
          </a:solidFill>
          <a:ln w="12700">
            <a:solidFill>
              <a:srgbClr val="DCE2EC"/>
            </a:solidFill>
            <a:prstDash val="solid"/>
          </a:ln>
        </p:spPr>
      </p:sp>
      <p:sp>
        <p:nvSpPr>
          <p:cNvPr id="26" name="Shape 24"/>
          <p:cNvSpPr/>
          <p:nvPr/>
        </p:nvSpPr>
        <p:spPr>
          <a:xfrm>
            <a:off x="731520" y="4334256"/>
            <a:ext cx="329184" cy="329184"/>
          </a:xfrm>
          <a:prstGeom prst="ellipse">
            <a:avLst/>
          </a:prstGeom>
          <a:solidFill>
            <a:srgbClr val="0B1F3A"/>
          </a:solidFill>
          <a:ln/>
        </p:spPr>
      </p:sp>
      <p:sp>
        <p:nvSpPr>
          <p:cNvPr id="27" name="Text 25"/>
          <p:cNvSpPr txBox="1"/>
          <p:nvPr/>
        </p:nvSpPr>
        <p:spPr>
          <a:xfrm>
            <a:off x="731520" y="4334256"/>
            <a:ext cx="329184" cy="329184"/>
          </a:xfrm>
          <a:prstGeom prst="rect">
            <a:avLst/>
          </a:prstGeom>
          <a:noFill/>
          <a:ln/>
        </p:spPr>
        <p:txBody>
          <a:bodyPr wrap="square" lIns="0" tIns="0" rIns="0" bIns="0" rtlCol="0" anchor="ctr"/>
          <a:lstStyle/>
          <a:p>
            <a:pPr algn="ctr" indent="0" marL="0">
              <a:buNone/>
            </a:pPr>
            <a:r>
              <a:rPr lang="en-US" sz="1300" b="1" dirty="0">
                <a:solidFill>
                  <a:srgbClr val="3DDC84"/>
                </a:solidFill>
                <a:latin typeface="Calibri" pitchFamily="34" charset="0"/>
                <a:ea typeface="Calibri" pitchFamily="34" charset="-122"/>
                <a:cs typeface="Calibri" pitchFamily="34" charset="-120"/>
              </a:rPr>
              <a:t>5</a:t>
            </a:r>
            <a:endParaRPr lang="en-US" sz="1300" dirty="0"/>
          </a:p>
        </p:txBody>
      </p:sp>
      <p:sp>
        <p:nvSpPr>
          <p:cNvPr id="28" name="Text 26"/>
          <p:cNvSpPr txBox="1"/>
          <p:nvPr/>
        </p:nvSpPr>
        <p:spPr>
          <a:xfrm>
            <a:off x="731520" y="4764024"/>
            <a:ext cx="2256968" cy="594360"/>
          </a:xfrm>
          <a:prstGeom prst="rect">
            <a:avLst/>
          </a:prstGeom>
          <a:noFill/>
          <a:ln/>
        </p:spPr>
        <p:txBody>
          <a:bodyPr wrap="square" lIns="0" tIns="0" rIns="0" bIns="0" rtlCol="0" anchor="t"/>
          <a:lstStyle/>
          <a:p>
            <a:pPr indent="0" marL="0">
              <a:buNone/>
            </a:pPr>
            <a:r>
              <a:rPr lang="en-US" sz="1350" b="1" dirty="0">
                <a:solidFill>
                  <a:srgbClr val="132038"/>
                </a:solidFill>
                <a:latin typeface="Cambria" pitchFamily="34" charset="0"/>
                <a:ea typeface="Cambria" pitchFamily="34" charset="-122"/>
                <a:cs typeface="Cambria" pitchFamily="34" charset="-120"/>
              </a:rPr>
              <a:t>Simple Bank Account Simulator</a:t>
            </a:r>
            <a:endParaRPr lang="en-US" sz="1350" dirty="0"/>
          </a:p>
        </p:txBody>
      </p:sp>
      <p:sp>
        <p:nvSpPr>
          <p:cNvPr id="29" name="Text 27"/>
          <p:cNvSpPr txBox="1"/>
          <p:nvPr/>
        </p:nvSpPr>
        <p:spPr>
          <a:xfrm>
            <a:off x="731520" y="5340096"/>
            <a:ext cx="2256968" cy="886968"/>
          </a:xfrm>
          <a:prstGeom prst="rect">
            <a:avLst/>
          </a:prstGeom>
          <a:noFill/>
          <a:ln/>
        </p:spPr>
        <p:txBody>
          <a:bodyPr wrap="square" lIns="0" tIns="0" rIns="0" bIns="0" rtlCol="0" anchor="t"/>
          <a:lstStyle/>
          <a:p>
            <a:pPr indent="0" marL="0">
              <a:buNone/>
            </a:pPr>
            <a:r>
              <a:rPr lang="en-US" sz="1050" dirty="0">
                <a:solidFill>
                  <a:srgbClr val="30425E"/>
                </a:solidFill>
                <a:latin typeface="Calibri" pitchFamily="34" charset="0"/>
                <a:ea typeface="Calibri" pitchFamily="34" charset="-122"/>
                <a:cs typeface="Calibri" pitchFamily="34" charset="-120"/>
              </a:rPr>
              <a:t>Deposit, withdraw, check balance, persisted transaction log. Stretch: multiple accounts, interest, search.</a:t>
            </a:r>
            <a:endParaRPr lang="en-US" sz="1050" dirty="0"/>
          </a:p>
        </p:txBody>
      </p:sp>
      <p:sp>
        <p:nvSpPr>
          <p:cNvPr id="30" name="Shape 28"/>
          <p:cNvSpPr/>
          <p:nvPr/>
        </p:nvSpPr>
        <p:spPr>
          <a:xfrm>
            <a:off x="3372536" y="4169664"/>
            <a:ext cx="2622728" cy="2185416"/>
          </a:xfrm>
          <a:prstGeom prst="roundRect">
            <a:avLst>
              <a:gd name="adj" fmla="val 3347"/>
            </a:avLst>
          </a:prstGeom>
          <a:solidFill>
            <a:srgbClr val="FFFFFF"/>
          </a:solidFill>
          <a:ln w="12700">
            <a:solidFill>
              <a:srgbClr val="DCE2EC"/>
            </a:solidFill>
            <a:prstDash val="solid"/>
          </a:ln>
        </p:spPr>
      </p:sp>
      <p:sp>
        <p:nvSpPr>
          <p:cNvPr id="31" name="Shape 29"/>
          <p:cNvSpPr/>
          <p:nvPr/>
        </p:nvSpPr>
        <p:spPr>
          <a:xfrm>
            <a:off x="3555416" y="4334256"/>
            <a:ext cx="329184" cy="329184"/>
          </a:xfrm>
          <a:prstGeom prst="ellipse">
            <a:avLst/>
          </a:prstGeom>
          <a:solidFill>
            <a:srgbClr val="0B1F3A"/>
          </a:solidFill>
          <a:ln/>
        </p:spPr>
      </p:sp>
      <p:sp>
        <p:nvSpPr>
          <p:cNvPr id="32" name="Text 30"/>
          <p:cNvSpPr txBox="1"/>
          <p:nvPr/>
        </p:nvSpPr>
        <p:spPr>
          <a:xfrm>
            <a:off x="3555416" y="4334256"/>
            <a:ext cx="329184" cy="329184"/>
          </a:xfrm>
          <a:prstGeom prst="rect">
            <a:avLst/>
          </a:prstGeom>
          <a:noFill/>
          <a:ln/>
        </p:spPr>
        <p:txBody>
          <a:bodyPr wrap="square" lIns="0" tIns="0" rIns="0" bIns="0" rtlCol="0" anchor="ctr"/>
          <a:lstStyle/>
          <a:p>
            <a:pPr algn="ctr" indent="0" marL="0">
              <a:buNone/>
            </a:pPr>
            <a:r>
              <a:rPr lang="en-US" sz="1300" b="1" dirty="0">
                <a:solidFill>
                  <a:srgbClr val="3DDC84"/>
                </a:solidFill>
                <a:latin typeface="Calibri" pitchFamily="34" charset="0"/>
                <a:ea typeface="Calibri" pitchFamily="34" charset="-122"/>
                <a:cs typeface="Calibri" pitchFamily="34" charset="-120"/>
              </a:rPr>
              <a:t>6</a:t>
            </a:r>
            <a:endParaRPr lang="en-US" sz="1300" dirty="0"/>
          </a:p>
        </p:txBody>
      </p:sp>
      <p:sp>
        <p:nvSpPr>
          <p:cNvPr id="33" name="Text 31"/>
          <p:cNvSpPr txBox="1"/>
          <p:nvPr/>
        </p:nvSpPr>
        <p:spPr>
          <a:xfrm>
            <a:off x="3555416" y="4764024"/>
            <a:ext cx="2256968" cy="594360"/>
          </a:xfrm>
          <a:prstGeom prst="rect">
            <a:avLst/>
          </a:prstGeom>
          <a:noFill/>
          <a:ln/>
        </p:spPr>
        <p:txBody>
          <a:bodyPr wrap="square" lIns="0" tIns="0" rIns="0" bIns="0" rtlCol="0" anchor="t"/>
          <a:lstStyle/>
          <a:p>
            <a:pPr indent="0" marL="0">
              <a:buNone/>
            </a:pPr>
            <a:r>
              <a:rPr lang="en-US" sz="1350" b="1" dirty="0">
                <a:solidFill>
                  <a:srgbClr val="132038"/>
                </a:solidFill>
                <a:latin typeface="Cambria" pitchFamily="34" charset="0"/>
                <a:ea typeface="Cambria" pitchFamily="34" charset="-122"/>
                <a:cs typeface="Cambria" pitchFamily="34" charset="-120"/>
              </a:rPr>
              <a:t>Text-Based Adventure Game</a:t>
            </a:r>
            <a:endParaRPr lang="en-US" sz="1350" dirty="0"/>
          </a:p>
        </p:txBody>
      </p:sp>
      <p:sp>
        <p:nvSpPr>
          <p:cNvPr id="34" name="Text 32"/>
          <p:cNvSpPr txBox="1"/>
          <p:nvPr/>
        </p:nvSpPr>
        <p:spPr>
          <a:xfrm>
            <a:off x="3555416" y="5340096"/>
            <a:ext cx="2256968" cy="886968"/>
          </a:xfrm>
          <a:prstGeom prst="rect">
            <a:avLst/>
          </a:prstGeom>
          <a:noFill/>
          <a:ln/>
        </p:spPr>
        <p:txBody>
          <a:bodyPr wrap="square" lIns="0" tIns="0" rIns="0" bIns="0" rtlCol="0" anchor="t"/>
          <a:lstStyle/>
          <a:p>
            <a:pPr indent="0" marL="0">
              <a:buNone/>
            </a:pPr>
            <a:r>
              <a:rPr lang="en-US" sz="1050" dirty="0">
                <a:solidFill>
                  <a:srgbClr val="30425E"/>
                </a:solidFill>
                <a:latin typeface="Calibri" pitchFamily="34" charset="0"/>
                <a:ea typeface="Calibri" pitchFamily="34" charset="-122"/>
                <a:cs typeface="Calibri" pitchFamily="34" charset="-120"/>
              </a:rPr>
              <a:t>Rooms and choices driving the player through a small story, with save/load. Stretch: inventory via structs, multiple endings.</a:t>
            </a:r>
            <a:endParaRPr lang="en-US" sz="1050" dirty="0"/>
          </a:p>
        </p:txBody>
      </p:sp>
      <p:sp>
        <p:nvSpPr>
          <p:cNvPr id="35" name="Shape 33"/>
          <p:cNvSpPr/>
          <p:nvPr/>
        </p:nvSpPr>
        <p:spPr>
          <a:xfrm>
            <a:off x="6196432" y="4169664"/>
            <a:ext cx="2622728" cy="2185416"/>
          </a:xfrm>
          <a:prstGeom prst="roundRect">
            <a:avLst>
              <a:gd name="adj" fmla="val 3347"/>
            </a:avLst>
          </a:prstGeom>
          <a:solidFill>
            <a:srgbClr val="FFFFFF"/>
          </a:solidFill>
          <a:ln w="12700">
            <a:solidFill>
              <a:srgbClr val="DCE2EC"/>
            </a:solidFill>
            <a:prstDash val="solid"/>
          </a:ln>
        </p:spPr>
      </p:sp>
      <p:sp>
        <p:nvSpPr>
          <p:cNvPr id="36" name="Shape 34"/>
          <p:cNvSpPr/>
          <p:nvPr/>
        </p:nvSpPr>
        <p:spPr>
          <a:xfrm>
            <a:off x="6379312" y="4334256"/>
            <a:ext cx="329184" cy="329184"/>
          </a:xfrm>
          <a:prstGeom prst="ellipse">
            <a:avLst/>
          </a:prstGeom>
          <a:solidFill>
            <a:srgbClr val="0B1F3A"/>
          </a:solidFill>
          <a:ln/>
        </p:spPr>
      </p:sp>
      <p:sp>
        <p:nvSpPr>
          <p:cNvPr id="37" name="Text 35"/>
          <p:cNvSpPr txBox="1"/>
          <p:nvPr/>
        </p:nvSpPr>
        <p:spPr>
          <a:xfrm>
            <a:off x="6379312" y="4334256"/>
            <a:ext cx="329184" cy="329184"/>
          </a:xfrm>
          <a:prstGeom prst="rect">
            <a:avLst/>
          </a:prstGeom>
          <a:noFill/>
          <a:ln/>
        </p:spPr>
        <p:txBody>
          <a:bodyPr wrap="square" lIns="0" tIns="0" rIns="0" bIns="0" rtlCol="0" anchor="ctr"/>
          <a:lstStyle/>
          <a:p>
            <a:pPr algn="ctr" indent="0" marL="0">
              <a:buNone/>
            </a:pPr>
            <a:r>
              <a:rPr lang="en-US" sz="1300" b="1" dirty="0">
                <a:solidFill>
                  <a:srgbClr val="3DDC84"/>
                </a:solidFill>
                <a:latin typeface="Calibri" pitchFamily="34" charset="0"/>
                <a:ea typeface="Calibri" pitchFamily="34" charset="-122"/>
                <a:cs typeface="Calibri" pitchFamily="34" charset="-120"/>
              </a:rPr>
              <a:t>7</a:t>
            </a:r>
            <a:endParaRPr lang="en-US" sz="1300" dirty="0"/>
          </a:p>
        </p:txBody>
      </p:sp>
      <p:sp>
        <p:nvSpPr>
          <p:cNvPr id="38" name="Text 36"/>
          <p:cNvSpPr txBox="1"/>
          <p:nvPr/>
        </p:nvSpPr>
        <p:spPr>
          <a:xfrm>
            <a:off x="6379312" y="4764024"/>
            <a:ext cx="2256968" cy="594360"/>
          </a:xfrm>
          <a:prstGeom prst="rect">
            <a:avLst/>
          </a:prstGeom>
          <a:noFill/>
          <a:ln/>
        </p:spPr>
        <p:txBody>
          <a:bodyPr wrap="square" lIns="0" tIns="0" rIns="0" bIns="0" rtlCol="0" anchor="t"/>
          <a:lstStyle/>
          <a:p>
            <a:pPr indent="0" marL="0">
              <a:buNone/>
            </a:pPr>
            <a:r>
              <a:rPr lang="en-US" sz="1350" b="1" dirty="0">
                <a:solidFill>
                  <a:srgbClr val="132038"/>
                </a:solidFill>
                <a:latin typeface="Cambria" pitchFamily="34" charset="0"/>
                <a:ea typeface="Cambria" pitchFamily="34" charset="-122"/>
                <a:cs typeface="Cambria" pitchFamily="34" charset="-120"/>
              </a:rPr>
              <a:t>Personal Expense Tracker</a:t>
            </a:r>
            <a:endParaRPr lang="en-US" sz="1350" dirty="0"/>
          </a:p>
        </p:txBody>
      </p:sp>
      <p:sp>
        <p:nvSpPr>
          <p:cNvPr id="39" name="Text 37"/>
          <p:cNvSpPr txBox="1"/>
          <p:nvPr/>
        </p:nvSpPr>
        <p:spPr>
          <a:xfrm>
            <a:off x="6379312" y="5340096"/>
            <a:ext cx="2256968" cy="886968"/>
          </a:xfrm>
          <a:prstGeom prst="rect">
            <a:avLst/>
          </a:prstGeom>
          <a:noFill/>
          <a:ln/>
        </p:spPr>
        <p:txBody>
          <a:bodyPr wrap="square" lIns="0" tIns="0" rIns="0" bIns="0" rtlCol="0" anchor="t"/>
          <a:lstStyle/>
          <a:p>
            <a:pPr indent="0" marL="0">
              <a:buNone/>
            </a:pPr>
            <a:r>
              <a:rPr lang="en-US" sz="1050" dirty="0">
                <a:solidFill>
                  <a:srgbClr val="30425E"/>
                </a:solidFill>
                <a:latin typeface="Calibri" pitchFamily="34" charset="0"/>
                <a:ea typeface="Calibri" pitchFamily="34" charset="-122"/>
                <a:cs typeface="Calibri" pitchFamily="34" charset="-120"/>
              </a:rPr>
              <a:t>Struct: category, amount, date. Log to a file, show totals and stats. Stretch: monthly summaries, budget comparison.</a:t>
            </a:r>
            <a:endParaRPr lang="en-US" sz="1050" dirty="0"/>
          </a:p>
        </p:txBody>
      </p:sp>
      <p:sp>
        <p:nvSpPr>
          <p:cNvPr id="40" name="Text 38"/>
          <p:cNvSpPr txBox="1"/>
          <p:nvPr/>
        </p:nvSpPr>
        <p:spPr>
          <a:xfrm>
            <a:off x="548640" y="6473952"/>
            <a:ext cx="6400800" cy="274320"/>
          </a:xfrm>
          <a:prstGeom prst="rect">
            <a:avLst/>
          </a:prstGeom>
          <a:noFill/>
          <a:ln/>
        </p:spPr>
        <p:txBody>
          <a:bodyPr wrap="square" lIns="0" tIns="0" rIns="0" bIns="0" rtlCol="0" anchor="ctr"/>
          <a:lstStyle/>
          <a:p>
            <a:pPr indent="0" marL="0">
              <a:buNone/>
            </a:pPr>
            <a:r>
              <a:rPr lang="en-US" sz="900" dirty="0">
                <a:solidFill>
                  <a:srgbClr val="5B6B82"/>
                </a:solidFill>
                <a:latin typeface="Calibri" pitchFamily="34" charset="0"/>
                <a:ea typeface="Calibri" pitchFamily="34" charset="-122"/>
                <a:cs typeface="Calibri" pitchFamily="34" charset="-120"/>
              </a:rPr>
              <a:t>MODULE 9 — CAPSTONE PROJECT</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48640" y="502920"/>
            <a:ext cx="1623243" cy="310896"/>
          </a:xfrm>
          <a:prstGeom prst="roundRect">
            <a:avLst>
              <a:gd name="adj" fmla="val 50000"/>
            </a:avLst>
          </a:prstGeom>
          <a:solidFill>
            <a:srgbClr val="0B1F3A"/>
          </a:solidFill>
          <a:ln/>
        </p:spPr>
      </p:sp>
      <p:sp>
        <p:nvSpPr>
          <p:cNvPr id="3" name="Text 1"/>
          <p:cNvSpPr txBox="1"/>
          <p:nvPr/>
        </p:nvSpPr>
        <p:spPr>
          <a:xfrm>
            <a:off x="548640" y="502920"/>
            <a:ext cx="1623243" cy="310896"/>
          </a:xfrm>
          <a:prstGeom prst="rect">
            <a:avLst/>
          </a:prstGeom>
          <a:noFill/>
          <a:ln/>
        </p:spPr>
        <p:txBody>
          <a:bodyPr wrap="square" lIns="0" tIns="0" rIns="0" bIns="0" rtlCol="0" anchor="ctr"/>
          <a:lstStyle/>
          <a:p>
            <a:pPr algn="ctr" indent="0" marL="0">
              <a:buNone/>
            </a:pPr>
            <a:r>
              <a:rPr lang="en-US" sz="1100" b="1" spc="100" kern="0" dirty="0">
                <a:solidFill>
                  <a:srgbClr val="3DDC84"/>
                </a:solidFill>
                <a:latin typeface="Calibri" pitchFamily="34" charset="0"/>
                <a:ea typeface="Calibri" pitchFamily="34" charset="-122"/>
                <a:cs typeface="Calibri" pitchFamily="34" charset="-120"/>
              </a:rPr>
              <a:t>SUGGESTED TIMELINE</a:t>
            </a:r>
            <a:endParaRPr lang="en-US" sz="1100" dirty="0"/>
          </a:p>
        </p:txBody>
      </p:sp>
      <p:sp>
        <p:nvSpPr>
          <p:cNvPr id="4" name="Text 2"/>
          <p:cNvSpPr txBox="1"/>
          <p:nvPr/>
        </p:nvSpPr>
        <p:spPr>
          <a:xfrm>
            <a:off x="548640" y="960120"/>
            <a:ext cx="11094415" cy="822960"/>
          </a:xfrm>
          <a:prstGeom prst="rect">
            <a:avLst/>
          </a:prstGeom>
          <a:noFill/>
          <a:ln/>
        </p:spPr>
        <p:txBody>
          <a:bodyPr wrap="square" lIns="0" tIns="0" rIns="0" bIns="0" rtlCol="0" anchor="t"/>
          <a:lstStyle/>
          <a:p>
            <a:pPr algn="l" indent="0" marL="0">
              <a:buNone/>
            </a:pPr>
            <a:r>
              <a:rPr lang="en-US" sz="2800" b="1" dirty="0">
                <a:solidFill>
                  <a:srgbClr val="132038"/>
                </a:solidFill>
                <a:latin typeface="Cambria" pitchFamily="34" charset="0"/>
                <a:ea typeface="Cambria" pitchFamily="34" charset="-122"/>
                <a:cs typeface="Cambria" pitchFamily="34" charset="-120"/>
              </a:rPr>
              <a:t>Five sprints to submission</a:t>
            </a:r>
            <a:endParaRPr lang="en-US" sz="2800" dirty="0"/>
          </a:p>
        </p:txBody>
      </p:sp>
      <p:sp>
        <p:nvSpPr>
          <p:cNvPr id="5" name="Shape 3"/>
          <p:cNvSpPr/>
          <p:nvPr/>
        </p:nvSpPr>
        <p:spPr>
          <a:xfrm>
            <a:off x="548640" y="3246120"/>
            <a:ext cx="11094415" cy="0"/>
          </a:xfrm>
          <a:prstGeom prst="line">
            <a:avLst/>
          </a:prstGeom>
          <a:noFill/>
          <a:ln w="25400">
            <a:solidFill>
              <a:srgbClr val="DCE2EC"/>
            </a:solidFill>
            <a:prstDash val="solid"/>
          </a:ln>
        </p:spPr>
      </p:sp>
      <p:sp>
        <p:nvSpPr>
          <p:cNvPr id="6" name="Shape 4"/>
          <p:cNvSpPr/>
          <p:nvPr/>
        </p:nvSpPr>
        <p:spPr>
          <a:xfrm>
            <a:off x="1456914" y="3118104"/>
            <a:ext cx="256032" cy="256032"/>
          </a:xfrm>
          <a:prstGeom prst="ellipse">
            <a:avLst/>
          </a:prstGeom>
          <a:solidFill>
            <a:srgbClr val="3DDC84"/>
          </a:solidFill>
          <a:ln w="38100">
            <a:solidFill>
              <a:srgbClr val="F2F4F8"/>
            </a:solidFill>
            <a:prstDash val="solid"/>
          </a:ln>
        </p:spPr>
      </p:sp>
      <p:sp>
        <p:nvSpPr>
          <p:cNvPr id="7" name="Text 5"/>
          <p:cNvSpPr txBox="1"/>
          <p:nvPr/>
        </p:nvSpPr>
        <p:spPr>
          <a:xfrm>
            <a:off x="548640" y="1965960"/>
            <a:ext cx="2072579" cy="1143000"/>
          </a:xfrm>
          <a:prstGeom prst="rect">
            <a:avLst/>
          </a:prstGeom>
          <a:noFill/>
          <a:ln/>
        </p:spPr>
        <p:txBody>
          <a:bodyPr wrap="square" lIns="0" tIns="0" rIns="0" bIns="0" rtlCol="0" anchor="b"/>
          <a:lstStyle/>
          <a:p>
            <a:pPr algn="ctr" indent="0" marL="0">
              <a:buNone/>
            </a:pPr>
            <a:r>
              <a:rPr lang="en-US" sz="1350" b="1" dirty="0">
                <a:solidFill>
                  <a:srgbClr val="132038"/>
                </a:solidFill>
                <a:latin typeface="Cambria" pitchFamily="34" charset="0"/>
                <a:ea typeface="Cambria" pitchFamily="34" charset="-122"/>
                <a:cs typeface="Cambria" pitchFamily="34" charset="-120"/>
              </a:rPr>
              <a:t>Sprint 0</a:t>
            </a:r>
            <a:endParaRPr lang="en-US" sz="1350" dirty="0"/>
          </a:p>
        </p:txBody>
      </p:sp>
      <p:sp>
        <p:nvSpPr>
          <p:cNvPr id="8" name="Shape 6"/>
          <p:cNvSpPr/>
          <p:nvPr/>
        </p:nvSpPr>
        <p:spPr>
          <a:xfrm>
            <a:off x="594360" y="3566160"/>
            <a:ext cx="1981139" cy="2468880"/>
          </a:xfrm>
          <a:prstGeom prst="roundRect">
            <a:avLst>
              <a:gd name="adj" fmla="val 2769"/>
            </a:avLst>
          </a:prstGeom>
          <a:solidFill>
            <a:srgbClr val="FFFFFF"/>
          </a:solidFill>
          <a:ln w="12700">
            <a:solidFill>
              <a:srgbClr val="DCE2EC"/>
            </a:solidFill>
            <a:prstDash val="solid"/>
          </a:ln>
        </p:spPr>
      </p:sp>
      <p:sp>
        <p:nvSpPr>
          <p:cNvPr id="9" name="Text 7"/>
          <p:cNvSpPr txBox="1"/>
          <p:nvPr/>
        </p:nvSpPr>
        <p:spPr>
          <a:xfrm>
            <a:off x="731520" y="3703320"/>
            <a:ext cx="1706819" cy="2194560"/>
          </a:xfrm>
          <a:prstGeom prst="rect">
            <a:avLst/>
          </a:prstGeom>
          <a:noFill/>
          <a:ln/>
        </p:spPr>
        <p:txBody>
          <a:bodyPr wrap="square" lIns="0" tIns="0" rIns="0" bIns="0" rtlCol="0" anchor="t"/>
          <a:lstStyle/>
          <a:p>
            <a:pPr algn="l" indent="0" marL="0">
              <a:buNone/>
            </a:pPr>
            <a:r>
              <a:rPr lang="en-US" sz="1050" dirty="0">
                <a:solidFill>
                  <a:srgbClr val="30425E"/>
                </a:solidFill>
                <a:latin typeface="Calibri" pitchFamily="34" charset="0"/>
                <a:ea typeface="Calibri" pitchFamily="34" charset="-122"/>
                <a:cs typeface="Calibri" pitchFamily="34" charset="-120"/>
              </a:rPr>
              <a:t>Team formed, project chosen, structs designed on paper first. Git evidence: an initial commit with struct definitions and a plan in the README.</a:t>
            </a:r>
            <a:endParaRPr lang="en-US" sz="1050" dirty="0"/>
          </a:p>
        </p:txBody>
      </p:sp>
      <p:sp>
        <p:nvSpPr>
          <p:cNvPr id="10" name="Shape 8"/>
          <p:cNvSpPr/>
          <p:nvPr/>
        </p:nvSpPr>
        <p:spPr>
          <a:xfrm>
            <a:off x="3712373" y="3118104"/>
            <a:ext cx="256032" cy="256032"/>
          </a:xfrm>
          <a:prstGeom prst="ellipse">
            <a:avLst/>
          </a:prstGeom>
          <a:solidFill>
            <a:srgbClr val="3DDC84"/>
          </a:solidFill>
          <a:ln w="38100">
            <a:solidFill>
              <a:srgbClr val="F2F4F8"/>
            </a:solidFill>
            <a:prstDash val="solid"/>
          </a:ln>
        </p:spPr>
      </p:sp>
      <p:sp>
        <p:nvSpPr>
          <p:cNvPr id="11" name="Text 9"/>
          <p:cNvSpPr txBox="1"/>
          <p:nvPr/>
        </p:nvSpPr>
        <p:spPr>
          <a:xfrm>
            <a:off x="2804099" y="1965960"/>
            <a:ext cx="2072579" cy="1143000"/>
          </a:xfrm>
          <a:prstGeom prst="rect">
            <a:avLst/>
          </a:prstGeom>
          <a:noFill/>
          <a:ln/>
        </p:spPr>
        <p:txBody>
          <a:bodyPr wrap="square" lIns="0" tIns="0" rIns="0" bIns="0" rtlCol="0" anchor="b"/>
          <a:lstStyle/>
          <a:p>
            <a:pPr algn="ctr" indent="0" marL="0">
              <a:buNone/>
            </a:pPr>
            <a:r>
              <a:rPr lang="en-US" sz="1350" b="1" dirty="0">
                <a:solidFill>
                  <a:srgbClr val="132038"/>
                </a:solidFill>
                <a:latin typeface="Cambria" pitchFamily="34" charset="0"/>
                <a:ea typeface="Cambria" pitchFamily="34" charset="-122"/>
                <a:cs typeface="Cambria" pitchFamily="34" charset="-120"/>
              </a:rPr>
              <a:t>Sprint 1</a:t>
            </a:r>
            <a:endParaRPr lang="en-US" sz="1350" dirty="0"/>
          </a:p>
        </p:txBody>
      </p:sp>
      <p:sp>
        <p:nvSpPr>
          <p:cNvPr id="12" name="Shape 10"/>
          <p:cNvSpPr/>
          <p:nvPr/>
        </p:nvSpPr>
        <p:spPr>
          <a:xfrm>
            <a:off x="2849819" y="3566160"/>
            <a:ext cx="1981139" cy="2468880"/>
          </a:xfrm>
          <a:prstGeom prst="roundRect">
            <a:avLst>
              <a:gd name="adj" fmla="val 2769"/>
            </a:avLst>
          </a:prstGeom>
          <a:solidFill>
            <a:srgbClr val="FFFFFF"/>
          </a:solidFill>
          <a:ln w="12700">
            <a:solidFill>
              <a:srgbClr val="DCE2EC"/>
            </a:solidFill>
            <a:prstDash val="solid"/>
          </a:ln>
        </p:spPr>
      </p:sp>
      <p:sp>
        <p:nvSpPr>
          <p:cNvPr id="13" name="Text 11"/>
          <p:cNvSpPr txBox="1"/>
          <p:nvPr/>
        </p:nvSpPr>
        <p:spPr>
          <a:xfrm>
            <a:off x="2986979" y="3703320"/>
            <a:ext cx="1706819" cy="2194560"/>
          </a:xfrm>
          <a:prstGeom prst="rect">
            <a:avLst/>
          </a:prstGeom>
          <a:noFill/>
          <a:ln/>
        </p:spPr>
        <p:txBody>
          <a:bodyPr wrap="square" lIns="0" tIns="0" rIns="0" bIns="0" rtlCol="0" anchor="t"/>
          <a:lstStyle/>
          <a:p>
            <a:pPr algn="l" indent="0" marL="0">
              <a:buNone/>
            </a:pPr>
            <a:r>
              <a:rPr lang="en-US" sz="1050" dirty="0">
                <a:solidFill>
                  <a:srgbClr val="30425E"/>
                </a:solidFill>
                <a:latin typeface="Calibri" pitchFamily="34" charset="0"/>
                <a:ea typeface="Calibri" pitchFamily="34" charset="-122"/>
                <a:cs typeface="Calibri" pitchFamily="34" charset="-120"/>
              </a:rPr>
              <a:t>Core data operations working (add/search/edit) in memory, no file I/O yet. Git evidence: several small commits, each compiling cleanly.</a:t>
            </a:r>
            <a:endParaRPr lang="en-US" sz="1050" dirty="0"/>
          </a:p>
        </p:txBody>
      </p:sp>
      <p:sp>
        <p:nvSpPr>
          <p:cNvPr id="14" name="Shape 12"/>
          <p:cNvSpPr/>
          <p:nvPr/>
        </p:nvSpPr>
        <p:spPr>
          <a:xfrm>
            <a:off x="5967832" y="3118104"/>
            <a:ext cx="256032" cy="256032"/>
          </a:xfrm>
          <a:prstGeom prst="ellipse">
            <a:avLst/>
          </a:prstGeom>
          <a:solidFill>
            <a:srgbClr val="3DDC84"/>
          </a:solidFill>
          <a:ln w="38100">
            <a:solidFill>
              <a:srgbClr val="F2F4F8"/>
            </a:solidFill>
            <a:prstDash val="solid"/>
          </a:ln>
        </p:spPr>
      </p:sp>
      <p:sp>
        <p:nvSpPr>
          <p:cNvPr id="15" name="Text 13"/>
          <p:cNvSpPr txBox="1"/>
          <p:nvPr/>
        </p:nvSpPr>
        <p:spPr>
          <a:xfrm>
            <a:off x="5059558" y="1965960"/>
            <a:ext cx="2072579" cy="1143000"/>
          </a:xfrm>
          <a:prstGeom prst="rect">
            <a:avLst/>
          </a:prstGeom>
          <a:noFill/>
          <a:ln/>
        </p:spPr>
        <p:txBody>
          <a:bodyPr wrap="square" lIns="0" tIns="0" rIns="0" bIns="0" rtlCol="0" anchor="b"/>
          <a:lstStyle/>
          <a:p>
            <a:pPr algn="ctr" indent="0" marL="0">
              <a:buNone/>
            </a:pPr>
            <a:r>
              <a:rPr lang="en-US" sz="1350" b="1" dirty="0">
                <a:solidFill>
                  <a:srgbClr val="132038"/>
                </a:solidFill>
                <a:latin typeface="Cambria" pitchFamily="34" charset="0"/>
                <a:ea typeface="Cambria" pitchFamily="34" charset="-122"/>
                <a:cs typeface="Cambria" pitchFamily="34" charset="-120"/>
              </a:rPr>
              <a:t>Sprint 2</a:t>
            </a:r>
            <a:endParaRPr lang="en-US" sz="1350" dirty="0"/>
          </a:p>
        </p:txBody>
      </p:sp>
      <p:sp>
        <p:nvSpPr>
          <p:cNvPr id="16" name="Shape 14"/>
          <p:cNvSpPr/>
          <p:nvPr/>
        </p:nvSpPr>
        <p:spPr>
          <a:xfrm>
            <a:off x="5105278" y="3566160"/>
            <a:ext cx="1981139" cy="2468880"/>
          </a:xfrm>
          <a:prstGeom prst="roundRect">
            <a:avLst>
              <a:gd name="adj" fmla="val 2769"/>
            </a:avLst>
          </a:prstGeom>
          <a:solidFill>
            <a:srgbClr val="FFFFFF"/>
          </a:solidFill>
          <a:ln w="12700">
            <a:solidFill>
              <a:srgbClr val="DCE2EC"/>
            </a:solidFill>
            <a:prstDash val="solid"/>
          </a:ln>
        </p:spPr>
      </p:sp>
      <p:sp>
        <p:nvSpPr>
          <p:cNvPr id="17" name="Text 15"/>
          <p:cNvSpPr txBox="1"/>
          <p:nvPr/>
        </p:nvSpPr>
        <p:spPr>
          <a:xfrm>
            <a:off x="5242438" y="3703320"/>
            <a:ext cx="1706819" cy="2194560"/>
          </a:xfrm>
          <a:prstGeom prst="rect">
            <a:avLst/>
          </a:prstGeom>
          <a:noFill/>
          <a:ln/>
        </p:spPr>
        <p:txBody>
          <a:bodyPr wrap="square" lIns="0" tIns="0" rIns="0" bIns="0" rtlCol="0" anchor="t"/>
          <a:lstStyle/>
          <a:p>
            <a:pPr algn="l" indent="0" marL="0">
              <a:buNone/>
            </a:pPr>
            <a:r>
              <a:rPr lang="en-US" sz="1050" dirty="0">
                <a:solidFill>
                  <a:srgbClr val="30425E"/>
                </a:solidFill>
                <a:latin typeface="Calibri" pitchFamily="34" charset="0"/>
                <a:ea typeface="Calibri" pitchFamily="34" charset="-122"/>
                <a:cs typeface="Calibri" pitchFamily="34" charset="-120"/>
              </a:rPr>
              <a:t>File I/O: save and load your data correctly. Git evidence: a commit where you can close and reopen without losing data.</a:t>
            </a:r>
            <a:endParaRPr lang="en-US" sz="1050" dirty="0"/>
          </a:p>
        </p:txBody>
      </p:sp>
      <p:sp>
        <p:nvSpPr>
          <p:cNvPr id="18" name="Shape 16"/>
          <p:cNvSpPr/>
          <p:nvPr/>
        </p:nvSpPr>
        <p:spPr>
          <a:xfrm>
            <a:off x="8223291" y="3118104"/>
            <a:ext cx="256032" cy="256032"/>
          </a:xfrm>
          <a:prstGeom prst="ellipse">
            <a:avLst/>
          </a:prstGeom>
          <a:solidFill>
            <a:srgbClr val="3DDC84"/>
          </a:solidFill>
          <a:ln w="38100">
            <a:solidFill>
              <a:srgbClr val="F2F4F8"/>
            </a:solidFill>
            <a:prstDash val="solid"/>
          </a:ln>
        </p:spPr>
      </p:sp>
      <p:sp>
        <p:nvSpPr>
          <p:cNvPr id="19" name="Text 17"/>
          <p:cNvSpPr txBox="1"/>
          <p:nvPr/>
        </p:nvSpPr>
        <p:spPr>
          <a:xfrm>
            <a:off x="7315017" y="1965960"/>
            <a:ext cx="2072579" cy="1143000"/>
          </a:xfrm>
          <a:prstGeom prst="rect">
            <a:avLst/>
          </a:prstGeom>
          <a:noFill/>
          <a:ln/>
        </p:spPr>
        <p:txBody>
          <a:bodyPr wrap="square" lIns="0" tIns="0" rIns="0" bIns="0" rtlCol="0" anchor="b"/>
          <a:lstStyle/>
          <a:p>
            <a:pPr algn="ctr" indent="0" marL="0">
              <a:buNone/>
            </a:pPr>
            <a:r>
              <a:rPr lang="en-US" sz="1350" b="1" dirty="0">
                <a:solidFill>
                  <a:srgbClr val="132038"/>
                </a:solidFill>
                <a:latin typeface="Cambria" pitchFamily="34" charset="0"/>
                <a:ea typeface="Cambria" pitchFamily="34" charset="-122"/>
                <a:cs typeface="Cambria" pitchFamily="34" charset="-120"/>
              </a:rPr>
              <a:t>Sprint 3</a:t>
            </a:r>
            <a:endParaRPr lang="en-US" sz="1350" dirty="0"/>
          </a:p>
        </p:txBody>
      </p:sp>
      <p:sp>
        <p:nvSpPr>
          <p:cNvPr id="20" name="Shape 18"/>
          <p:cNvSpPr/>
          <p:nvPr/>
        </p:nvSpPr>
        <p:spPr>
          <a:xfrm>
            <a:off x="7360737" y="3566160"/>
            <a:ext cx="1981139" cy="2468880"/>
          </a:xfrm>
          <a:prstGeom prst="roundRect">
            <a:avLst>
              <a:gd name="adj" fmla="val 2769"/>
            </a:avLst>
          </a:prstGeom>
          <a:solidFill>
            <a:srgbClr val="FFFFFF"/>
          </a:solidFill>
          <a:ln w="12700">
            <a:solidFill>
              <a:srgbClr val="DCE2EC"/>
            </a:solidFill>
            <a:prstDash val="solid"/>
          </a:ln>
        </p:spPr>
      </p:sp>
      <p:sp>
        <p:nvSpPr>
          <p:cNvPr id="21" name="Text 19"/>
          <p:cNvSpPr txBox="1"/>
          <p:nvPr/>
        </p:nvSpPr>
        <p:spPr>
          <a:xfrm>
            <a:off x="7497897" y="3703320"/>
            <a:ext cx="1706819" cy="2194560"/>
          </a:xfrm>
          <a:prstGeom prst="rect">
            <a:avLst/>
          </a:prstGeom>
          <a:noFill/>
          <a:ln/>
        </p:spPr>
        <p:txBody>
          <a:bodyPr wrap="square" lIns="0" tIns="0" rIns="0" bIns="0" rtlCol="0" anchor="t"/>
          <a:lstStyle/>
          <a:p>
            <a:pPr algn="l" indent="0" marL="0">
              <a:buNone/>
            </a:pPr>
            <a:r>
              <a:rPr lang="en-US" sz="1050" dirty="0">
                <a:solidFill>
                  <a:srgbClr val="30425E"/>
                </a:solidFill>
                <a:latin typeface="Calibri" pitchFamily="34" charset="0"/>
                <a:ea typeface="Calibri" pitchFamily="34" charset="-122"/>
                <a:cs typeface="Calibri" pitchFamily="34" charset="-120"/>
              </a:rPr>
              <a:t>Menu loop, polish, edge cases (empty list, bad input). Git evidence: commits addressing specific bugs you found.</a:t>
            </a:r>
            <a:endParaRPr lang="en-US" sz="1050" dirty="0"/>
          </a:p>
        </p:txBody>
      </p:sp>
      <p:sp>
        <p:nvSpPr>
          <p:cNvPr id="22" name="Shape 20"/>
          <p:cNvSpPr/>
          <p:nvPr/>
        </p:nvSpPr>
        <p:spPr>
          <a:xfrm>
            <a:off x="10478750" y="3118104"/>
            <a:ext cx="256032" cy="256032"/>
          </a:xfrm>
          <a:prstGeom prst="ellipse">
            <a:avLst/>
          </a:prstGeom>
          <a:solidFill>
            <a:srgbClr val="3DDC84"/>
          </a:solidFill>
          <a:ln w="38100">
            <a:solidFill>
              <a:srgbClr val="F2F4F8"/>
            </a:solidFill>
            <a:prstDash val="solid"/>
          </a:ln>
        </p:spPr>
      </p:sp>
      <p:sp>
        <p:nvSpPr>
          <p:cNvPr id="23" name="Text 21"/>
          <p:cNvSpPr txBox="1"/>
          <p:nvPr/>
        </p:nvSpPr>
        <p:spPr>
          <a:xfrm>
            <a:off x="9570476" y="1965960"/>
            <a:ext cx="2072579" cy="1143000"/>
          </a:xfrm>
          <a:prstGeom prst="rect">
            <a:avLst/>
          </a:prstGeom>
          <a:noFill/>
          <a:ln/>
        </p:spPr>
        <p:txBody>
          <a:bodyPr wrap="square" lIns="0" tIns="0" rIns="0" bIns="0" rtlCol="0" anchor="b"/>
          <a:lstStyle/>
          <a:p>
            <a:pPr algn="ctr" indent="0" marL="0">
              <a:buNone/>
            </a:pPr>
            <a:r>
              <a:rPr lang="en-US" sz="1350" b="1" dirty="0">
                <a:solidFill>
                  <a:srgbClr val="132038"/>
                </a:solidFill>
                <a:latin typeface="Cambria" pitchFamily="34" charset="0"/>
                <a:ea typeface="Cambria" pitchFamily="34" charset="-122"/>
                <a:cs typeface="Cambria" pitchFamily="34" charset="-120"/>
              </a:rPr>
              <a:t>Final</a:t>
            </a:r>
            <a:endParaRPr lang="en-US" sz="1350" dirty="0"/>
          </a:p>
        </p:txBody>
      </p:sp>
      <p:sp>
        <p:nvSpPr>
          <p:cNvPr id="24" name="Shape 22"/>
          <p:cNvSpPr/>
          <p:nvPr/>
        </p:nvSpPr>
        <p:spPr>
          <a:xfrm>
            <a:off x="9616196" y="3566160"/>
            <a:ext cx="1981139" cy="2468880"/>
          </a:xfrm>
          <a:prstGeom prst="roundRect">
            <a:avLst>
              <a:gd name="adj" fmla="val 2769"/>
            </a:avLst>
          </a:prstGeom>
          <a:solidFill>
            <a:srgbClr val="FFFFFF"/>
          </a:solidFill>
          <a:ln w="12700">
            <a:solidFill>
              <a:srgbClr val="DCE2EC"/>
            </a:solidFill>
            <a:prstDash val="solid"/>
          </a:ln>
        </p:spPr>
      </p:sp>
      <p:sp>
        <p:nvSpPr>
          <p:cNvPr id="25" name="Text 23"/>
          <p:cNvSpPr txBox="1"/>
          <p:nvPr/>
        </p:nvSpPr>
        <p:spPr>
          <a:xfrm>
            <a:off x="9753356" y="3703320"/>
            <a:ext cx="1706819" cy="2194560"/>
          </a:xfrm>
          <a:prstGeom prst="rect">
            <a:avLst/>
          </a:prstGeom>
          <a:noFill/>
          <a:ln/>
        </p:spPr>
        <p:txBody>
          <a:bodyPr wrap="square" lIns="0" tIns="0" rIns="0" bIns="0" rtlCol="0" anchor="t"/>
          <a:lstStyle/>
          <a:p>
            <a:pPr algn="l" indent="0" marL="0">
              <a:buNone/>
            </a:pPr>
            <a:r>
              <a:rPr lang="en-US" sz="1050" dirty="0">
                <a:solidFill>
                  <a:srgbClr val="30425E"/>
                </a:solidFill>
                <a:latin typeface="Calibri" pitchFamily="34" charset="0"/>
                <a:ea typeface="Calibri" pitchFamily="34" charset="-122"/>
                <a:cs typeface="Calibri" pitchFamily="34" charset="-120"/>
              </a:rPr>
              <a:t>Clean -Wall build, finished README, last push before the deadline. Your final commit IS your submission.</a:t>
            </a:r>
            <a:endParaRPr lang="en-US" sz="1050" dirty="0"/>
          </a:p>
        </p:txBody>
      </p:sp>
      <p:sp>
        <p:nvSpPr>
          <p:cNvPr id="26" name="Text 24"/>
          <p:cNvSpPr txBox="1"/>
          <p:nvPr/>
        </p:nvSpPr>
        <p:spPr>
          <a:xfrm>
            <a:off x="548640" y="6473952"/>
            <a:ext cx="6400800" cy="274320"/>
          </a:xfrm>
          <a:prstGeom prst="rect">
            <a:avLst/>
          </a:prstGeom>
          <a:noFill/>
          <a:ln/>
        </p:spPr>
        <p:txBody>
          <a:bodyPr wrap="square" lIns="0" tIns="0" rIns="0" bIns="0" rtlCol="0" anchor="ctr"/>
          <a:lstStyle/>
          <a:p>
            <a:pPr indent="0" marL="0">
              <a:buNone/>
            </a:pPr>
            <a:r>
              <a:rPr lang="en-US" sz="900" dirty="0">
                <a:solidFill>
                  <a:srgbClr val="5B6B82"/>
                </a:solidFill>
                <a:latin typeface="Calibri" pitchFamily="34" charset="0"/>
                <a:ea typeface="Calibri" pitchFamily="34" charset="-122"/>
                <a:cs typeface="Calibri" pitchFamily="34" charset="-120"/>
              </a:rPr>
              <a:t>MODULE 9 — CAPSTONE PROJECT</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4F8"/>
        </a:solidFill>
      </p:bgPr>
    </p:bg>
    <p:spTree>
      <p:nvGrpSpPr>
        <p:cNvPr id="1" name=""/>
        <p:cNvGrpSpPr/>
        <p:nvPr/>
      </p:nvGrpSpPr>
      <p:grpSpPr>
        <a:xfrm>
          <a:off x="0" y="0"/>
          <a:ext cx="0" cy="0"/>
          <a:chOff x="0" y="0"/>
          <a:chExt cx="0" cy="0"/>
        </a:xfrm>
      </p:grpSpPr>
      <p:sp>
        <p:nvSpPr>
          <p:cNvPr id="2" name="Shape 0"/>
          <p:cNvSpPr/>
          <p:nvPr/>
        </p:nvSpPr>
        <p:spPr>
          <a:xfrm>
            <a:off x="548640" y="502920"/>
            <a:ext cx="675193" cy="310896"/>
          </a:xfrm>
          <a:prstGeom prst="roundRect">
            <a:avLst>
              <a:gd name="adj" fmla="val 50000"/>
            </a:avLst>
          </a:prstGeom>
          <a:solidFill>
            <a:srgbClr val="0B1F3A"/>
          </a:solidFill>
          <a:ln/>
        </p:spPr>
      </p:sp>
      <p:sp>
        <p:nvSpPr>
          <p:cNvPr id="3" name="Text 1"/>
          <p:cNvSpPr txBox="1"/>
          <p:nvPr/>
        </p:nvSpPr>
        <p:spPr>
          <a:xfrm>
            <a:off x="548640" y="502920"/>
            <a:ext cx="675193" cy="310896"/>
          </a:xfrm>
          <a:prstGeom prst="rect">
            <a:avLst/>
          </a:prstGeom>
          <a:noFill/>
          <a:ln/>
        </p:spPr>
        <p:txBody>
          <a:bodyPr wrap="square" lIns="0" tIns="0" rIns="0" bIns="0" rtlCol="0" anchor="ctr"/>
          <a:lstStyle/>
          <a:p>
            <a:pPr algn="ctr" indent="0" marL="0">
              <a:buNone/>
            </a:pPr>
            <a:r>
              <a:rPr lang="en-US" sz="1100" b="1" spc="100" kern="0" dirty="0">
                <a:solidFill>
                  <a:srgbClr val="3DDC84"/>
                </a:solidFill>
                <a:latin typeface="Calibri" pitchFamily="34" charset="0"/>
                <a:ea typeface="Calibri" pitchFamily="34" charset="-122"/>
                <a:cs typeface="Calibri" pitchFamily="34" charset="-120"/>
              </a:rPr>
              <a:t>RUBRIC</a:t>
            </a:r>
            <a:endParaRPr lang="en-US" sz="1100" dirty="0"/>
          </a:p>
        </p:txBody>
      </p:sp>
      <p:sp>
        <p:nvSpPr>
          <p:cNvPr id="4" name="Text 2"/>
          <p:cNvSpPr txBox="1"/>
          <p:nvPr/>
        </p:nvSpPr>
        <p:spPr>
          <a:xfrm>
            <a:off x="548640" y="960120"/>
            <a:ext cx="11094415" cy="822960"/>
          </a:xfrm>
          <a:prstGeom prst="rect">
            <a:avLst/>
          </a:prstGeom>
          <a:noFill/>
          <a:ln/>
        </p:spPr>
        <p:txBody>
          <a:bodyPr wrap="square" lIns="0" tIns="0" rIns="0" bIns="0" rtlCol="0" anchor="t"/>
          <a:lstStyle/>
          <a:p>
            <a:pPr algn="l" indent="0" marL="0">
              <a:buNone/>
            </a:pPr>
            <a:r>
              <a:rPr lang="en-US" sz="2800" b="1" dirty="0">
                <a:solidFill>
                  <a:srgbClr val="132038"/>
                </a:solidFill>
                <a:latin typeface="Cambria" pitchFamily="34" charset="0"/>
                <a:ea typeface="Cambria" pitchFamily="34" charset="-122"/>
                <a:cs typeface="Cambria" pitchFamily="34" charset="-120"/>
              </a:rPr>
              <a:t>How this gets assessed</a:t>
            </a:r>
            <a:endParaRPr lang="en-US" sz="2800" dirty="0"/>
          </a:p>
        </p:txBody>
      </p:sp>
      <p:sp>
        <p:nvSpPr>
          <p:cNvPr id="5" name="Shape 3"/>
          <p:cNvSpPr/>
          <p:nvPr/>
        </p:nvSpPr>
        <p:spPr>
          <a:xfrm>
            <a:off x="548640" y="2286000"/>
            <a:ext cx="457200" cy="457200"/>
          </a:xfrm>
          <a:prstGeom prst="ellipse">
            <a:avLst/>
          </a:prstGeom>
          <a:solidFill>
            <a:srgbClr val="0B1F3A"/>
          </a:solidFill>
          <a:ln/>
        </p:spPr>
      </p:sp>
      <p:sp>
        <p:nvSpPr>
          <p:cNvPr id="6" name="Text 4"/>
          <p:cNvSpPr txBox="1"/>
          <p:nvPr/>
        </p:nvSpPr>
        <p:spPr>
          <a:xfrm>
            <a:off x="548640" y="2286000"/>
            <a:ext cx="457200" cy="457200"/>
          </a:xfrm>
          <a:prstGeom prst="rect">
            <a:avLst/>
          </a:prstGeom>
          <a:noFill/>
          <a:ln/>
        </p:spPr>
        <p:txBody>
          <a:bodyPr wrap="square" lIns="0" tIns="0" rIns="0" bIns="0" rtlCol="0" anchor="ctr"/>
          <a:lstStyle/>
          <a:p>
            <a:pPr algn="ctr" indent="0" marL="0">
              <a:buNone/>
            </a:pPr>
            <a:r>
              <a:rPr lang="en-US" sz="1700" b="1" dirty="0">
                <a:solidFill>
                  <a:srgbClr val="3DDC84"/>
                </a:solidFill>
                <a:latin typeface="Calibri" pitchFamily="34" charset="0"/>
                <a:ea typeface="Calibri" pitchFamily="34" charset="-122"/>
                <a:cs typeface="Calibri" pitchFamily="34" charset="-120"/>
              </a:rPr>
              <a:t>1</a:t>
            </a:r>
            <a:endParaRPr lang="en-US" sz="1700" dirty="0"/>
          </a:p>
        </p:txBody>
      </p:sp>
      <p:sp>
        <p:nvSpPr>
          <p:cNvPr id="7" name="Text 5"/>
          <p:cNvSpPr txBox="1"/>
          <p:nvPr/>
        </p:nvSpPr>
        <p:spPr>
          <a:xfrm>
            <a:off x="1234440" y="2148840"/>
            <a:ext cx="10408615" cy="594360"/>
          </a:xfrm>
          <a:prstGeom prst="rect">
            <a:avLst/>
          </a:prstGeom>
          <a:noFill/>
          <a:ln/>
        </p:spPr>
        <p:txBody>
          <a:bodyPr wrap="square" lIns="0" tIns="0" rIns="0" bIns="0" rtlCol="0" anchor="ctr"/>
          <a:lstStyle/>
          <a:p>
            <a:pPr indent="0" marL="0">
              <a:buNone/>
            </a:pPr>
            <a:r>
              <a:rPr lang="en-US" sz="1550" b="1" dirty="0">
                <a:solidFill>
                  <a:srgbClr val="132038"/>
                </a:solidFill>
                <a:latin typeface="Calibri" pitchFamily="34" charset="0"/>
                <a:ea typeface="Calibri" pitchFamily="34" charset="-122"/>
                <a:cs typeface="Calibri" pitchFamily="34" charset="-120"/>
              </a:rPr>
              <a:t>Correctness  —   </a:t>
            </a:r>
            <a:pPr indent="0" marL="0">
              <a:buNone/>
            </a:pPr>
            <a:r>
              <a:rPr lang="en-US" sz="1550" dirty="0">
                <a:solidFill>
                  <a:srgbClr val="30425E"/>
                </a:solidFill>
                <a:latin typeface="Calibri" pitchFamily="34" charset="0"/>
                <a:ea typeface="Calibri" pitchFamily="34" charset="-122"/>
                <a:cs typeface="Calibri" pitchFamily="34" charset="-120"/>
              </a:rPr>
              <a:t>does it do what it claims, including edge cases — empty input, invalid menu choice, saving/loading correctly?</a:t>
            </a:r>
            <a:endParaRPr lang="en-US" sz="1550" dirty="0"/>
          </a:p>
        </p:txBody>
      </p:sp>
      <p:sp>
        <p:nvSpPr>
          <p:cNvPr id="8" name="Shape 6"/>
          <p:cNvSpPr/>
          <p:nvPr/>
        </p:nvSpPr>
        <p:spPr>
          <a:xfrm>
            <a:off x="1234440" y="2825496"/>
            <a:ext cx="10408615" cy="0"/>
          </a:xfrm>
          <a:prstGeom prst="line">
            <a:avLst/>
          </a:prstGeom>
          <a:noFill/>
          <a:ln w="12700">
            <a:solidFill>
              <a:srgbClr val="DCE2EC"/>
            </a:solidFill>
            <a:prstDash val="solid"/>
          </a:ln>
        </p:spPr>
      </p:sp>
      <p:sp>
        <p:nvSpPr>
          <p:cNvPr id="9" name="Shape 7"/>
          <p:cNvSpPr/>
          <p:nvPr/>
        </p:nvSpPr>
        <p:spPr>
          <a:xfrm>
            <a:off x="548640" y="3017520"/>
            <a:ext cx="457200" cy="457200"/>
          </a:xfrm>
          <a:prstGeom prst="ellipse">
            <a:avLst/>
          </a:prstGeom>
          <a:solidFill>
            <a:srgbClr val="0B1F3A"/>
          </a:solidFill>
          <a:ln/>
        </p:spPr>
      </p:sp>
      <p:sp>
        <p:nvSpPr>
          <p:cNvPr id="10" name="Text 8"/>
          <p:cNvSpPr txBox="1"/>
          <p:nvPr/>
        </p:nvSpPr>
        <p:spPr>
          <a:xfrm>
            <a:off x="548640" y="3017520"/>
            <a:ext cx="457200" cy="457200"/>
          </a:xfrm>
          <a:prstGeom prst="rect">
            <a:avLst/>
          </a:prstGeom>
          <a:noFill/>
          <a:ln/>
        </p:spPr>
        <p:txBody>
          <a:bodyPr wrap="square" lIns="0" tIns="0" rIns="0" bIns="0" rtlCol="0" anchor="ctr"/>
          <a:lstStyle/>
          <a:p>
            <a:pPr algn="ctr" indent="0" marL="0">
              <a:buNone/>
            </a:pPr>
            <a:r>
              <a:rPr lang="en-US" sz="1700" b="1" dirty="0">
                <a:solidFill>
                  <a:srgbClr val="3DDC84"/>
                </a:solidFill>
                <a:latin typeface="Calibri" pitchFamily="34" charset="0"/>
                <a:ea typeface="Calibri" pitchFamily="34" charset="-122"/>
                <a:cs typeface="Calibri" pitchFamily="34" charset="-120"/>
              </a:rPr>
              <a:t>2</a:t>
            </a:r>
            <a:endParaRPr lang="en-US" sz="1700" dirty="0"/>
          </a:p>
        </p:txBody>
      </p:sp>
      <p:sp>
        <p:nvSpPr>
          <p:cNvPr id="11" name="Text 9"/>
          <p:cNvSpPr txBox="1"/>
          <p:nvPr/>
        </p:nvSpPr>
        <p:spPr>
          <a:xfrm>
            <a:off x="1234440" y="2880360"/>
            <a:ext cx="10408615" cy="594360"/>
          </a:xfrm>
          <a:prstGeom prst="rect">
            <a:avLst/>
          </a:prstGeom>
          <a:noFill/>
          <a:ln/>
        </p:spPr>
        <p:txBody>
          <a:bodyPr wrap="square" lIns="0" tIns="0" rIns="0" bIns="0" rtlCol="0" anchor="ctr"/>
          <a:lstStyle/>
          <a:p>
            <a:pPr indent="0" marL="0">
              <a:buNone/>
            </a:pPr>
            <a:r>
              <a:rPr lang="en-US" sz="1550" b="1" dirty="0">
                <a:solidFill>
                  <a:srgbClr val="132038"/>
                </a:solidFill>
                <a:latin typeface="Calibri" pitchFamily="34" charset="0"/>
                <a:ea typeface="Calibri" pitchFamily="34" charset="-122"/>
                <a:cs typeface="Calibri" pitchFamily="34" charset="-120"/>
              </a:rPr>
              <a:t>Use of the module concepts  —   </a:t>
            </a:r>
            <a:pPr indent="0" marL="0">
              <a:buNone/>
            </a:pPr>
            <a:r>
              <a:rPr lang="en-US" sz="1550" dirty="0">
                <a:solidFill>
                  <a:srgbClr val="30425E"/>
                </a:solidFill>
                <a:latin typeface="Calibri" pitchFamily="34" charset="0"/>
                <a:ea typeface="Calibri" pitchFamily="34" charset="-122"/>
                <a:cs typeface="Calibri" pitchFamily="34" charset="-120"/>
              </a:rPr>
              <a:t>structs, pointers, functions, arrays, and file I/O used appropriately, not bolted on to satisfy a checklist.</a:t>
            </a:r>
            <a:endParaRPr lang="en-US" sz="1550" dirty="0"/>
          </a:p>
        </p:txBody>
      </p:sp>
      <p:sp>
        <p:nvSpPr>
          <p:cNvPr id="12" name="Shape 10"/>
          <p:cNvSpPr/>
          <p:nvPr/>
        </p:nvSpPr>
        <p:spPr>
          <a:xfrm>
            <a:off x="1234440" y="3557016"/>
            <a:ext cx="10408615" cy="0"/>
          </a:xfrm>
          <a:prstGeom prst="line">
            <a:avLst/>
          </a:prstGeom>
          <a:noFill/>
          <a:ln w="12700">
            <a:solidFill>
              <a:srgbClr val="DCE2EC"/>
            </a:solidFill>
            <a:prstDash val="solid"/>
          </a:ln>
        </p:spPr>
      </p:sp>
      <p:sp>
        <p:nvSpPr>
          <p:cNvPr id="13" name="Shape 11"/>
          <p:cNvSpPr/>
          <p:nvPr/>
        </p:nvSpPr>
        <p:spPr>
          <a:xfrm>
            <a:off x="548640" y="3749040"/>
            <a:ext cx="457200" cy="457200"/>
          </a:xfrm>
          <a:prstGeom prst="ellipse">
            <a:avLst/>
          </a:prstGeom>
          <a:solidFill>
            <a:srgbClr val="0B1F3A"/>
          </a:solidFill>
          <a:ln/>
        </p:spPr>
      </p:sp>
      <p:sp>
        <p:nvSpPr>
          <p:cNvPr id="14" name="Text 12"/>
          <p:cNvSpPr txBox="1"/>
          <p:nvPr/>
        </p:nvSpPr>
        <p:spPr>
          <a:xfrm>
            <a:off x="548640" y="3749040"/>
            <a:ext cx="457200" cy="457200"/>
          </a:xfrm>
          <a:prstGeom prst="rect">
            <a:avLst/>
          </a:prstGeom>
          <a:noFill/>
          <a:ln/>
        </p:spPr>
        <p:txBody>
          <a:bodyPr wrap="square" lIns="0" tIns="0" rIns="0" bIns="0" rtlCol="0" anchor="ctr"/>
          <a:lstStyle/>
          <a:p>
            <a:pPr algn="ctr" indent="0" marL="0">
              <a:buNone/>
            </a:pPr>
            <a:r>
              <a:rPr lang="en-US" sz="1700" b="1" dirty="0">
                <a:solidFill>
                  <a:srgbClr val="3DDC84"/>
                </a:solidFill>
                <a:latin typeface="Calibri" pitchFamily="34" charset="0"/>
                <a:ea typeface="Calibri" pitchFamily="34" charset="-122"/>
                <a:cs typeface="Calibri" pitchFamily="34" charset="-120"/>
              </a:rPr>
              <a:t>3</a:t>
            </a:r>
            <a:endParaRPr lang="en-US" sz="1700" dirty="0"/>
          </a:p>
        </p:txBody>
      </p:sp>
      <p:sp>
        <p:nvSpPr>
          <p:cNvPr id="15" name="Text 13"/>
          <p:cNvSpPr txBox="1"/>
          <p:nvPr/>
        </p:nvSpPr>
        <p:spPr>
          <a:xfrm>
            <a:off x="1234440" y="3611880"/>
            <a:ext cx="10408615" cy="594360"/>
          </a:xfrm>
          <a:prstGeom prst="rect">
            <a:avLst/>
          </a:prstGeom>
          <a:noFill/>
          <a:ln/>
        </p:spPr>
        <p:txBody>
          <a:bodyPr wrap="square" lIns="0" tIns="0" rIns="0" bIns="0" rtlCol="0" anchor="ctr"/>
          <a:lstStyle/>
          <a:p>
            <a:pPr indent="0" marL="0">
              <a:buNone/>
            </a:pPr>
            <a:r>
              <a:rPr lang="en-US" sz="1550" b="1" dirty="0">
                <a:solidFill>
                  <a:srgbClr val="132038"/>
                </a:solidFill>
                <a:latin typeface="Calibri" pitchFamily="34" charset="0"/>
                <a:ea typeface="Calibri" pitchFamily="34" charset="-122"/>
                <a:cs typeface="Calibri" pitchFamily="34" charset="-120"/>
              </a:rPr>
              <a:t>Code organization  —   </a:t>
            </a:r>
            <a:pPr indent="0" marL="0">
              <a:buNone/>
            </a:pPr>
            <a:r>
              <a:rPr lang="en-US" sz="1550" dirty="0">
                <a:solidFill>
                  <a:srgbClr val="30425E"/>
                </a:solidFill>
                <a:latin typeface="Calibri" pitchFamily="34" charset="0"/>
                <a:ea typeface="Calibri" pitchFamily="34" charset="-122"/>
                <a:cs typeface="Calibri" pitchFamily="34" charset="-120"/>
              </a:rPr>
              <a:t>logically split into functions, consistent style, comments where the why isn't obvious.</a:t>
            </a:r>
            <a:endParaRPr lang="en-US" sz="1550" dirty="0"/>
          </a:p>
        </p:txBody>
      </p:sp>
      <p:sp>
        <p:nvSpPr>
          <p:cNvPr id="16" name="Shape 14"/>
          <p:cNvSpPr/>
          <p:nvPr/>
        </p:nvSpPr>
        <p:spPr>
          <a:xfrm>
            <a:off x="1234440" y="4288536"/>
            <a:ext cx="10408615" cy="0"/>
          </a:xfrm>
          <a:prstGeom prst="line">
            <a:avLst/>
          </a:prstGeom>
          <a:noFill/>
          <a:ln w="12700">
            <a:solidFill>
              <a:srgbClr val="DCE2EC"/>
            </a:solidFill>
            <a:prstDash val="solid"/>
          </a:ln>
        </p:spPr>
      </p:sp>
      <p:sp>
        <p:nvSpPr>
          <p:cNvPr id="17" name="Shape 15"/>
          <p:cNvSpPr/>
          <p:nvPr/>
        </p:nvSpPr>
        <p:spPr>
          <a:xfrm>
            <a:off x="548640" y="4480560"/>
            <a:ext cx="457200" cy="457200"/>
          </a:xfrm>
          <a:prstGeom prst="ellipse">
            <a:avLst/>
          </a:prstGeom>
          <a:solidFill>
            <a:srgbClr val="0B1F3A"/>
          </a:solidFill>
          <a:ln/>
        </p:spPr>
      </p:sp>
      <p:sp>
        <p:nvSpPr>
          <p:cNvPr id="18" name="Text 16"/>
          <p:cNvSpPr txBox="1"/>
          <p:nvPr/>
        </p:nvSpPr>
        <p:spPr>
          <a:xfrm>
            <a:off x="548640" y="4480560"/>
            <a:ext cx="457200" cy="457200"/>
          </a:xfrm>
          <a:prstGeom prst="rect">
            <a:avLst/>
          </a:prstGeom>
          <a:noFill/>
          <a:ln/>
        </p:spPr>
        <p:txBody>
          <a:bodyPr wrap="square" lIns="0" tIns="0" rIns="0" bIns="0" rtlCol="0" anchor="ctr"/>
          <a:lstStyle/>
          <a:p>
            <a:pPr algn="ctr" indent="0" marL="0">
              <a:buNone/>
            </a:pPr>
            <a:r>
              <a:rPr lang="en-US" sz="1700" b="1" dirty="0">
                <a:solidFill>
                  <a:srgbClr val="3DDC84"/>
                </a:solidFill>
                <a:latin typeface="Calibri" pitchFamily="34" charset="0"/>
                <a:ea typeface="Calibri" pitchFamily="34" charset="-122"/>
                <a:cs typeface="Calibri" pitchFamily="34" charset="-120"/>
              </a:rPr>
              <a:t>4</a:t>
            </a:r>
            <a:endParaRPr lang="en-US" sz="1700" dirty="0"/>
          </a:p>
        </p:txBody>
      </p:sp>
      <p:sp>
        <p:nvSpPr>
          <p:cNvPr id="19" name="Text 17"/>
          <p:cNvSpPr txBox="1"/>
          <p:nvPr/>
        </p:nvSpPr>
        <p:spPr>
          <a:xfrm>
            <a:off x="1234440" y="4343400"/>
            <a:ext cx="10408615" cy="594360"/>
          </a:xfrm>
          <a:prstGeom prst="rect">
            <a:avLst/>
          </a:prstGeom>
          <a:noFill/>
          <a:ln/>
        </p:spPr>
        <p:txBody>
          <a:bodyPr wrap="square" lIns="0" tIns="0" rIns="0" bIns="0" rtlCol="0" anchor="ctr"/>
          <a:lstStyle/>
          <a:p>
            <a:pPr indent="0" marL="0">
              <a:buNone/>
            </a:pPr>
            <a:r>
              <a:rPr lang="en-US" sz="1550" b="1" dirty="0">
                <a:solidFill>
                  <a:srgbClr val="132038"/>
                </a:solidFill>
                <a:latin typeface="Calibri" pitchFamily="34" charset="0"/>
                <a:ea typeface="Calibri" pitchFamily="34" charset="-122"/>
                <a:cs typeface="Calibri" pitchFamily="34" charset="-120"/>
              </a:rPr>
              <a:t>Git history  —   </a:t>
            </a:r>
            <a:pPr indent="0" marL="0">
              <a:buNone/>
            </a:pPr>
            <a:r>
              <a:rPr lang="en-US" sz="1550" dirty="0">
                <a:solidFill>
                  <a:srgbClr val="30425E"/>
                </a:solidFill>
                <a:latin typeface="Calibri" pitchFamily="34" charset="0"/>
                <a:ea typeface="Calibri" pitchFamily="34" charset="-122"/>
                <a:cs typeface="Calibri" pitchFamily="34" charset="-120"/>
              </a:rPr>
              <a:t>regular, meaningful commits from every team member under their own name.</a:t>
            </a:r>
            <a:endParaRPr lang="en-US" sz="1550" dirty="0"/>
          </a:p>
        </p:txBody>
      </p:sp>
      <p:sp>
        <p:nvSpPr>
          <p:cNvPr id="20" name="Shape 18"/>
          <p:cNvSpPr/>
          <p:nvPr/>
        </p:nvSpPr>
        <p:spPr>
          <a:xfrm>
            <a:off x="1234440" y="5020056"/>
            <a:ext cx="10408615" cy="0"/>
          </a:xfrm>
          <a:prstGeom prst="line">
            <a:avLst/>
          </a:prstGeom>
          <a:noFill/>
          <a:ln w="12700">
            <a:solidFill>
              <a:srgbClr val="DCE2EC"/>
            </a:solidFill>
            <a:prstDash val="solid"/>
          </a:ln>
        </p:spPr>
      </p:sp>
      <p:sp>
        <p:nvSpPr>
          <p:cNvPr id="21" name="Shape 19"/>
          <p:cNvSpPr/>
          <p:nvPr/>
        </p:nvSpPr>
        <p:spPr>
          <a:xfrm>
            <a:off x="548640" y="5212080"/>
            <a:ext cx="457200" cy="457200"/>
          </a:xfrm>
          <a:prstGeom prst="ellipse">
            <a:avLst/>
          </a:prstGeom>
          <a:solidFill>
            <a:srgbClr val="0B1F3A"/>
          </a:solidFill>
          <a:ln/>
        </p:spPr>
      </p:sp>
      <p:sp>
        <p:nvSpPr>
          <p:cNvPr id="22" name="Text 20"/>
          <p:cNvSpPr txBox="1"/>
          <p:nvPr/>
        </p:nvSpPr>
        <p:spPr>
          <a:xfrm>
            <a:off x="548640" y="5212080"/>
            <a:ext cx="457200" cy="457200"/>
          </a:xfrm>
          <a:prstGeom prst="rect">
            <a:avLst/>
          </a:prstGeom>
          <a:noFill/>
          <a:ln/>
        </p:spPr>
        <p:txBody>
          <a:bodyPr wrap="square" lIns="0" tIns="0" rIns="0" bIns="0" rtlCol="0" anchor="ctr"/>
          <a:lstStyle/>
          <a:p>
            <a:pPr algn="ctr" indent="0" marL="0">
              <a:buNone/>
            </a:pPr>
            <a:r>
              <a:rPr lang="en-US" sz="1700" b="1" dirty="0">
                <a:solidFill>
                  <a:srgbClr val="3DDC84"/>
                </a:solidFill>
                <a:latin typeface="Calibri" pitchFamily="34" charset="0"/>
                <a:ea typeface="Calibri" pitchFamily="34" charset="-122"/>
                <a:cs typeface="Calibri" pitchFamily="34" charset="-120"/>
              </a:rPr>
              <a:t>5</a:t>
            </a:r>
            <a:endParaRPr lang="en-US" sz="1700" dirty="0"/>
          </a:p>
        </p:txBody>
      </p:sp>
      <p:sp>
        <p:nvSpPr>
          <p:cNvPr id="23" name="Text 21"/>
          <p:cNvSpPr txBox="1"/>
          <p:nvPr/>
        </p:nvSpPr>
        <p:spPr>
          <a:xfrm>
            <a:off x="1234440" y="5074920"/>
            <a:ext cx="10408615" cy="594360"/>
          </a:xfrm>
          <a:prstGeom prst="rect">
            <a:avLst/>
          </a:prstGeom>
          <a:noFill/>
          <a:ln/>
        </p:spPr>
        <p:txBody>
          <a:bodyPr wrap="square" lIns="0" tIns="0" rIns="0" bIns="0" rtlCol="0" anchor="ctr"/>
          <a:lstStyle/>
          <a:p>
            <a:pPr indent="0" marL="0">
              <a:buNone/>
            </a:pPr>
            <a:r>
              <a:rPr lang="en-US" sz="1550" b="1" dirty="0">
                <a:solidFill>
                  <a:srgbClr val="132038"/>
                </a:solidFill>
                <a:latin typeface="Calibri" pitchFamily="34" charset="0"/>
                <a:ea typeface="Calibri" pitchFamily="34" charset="-122"/>
                <a:cs typeface="Calibri" pitchFamily="34" charset="-120"/>
              </a:rPr>
              <a:t>Documentation  —   </a:t>
            </a:r>
            <a:pPr indent="0" marL="0">
              <a:buNone/>
            </a:pPr>
            <a:r>
              <a:rPr lang="en-US" sz="1550" dirty="0">
                <a:solidFill>
                  <a:srgbClr val="30425E"/>
                </a:solidFill>
                <a:latin typeface="Calibri" pitchFamily="34" charset="0"/>
                <a:ea typeface="Calibri" pitchFamily="34" charset="-122"/>
                <a:cs typeface="Calibri" pitchFamily="34" charset="-120"/>
              </a:rPr>
              <a:t>a README a stranger could use to build, run, and understand your project without asking you anything.</a:t>
            </a:r>
            <a:endParaRPr lang="en-US" sz="1550" dirty="0"/>
          </a:p>
        </p:txBody>
      </p:sp>
      <p:sp>
        <p:nvSpPr>
          <p:cNvPr id="24" name="Shape 22"/>
          <p:cNvSpPr/>
          <p:nvPr/>
        </p:nvSpPr>
        <p:spPr>
          <a:xfrm>
            <a:off x="548640" y="5989320"/>
            <a:ext cx="11094415" cy="502920"/>
          </a:xfrm>
          <a:prstGeom prst="roundRect">
            <a:avLst>
              <a:gd name="adj" fmla="val 14545"/>
            </a:avLst>
          </a:prstGeom>
          <a:solidFill>
            <a:srgbClr val="E4F9ED"/>
          </a:solidFill>
          <a:ln/>
          <a:effectLst>
            <a:outerShdw sx="100000" sy="100000" kx="0" ky="0" algn="bl" rotWithShape="0" blurRad="101600" dist="38100" dir="5400000">
              <a:srgbClr val="0B1F3A">
                <a:alpha val="28000"/>
              </a:srgbClr>
            </a:outerShdw>
          </a:effectLst>
        </p:spPr>
      </p:sp>
      <p:sp>
        <p:nvSpPr>
          <p:cNvPr id="25" name="Text 23"/>
          <p:cNvSpPr txBox="1"/>
          <p:nvPr/>
        </p:nvSpPr>
        <p:spPr>
          <a:xfrm>
            <a:off x="731520" y="5989320"/>
            <a:ext cx="10728655" cy="502920"/>
          </a:xfrm>
          <a:prstGeom prst="rect">
            <a:avLst/>
          </a:prstGeom>
          <a:noFill/>
          <a:ln/>
        </p:spPr>
        <p:txBody>
          <a:bodyPr wrap="square" lIns="0" tIns="0" rIns="0" bIns="0" rtlCol="0" anchor="ctr"/>
          <a:lstStyle/>
          <a:p>
            <a:pPr indent="0" marL="0">
              <a:buNone/>
            </a:pPr>
            <a:r>
              <a:rPr lang="en-US" sz="1200" i="1" dirty="0">
                <a:solidFill>
                  <a:srgbClr val="156B3F"/>
                </a:solidFill>
                <a:latin typeface="Calibri" pitchFamily="34" charset="0"/>
                <a:ea typeface="Calibri" pitchFamily="34" charset="-122"/>
                <a:cs typeface="Calibri" pitchFamily="34" charset="-120"/>
              </a:rPr>
              <a:t>Compiling is the minimum bar, not the finish line — these five criteria go well beyond “does it run.”</a:t>
            </a:r>
            <a:endParaRPr lang="en-US" sz="1200" dirty="0"/>
          </a:p>
        </p:txBody>
      </p:sp>
      <p:sp>
        <p:nvSpPr>
          <p:cNvPr id="26" name="Text 24"/>
          <p:cNvSpPr txBox="1"/>
          <p:nvPr/>
        </p:nvSpPr>
        <p:spPr>
          <a:xfrm>
            <a:off x="548640" y="6473952"/>
            <a:ext cx="6400800" cy="274320"/>
          </a:xfrm>
          <a:prstGeom prst="rect">
            <a:avLst/>
          </a:prstGeom>
          <a:noFill/>
          <a:ln/>
        </p:spPr>
        <p:txBody>
          <a:bodyPr wrap="square" lIns="0" tIns="0" rIns="0" bIns="0" rtlCol="0" anchor="ctr"/>
          <a:lstStyle/>
          <a:p>
            <a:pPr indent="0" marL="0">
              <a:buNone/>
            </a:pPr>
            <a:r>
              <a:rPr lang="en-US" sz="900" dirty="0">
                <a:solidFill>
                  <a:srgbClr val="5B6B82"/>
                </a:solidFill>
                <a:latin typeface="Calibri" pitchFamily="34" charset="0"/>
                <a:ea typeface="Calibri" pitchFamily="34" charset="-122"/>
                <a:cs typeface="Calibri" pitchFamily="34" charset="-120"/>
              </a:rPr>
              <a:t>MODULE 9 — CAPSTONE PROJECT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2026-09-14T12:22:07Z</dcterms:created>
  <dcterms:modified xsi:type="dcterms:W3CDTF">2026-09-14T12:22:07Z</dcterms:modified>
</cp:coreProperties>
</file>