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elements, worst case for linear search (target is the last one). Let the 1000-vs-10 contrast sink in before explaining anything — that gap is the entire motivation for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the easy half of the hook. The interesting content is in the contrast with binary search on the next couple of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low + (high-low)/2 instead of the more obvious (low+high)/2 — it's in the code deliberately and will come back on the mistakes slide as an overflow-avoidance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trace row by row on the board before showing this slide — the array is {2,5,8,12,16,23,38,42,45,51,59,63,71,78,90}. Students should be able to redo this trace for a different target unassisted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arguably the single most important idea in the module. Consider live-demoing binary search on an unsorted array to show it silently returning a wrong-but-plausible answer with no error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code from examples/03_bubble_sort.c. Have a student hand-trace one full pass over a 5-element array on the board — the swapping pattern is much clearer traced than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code from examples/04_selection_sort.c. Contrast with bubble sort: selection sort does far fewer swaps (one per pass, max) even though comparison count is similar — worth mentioning if a student asks which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playing-cards analogy from the README is genuinely the best mental model here — use it verbatim. Real code from examples/05_insertion_sort.c.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Big-O notation is explicitly out of scope per the README — the goal here is just the intuition that different algorithms can do wildly different amounts of work for the same job. Don't introduce O(n) / O(log n) notation unless a student already knows it and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the last algorithm slide, right after three hand-written sorts, to make the point explicit: now that you understand HOW sorting works, here's the tool you'll actually reach for on real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off-by-one and index-mixup mistakes are genuinely hard to spot by reading — the README explicitly recommends testing a small array by hand rather than just staring at the code. Reinforce that habit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module before the Part 2 capstone — worth explicitly telling students that everything from Modules 10-18 (recursion, dynamic memory, linked lists, stacks/queues, multi-file programs, debugging, enums/bitwise, CLI tools, and now sorting/searching) is fair game for their capstone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ln w="28575">
            <a:solidFill>
              <a:srgbClr val="16304F"/>
            </a:solidFill>
            <a:prstDash val="solid"/>
          </a:ln>
        </p:spPr>
      </p:sp>
      <p:sp>
        <p:nvSpPr>
          <p:cNvPr id="3" name="Text 1"/>
          <p:cNvSpPr txBox="1"/>
          <p:nvPr/>
        </p:nvSpPr>
        <p:spPr>
          <a:xfrm>
            <a:off x="6949440" y="914400"/>
            <a:ext cx="5120640" cy="5120640"/>
          </a:xfrm>
          <a:prstGeom prst="rect">
            <a:avLst/>
          </a:prstGeom>
          <a:noFill/>
          <a:ln/>
        </p:spPr>
        <p:txBody>
          <a:bodyPr wrap="square" lIns="0" tIns="0" rIns="0" bIns="0" rtlCol="0" anchor="t"/>
          <a:lstStyle/>
          <a:p>
            <a:pPr algn="r" indent="0" marL="0">
              <a:buNone/>
            </a:pPr>
            <a:r>
              <a:rPr lang="en-US" sz="32000" b="1" dirty="0">
                <a:solidFill>
                  <a:srgbClr val="16304F"/>
                </a:solidFill>
                <a:latin typeface="Cambria" pitchFamily="34" charset="0"/>
                <a:ea typeface="Cambria" pitchFamily="34" charset="-122"/>
                <a:cs typeface="Cambria" pitchFamily="34" charset="-120"/>
              </a:rPr>
              <a:t>18</a:t>
            </a:r>
            <a:endParaRPr lang="en-US" sz="32000" dirty="0"/>
          </a:p>
        </p:txBody>
      </p:sp>
      <p:sp>
        <p:nvSpPr>
          <p:cNvPr id="4" name="Shape 2"/>
          <p:cNvSpPr/>
          <p:nvPr/>
        </p:nvSpPr>
        <p:spPr>
          <a:xfrm>
            <a:off x="548640" y="1417320"/>
            <a:ext cx="512064" cy="512064"/>
          </a:xfrm>
          <a:prstGeom prst="rect">
            <a:avLst/>
          </a:prstGeom>
          <a:solidFill>
            <a:srgbClr val="16304F"/>
          </a:solidFill>
          <a:ln/>
        </p:spPr>
      </p:sp>
      <p:sp>
        <p:nvSpPr>
          <p:cNvPr id="5" name="Text 3"/>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❯_</a:t>
            </a:r>
            <a:endParaRPr lang="en-US" sz="1800" dirty="0"/>
          </a:p>
        </p:txBody>
      </p:sp>
      <p:sp>
        <p:nvSpPr>
          <p:cNvPr id="6" name="Text 4"/>
          <p:cNvSpPr txBox="1"/>
          <p:nvPr/>
        </p:nvSpPr>
        <p:spPr>
          <a:xfrm>
            <a:off x="1207008" y="1417320"/>
            <a:ext cx="5486400" cy="512064"/>
          </a:xfrm>
          <a:prstGeom prst="rect">
            <a:avLst/>
          </a:prstGeom>
          <a:noFill/>
          <a:ln/>
        </p:spPr>
        <p:txBody>
          <a:bodyPr wrap="square" lIns="0" tIns="0" rIns="0" bIns="0" rtlCol="0" anchor="ctr"/>
          <a:lstStyle/>
          <a:p>
            <a:pPr indent="0" marL="0">
              <a:buNone/>
            </a:pPr>
            <a:r>
              <a:rPr lang="en-US" sz="1200" b="1" dirty="0">
                <a:solidFill>
                  <a:srgbClr val="8CA3C2"/>
                </a:solidFill>
                <a:latin typeface="Calibri" pitchFamily="34" charset="0"/>
                <a:ea typeface="Calibri" pitchFamily="34" charset="-122"/>
                <a:cs typeface="Calibri" pitchFamily="34" charset="-120"/>
              </a:rPr>
              <a:t>INTRODUCTION TO C PROGRAMMING</a:t>
            </a:r>
            <a:endParaRPr lang="en-US" sz="1200" dirty="0"/>
          </a:p>
        </p:txBody>
      </p:sp>
      <p:sp>
        <p:nvSpPr>
          <p:cNvPr id="7" name="Shape 5"/>
          <p:cNvSpPr/>
          <p:nvPr/>
        </p:nvSpPr>
        <p:spPr>
          <a:xfrm>
            <a:off x="548640" y="2331720"/>
            <a:ext cx="985723" cy="310896"/>
          </a:xfrm>
          <a:prstGeom prst="roundRect">
            <a:avLst>
              <a:gd name="adj" fmla="val 50000"/>
            </a:avLst>
          </a:prstGeom>
          <a:solidFill>
            <a:srgbClr val="16304F"/>
          </a:solidFill>
          <a:ln/>
        </p:spPr>
      </p:sp>
      <p:sp>
        <p:nvSpPr>
          <p:cNvPr id="8" name="Text 6"/>
          <p:cNvSpPr txBox="1"/>
          <p:nvPr/>
        </p:nvSpPr>
        <p:spPr>
          <a:xfrm>
            <a:off x="548640" y="2331720"/>
            <a:ext cx="98572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MODULE 18</a:t>
            </a:r>
            <a:endParaRPr lang="en-US" sz="1100" dirty="0"/>
          </a:p>
        </p:txBody>
      </p:sp>
      <p:sp>
        <p:nvSpPr>
          <p:cNvPr id="9" name="Text 7"/>
          <p:cNvSpPr txBox="1"/>
          <p:nvPr/>
        </p:nvSpPr>
        <p:spPr>
          <a:xfrm>
            <a:off x="548640" y="2788920"/>
            <a:ext cx="8778240" cy="1737360"/>
          </a:xfrm>
          <a:prstGeom prst="rect">
            <a:avLst/>
          </a:prstGeom>
          <a:noFill/>
          <a:ln/>
        </p:spPr>
        <p:txBody>
          <a:bodyPr wrap="square" lIns="0" tIns="0" rIns="0" bIns="0" rtlCol="0" anchor="ctr"/>
          <a:lstStyle/>
          <a:p>
            <a:pPr indent="0" marL="0">
              <a:buNone/>
            </a:pPr>
            <a:r>
              <a:rPr lang="en-US" sz="4400" b="1" dirty="0">
                <a:solidFill>
                  <a:srgbClr val="F5F8FC"/>
                </a:solidFill>
                <a:latin typeface="Cambria" pitchFamily="34" charset="0"/>
                <a:ea typeface="Cambria" pitchFamily="34" charset="-122"/>
                <a:cs typeface="Cambria" pitchFamily="34" charset="-120"/>
              </a:rPr>
              <a:t>Sorting &amp; Searching Algorithms</a:t>
            </a:r>
            <a:endParaRPr lang="en-US" sz="4400" dirty="0"/>
          </a:p>
        </p:txBody>
      </p:sp>
      <p:sp>
        <p:nvSpPr>
          <p:cNvPr id="10" name="Text 8"/>
          <p:cNvSpPr txBox="1"/>
          <p:nvPr/>
        </p:nvSpPr>
        <p:spPr>
          <a:xfrm>
            <a:off x="548640" y="4343400"/>
            <a:ext cx="8412480" cy="822960"/>
          </a:xfrm>
          <a:prstGeom prst="rect">
            <a:avLst/>
          </a:prstGeom>
          <a:noFill/>
          <a:ln/>
        </p:spPr>
        <p:txBody>
          <a:bodyPr wrap="square" lIns="0" tIns="0" rIns="0" bIns="0" rtlCol="0" anchor="ctr"/>
          <a:lstStyle/>
          <a:p>
            <a:pPr indent="0" marL="0">
              <a:buNone/>
            </a:pPr>
            <a:r>
              <a:rPr lang="en-US" sz="1800" dirty="0">
                <a:solidFill>
                  <a:srgbClr val="8CA3C2"/>
                </a:solidFill>
                <a:latin typeface="Calibri" pitchFamily="34" charset="0"/>
                <a:ea typeface="Calibri" pitchFamily="34" charset="-122"/>
                <a:cs typeface="Calibri" pitchFamily="34" charset="-120"/>
              </a:rPr>
              <a:t>Same array, same target, same answer — 1,000 comparisons versus 10. Both correct. Wildly different cost.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510589" cy="310896"/>
          </a:xfrm>
          <a:prstGeom prst="roundRect">
            <a:avLst>
              <a:gd name="adj" fmla="val 50000"/>
            </a:avLst>
          </a:prstGeom>
          <a:solidFill>
            <a:srgbClr val="0B1F3A"/>
          </a:solidFill>
          <a:ln/>
        </p:spPr>
      </p:sp>
      <p:sp>
        <p:nvSpPr>
          <p:cNvPr id="3" name="Text 1"/>
          <p:cNvSpPr txBox="1"/>
          <p:nvPr/>
        </p:nvSpPr>
        <p:spPr>
          <a:xfrm>
            <a:off x="548640" y="502920"/>
            <a:ext cx="1510589"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HOOK — LIVE DEMO</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700" b="1" dirty="0">
                <a:solidFill>
                  <a:srgbClr val="132038"/>
                </a:solidFill>
                <a:latin typeface="Cambria" pitchFamily="34" charset="0"/>
                <a:ea typeface="Cambria" pitchFamily="34" charset="-122"/>
                <a:cs typeface="Cambria" pitchFamily="34" charset="-120"/>
              </a:rPr>
              <a:t>The same search, run two ways</a:t>
            </a:r>
            <a:endParaRPr lang="en-US" sz="2700" dirty="0"/>
          </a:p>
        </p:txBody>
      </p:sp>
      <p:sp>
        <p:nvSpPr>
          <p:cNvPr id="5" name="Shape 3"/>
          <p:cNvSpPr/>
          <p:nvPr/>
        </p:nvSpPr>
        <p:spPr>
          <a:xfrm>
            <a:off x="548640" y="1600200"/>
            <a:ext cx="6903720" cy="3794760"/>
          </a:xfrm>
          <a:prstGeom prst="roundRect">
            <a:avLst>
              <a:gd name="adj" fmla="val 1928"/>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46520" cy="320040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int target = 1998;  // last element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 linear's worst case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linearSearch(arr, SIZE, target,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&amp;linearComparisons);</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binarySearch(arr, SIZE, target,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&amp;binaryComparisons);</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printf("Linear: %d comparisons\n",</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linearComparisons);</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printf("Binary: %d comparisons\n",</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binaryComparisons);</a:t>
            </a:r>
            <a:endParaRPr lang="en-US" sz="1300" dirty="0"/>
          </a:p>
        </p:txBody>
      </p:sp>
      <p:sp>
        <p:nvSpPr>
          <p:cNvPr id="10" name="Shape 8"/>
          <p:cNvSpPr/>
          <p:nvPr/>
        </p:nvSpPr>
        <p:spPr>
          <a:xfrm>
            <a:off x="548640" y="5559552"/>
            <a:ext cx="6903720" cy="566928"/>
          </a:xfrm>
          <a:prstGeom prst="roundRect">
            <a:avLst>
              <a:gd name="adj" fmla="val 9677"/>
            </a:avLst>
          </a:prstGeom>
          <a:solidFill>
            <a:srgbClr val="0B1F3A"/>
          </a:solidFill>
          <a:ln/>
        </p:spPr>
      </p:sp>
      <p:sp>
        <p:nvSpPr>
          <p:cNvPr id="11" name="Text 9"/>
          <p:cNvSpPr txBox="1"/>
          <p:nvPr/>
        </p:nvSpPr>
        <p:spPr>
          <a:xfrm>
            <a:off x="749808" y="5559552"/>
            <a:ext cx="6537960" cy="566928"/>
          </a:xfrm>
          <a:prstGeom prst="rect">
            <a:avLst/>
          </a:prstGeom>
          <a:noFill/>
          <a:ln/>
        </p:spPr>
        <p:txBody>
          <a:bodyPr wrap="square" lIns="0" tIns="0" rIns="0" bIns="0" rtlCol="0" anchor="ctr"/>
          <a:lstStyle/>
          <a:p>
            <a:pPr indent="0" marL="0">
              <a:buNone/>
            </a:pPr>
            <a:r>
              <a:rPr lang="en-US" sz="1300" b="1" dirty="0">
                <a:solidFill>
                  <a:srgbClr val="3DDC84"/>
                </a:solidFill>
                <a:latin typeface="Courier New" pitchFamily="34" charset="0"/>
                <a:ea typeface="Courier New" pitchFamily="34" charset="-122"/>
                <a:cs typeface="Courier New" pitchFamily="34" charset="-120"/>
              </a:rPr>
              <a:t>$ </a:t>
            </a:r>
            <a:pPr indent="0" marL="0">
              <a:buNone/>
            </a:pPr>
            <a:r>
              <a:rPr lang="en-US" sz="1300" dirty="0">
                <a:solidFill>
                  <a:srgbClr val="F5F8FC"/>
                </a:solidFill>
                <a:latin typeface="Courier New" pitchFamily="34" charset="0"/>
                <a:ea typeface="Courier New" pitchFamily="34" charset="-122"/>
                <a:cs typeface="Courier New" pitchFamily="34" charset="-120"/>
              </a:rPr>
              <a:t>gcc hook.c -o hook &amp;&amp; ./hook</a:t>
            </a:r>
            <a:endParaRPr lang="en-US" sz="1300" dirty="0"/>
          </a:p>
        </p:txBody>
      </p:sp>
      <p:sp>
        <p:nvSpPr>
          <p:cNvPr id="12" name="Text 10"/>
          <p:cNvSpPr txBox="1"/>
          <p:nvPr/>
        </p:nvSpPr>
        <p:spPr>
          <a:xfrm>
            <a:off x="7863840" y="1691640"/>
            <a:ext cx="3779215" cy="3291840"/>
          </a:xfrm>
          <a:prstGeom prst="rect">
            <a:avLst/>
          </a:prstGeom>
          <a:noFill/>
          <a:ln/>
        </p:spPr>
        <p:txBody>
          <a:bodyPr wrap="square" lIns="0" tIns="0" rIns="0" bIns="0" rtlCol="0" anchor="t"/>
          <a:lstStyle/>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Linear search: found at index 999, took 1000 comparisons.</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Binary search: found at index 999, took 10 comparisons.</a:t>
            </a:r>
            <a:endParaRPr lang="en-US" sz="1550" dirty="0"/>
          </a:p>
          <a:p>
            <a:pPr marL="342900" indent="-342900">
              <a:spcAft>
                <a:spcPts val="1400"/>
              </a:spcAft>
              <a:buSzPct val="100000"/>
              <a:buChar char="•"/>
            </a:pPr>
            <a:r>
              <a:rPr lang="en-US" sz="1550" dirty="0">
                <a:solidFill>
                  <a:srgbClr val="30425E"/>
                </a:solidFill>
                <a:latin typeface="Calibri" pitchFamily="34" charset="0"/>
                <a:ea typeface="Calibri" pitchFamily="34" charset="-122"/>
                <a:cs typeface="Calibri" pitchFamily="34" charset="-120"/>
              </a:rPr>
              <a:t>Same array. Same target. Same correct answer.</a:t>
            </a:r>
            <a:endParaRPr lang="en-US" sz="1550" dirty="0"/>
          </a:p>
        </p:txBody>
      </p:sp>
      <p:sp>
        <p:nvSpPr>
          <p:cNvPr id="13" name="Shape 11"/>
          <p:cNvSpPr/>
          <p:nvPr/>
        </p:nvSpPr>
        <p:spPr>
          <a:xfrm>
            <a:off x="7863840" y="5074920"/>
            <a:ext cx="3779215" cy="1234440"/>
          </a:xfrm>
          <a:prstGeom prst="roundRect">
            <a:avLst>
              <a:gd name="adj" fmla="val 4444"/>
            </a:avLst>
          </a:prstGeom>
          <a:solidFill>
            <a:srgbClr val="E4F9ED"/>
          </a:solidFill>
          <a:ln/>
        </p:spPr>
      </p:sp>
      <p:sp>
        <p:nvSpPr>
          <p:cNvPr id="14" name="Text 12"/>
          <p:cNvSpPr txBox="1"/>
          <p:nvPr/>
        </p:nvSpPr>
        <p:spPr>
          <a:xfrm>
            <a:off x="8046720" y="5074920"/>
            <a:ext cx="3413455" cy="1234440"/>
          </a:xfrm>
          <a:prstGeom prst="rect">
            <a:avLst/>
          </a:prstGeom>
          <a:noFill/>
          <a:ln/>
        </p:spPr>
        <p:txBody>
          <a:bodyPr wrap="square" lIns="0" tIns="0" rIns="0" bIns="0" rtlCol="0" anchor="ctr"/>
          <a:lstStyle/>
          <a:p>
            <a:pPr indent="0" marL="0">
              <a:buNone/>
            </a:pPr>
            <a:r>
              <a:rPr lang="en-US" sz="1250" dirty="0">
                <a:solidFill>
                  <a:srgbClr val="156B3F"/>
                </a:solidFill>
                <a:latin typeface="Calibri" pitchFamily="34" charset="0"/>
                <a:ea typeface="Calibri" pitchFamily="34" charset="-122"/>
                <a:cs typeface="Calibri" pitchFamily="34" charset="-120"/>
              </a:rPr>
              <a:t>One of them just does dramatically less work, because it's allowed to assume something about the array the other isn't. By the end of this module you'll know exactly what that assumption is.</a:t>
            </a:r>
            <a:endParaRPr lang="en-US" sz="1250" dirty="0"/>
          </a:p>
        </p:txBody>
      </p:sp>
      <p:sp>
        <p:nvSpPr>
          <p:cNvPr id="15" name="Text 1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Linear search: check everything</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int linearSearch(int arr[], int size,</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int target) {</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for (int i = 0; i &lt; size; i++) {</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if (arr[i] == target) {</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return i;   // found it</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    return -1;   // never matched</a:t>
            </a:r>
            <a:endParaRPr lang="en-US" sz="1550" dirty="0"/>
          </a:p>
          <a:p>
            <a:pPr indent="0" marL="0">
              <a:lnSpc>
                <a:spcPct val="118000"/>
              </a:lnSpc>
              <a:buNone/>
            </a:pPr>
            <a:r>
              <a:rPr lang="en-US" sz="1550" dirty="0">
                <a:solidFill>
                  <a:srgbClr val="E7EDF6"/>
                </a:solidFill>
                <a:latin typeface="Courier New" pitchFamily="34" charset="0"/>
                <a:ea typeface="Courier New" pitchFamily="34" charset="-122"/>
                <a:cs typeface="Courier New" pitchFamily="34" charset="-120"/>
              </a:rPr>
              <a:t>}</a:t>
            </a:r>
            <a:endParaRPr lang="en-US" sz="155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The one genuine advantage: it works on ANY array, sorted or not. The cost: for a million elements, worst case is up to a million comparisons.</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The obvious approach: start at the beginning, check each element in order, stop when found.</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No requirements, no setup — just a plain loop.</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The bigger the array, the more work it might have to do. See examples/01_linear_search.c.</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Binary search: throw away half each step</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int binarySearch(int arr[], int size,</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int target) {</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int low = 0, high = size - 1;</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while (low &lt;= high) {</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int mid = low + (high-low)/2;</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if (arr[mid] == target) return mid;</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else if (arr[mid] &lt; target) low = mid+1;</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else high = mid - 1;</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    return -1;</a:t>
            </a:r>
            <a:endParaRPr lang="en-US" sz="1350" dirty="0"/>
          </a:p>
          <a:p>
            <a:pPr indent="0" marL="0">
              <a:lnSpc>
                <a:spcPct val="118000"/>
              </a:lnSpc>
              <a:buNone/>
            </a:pPr>
            <a:r>
              <a:rPr lang="en-US" sz="1350" dirty="0">
                <a:solidFill>
                  <a:srgbClr val="E7EDF6"/>
                </a:solidFill>
                <a:latin typeface="Courier New" pitchFamily="34" charset="0"/>
                <a:ea typeface="Courier New" pitchFamily="34" charset="-122"/>
                <a:cs typeface="Courier New" pitchFamily="34" charset="-120"/>
              </a:rPr>
              <a:t>}</a:t>
            </a:r>
            <a:endParaRPr lang="en-US" sz="135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Precondition: the array must already be sorted. Given that, comparing to the middle element lets it ignore an entire half immediately.</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Far faster than linear search — but only works on a sorted array.</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Every step throws away HALF of whatever was still left.</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The advantage only gets more extreme as the array grows.</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10742" cy="310896"/>
          </a:xfrm>
          <a:prstGeom prst="roundRect">
            <a:avLst>
              <a:gd name="adj" fmla="val 50000"/>
            </a:avLst>
          </a:prstGeom>
          <a:solidFill>
            <a:srgbClr val="0B1F3A"/>
          </a:solidFill>
          <a:ln/>
        </p:spPr>
      </p:sp>
      <p:sp>
        <p:nvSpPr>
          <p:cNvPr id="3" name="Text 1"/>
          <p:cNvSpPr txBox="1"/>
          <p:nvPr/>
        </p:nvSpPr>
        <p:spPr>
          <a:xfrm>
            <a:off x="548640" y="502920"/>
            <a:ext cx="91074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TRACE IT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Binary search, traced by hand</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3931920"/>
        </p:xfrm>
        <a:graphic>
          <a:graphicData uri="http://schemas.openxmlformats.org/drawingml/2006/table">
            <a:tbl>
              <a:tblPr/>
              <a:tblGrid>
                <a:gridCol w="1371600"/>
                <a:gridCol w="1280160"/>
                <a:gridCol w="1280160"/>
                <a:gridCol w="1280160"/>
                <a:gridCol w="1463040"/>
                <a:gridCol w="4419295"/>
              </a:tblGrid>
              <a:tr h="786384">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mid</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arr[mid]</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r>
              <a:tr h="786384">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42 &lt; 71 → search right half</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786384">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63</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63 &lt; 71 → search right half</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r h="786384">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78 &gt; 71 → search left half</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786384">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found!</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bl>
          </a:graphicData>
        </a:graphic>
      </p:graphicFrame>
      <p:sp>
        <p:nvSpPr>
          <p:cNvPr id="6" name="Shape 3"/>
          <p:cNvSpPr/>
          <p:nvPr/>
        </p:nvSpPr>
        <p:spPr>
          <a:xfrm>
            <a:off x="548640" y="5989320"/>
            <a:ext cx="11094415" cy="502920"/>
          </a:xfrm>
          <a:prstGeom prst="roundRect">
            <a:avLst>
              <a:gd name="adj" fmla="val 10909"/>
            </a:avLst>
          </a:prstGeom>
          <a:solidFill>
            <a:srgbClr val="E4F9ED"/>
          </a:solidFill>
          <a:ln/>
        </p:spPr>
      </p:sp>
      <p:sp>
        <p:nvSpPr>
          <p:cNvPr id="7" name="Text 4"/>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Searching a 15-element sorted array for 71: four comparisons instead of up to fifteen — and every step throws away half of whatever was still left.</a:t>
            </a:r>
            <a:endParaRPr lang="en-US" sz="1200" dirty="0"/>
          </a:p>
        </p:txBody>
      </p:sp>
      <p:sp>
        <p:nvSpPr>
          <p:cNvPr id="8" name="Text 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2710282" cy="310896"/>
          </a:xfrm>
          <a:prstGeom prst="roundRect">
            <a:avLst>
              <a:gd name="adj" fmla="val 50000"/>
            </a:avLst>
          </a:prstGeom>
          <a:solidFill>
            <a:srgbClr val="0B1F3A"/>
          </a:solidFill>
          <a:ln/>
        </p:spPr>
      </p:sp>
      <p:sp>
        <p:nvSpPr>
          <p:cNvPr id="3" name="Text 1"/>
          <p:cNvSpPr txBox="1"/>
          <p:nvPr/>
        </p:nvSpPr>
        <p:spPr>
          <a:xfrm>
            <a:off x="548640" y="502920"/>
            <a:ext cx="271028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THE PRECONDITION IS NOT OPTIONAL</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Unsorted input breaks binary search silently</a:t>
            </a:r>
            <a:endParaRPr lang="en-US" sz="2800" dirty="0"/>
          </a:p>
        </p:txBody>
      </p:sp>
      <p:sp>
        <p:nvSpPr>
          <p:cNvPr id="5" name="Shape 3"/>
          <p:cNvSpPr/>
          <p:nvPr/>
        </p:nvSpPr>
        <p:spPr>
          <a:xfrm>
            <a:off x="548640" y="1828800"/>
            <a:ext cx="11094415" cy="3566160"/>
          </a:xfrm>
          <a:prstGeom prst="roundRect">
            <a:avLst>
              <a:gd name="adj" fmla="val 2564"/>
            </a:avLst>
          </a:prstGeom>
          <a:solidFill>
            <a:srgbClr val="FFFFFF"/>
          </a:solidFill>
          <a:ln w="12700">
            <a:solidFill>
              <a:srgbClr val="DCE2EC"/>
            </a:solidFill>
            <a:prstDash val="solid"/>
          </a:ln>
          <a:effectLst>
            <a:outerShdw sx="100000" sy="100000" kx="0" ky="0" algn="bl" rotWithShape="0" blurRad="76200" dist="38100" dir="5400000">
              <a:srgbClr val="0B1F3A">
                <a:alpha val="12000"/>
              </a:srgbClr>
            </a:outerShdw>
          </a:effectLst>
        </p:spPr>
      </p:sp>
      <p:sp>
        <p:nvSpPr>
          <p:cNvPr id="6" name="Shape 4"/>
          <p:cNvSpPr/>
          <p:nvPr/>
        </p:nvSpPr>
        <p:spPr>
          <a:xfrm>
            <a:off x="1005840" y="2286000"/>
            <a:ext cx="822960" cy="822960"/>
          </a:xfrm>
          <a:prstGeom prst="ellipse">
            <a:avLst/>
          </a:prstGeom>
          <a:solidFill>
            <a:srgbClr val="0B1F3A"/>
          </a:solidFill>
          <a:ln/>
        </p:spPr>
      </p:sp>
      <p:sp>
        <p:nvSpPr>
          <p:cNvPr id="7" name="Text 5"/>
          <p:cNvSpPr txBox="1"/>
          <p:nvPr/>
        </p:nvSpPr>
        <p:spPr>
          <a:xfrm>
            <a:off x="1005840" y="2286000"/>
            <a:ext cx="822960" cy="822960"/>
          </a:xfrm>
          <a:prstGeom prst="rect">
            <a:avLst/>
          </a:prstGeom>
          <a:noFill/>
          <a:ln/>
        </p:spPr>
        <p:txBody>
          <a:bodyPr wrap="square" lIns="0" tIns="0" rIns="0" bIns="0" rtlCol="0" anchor="ctr"/>
          <a:lstStyle/>
          <a:p>
            <a:pPr algn="ctr" indent="0" marL="0">
              <a:buNone/>
            </a:pPr>
            <a:r>
              <a:rPr lang="en-US" sz="3200" b="1" dirty="0">
                <a:solidFill>
                  <a:srgbClr val="3DDC84"/>
                </a:solidFill>
                <a:latin typeface="Cambria" pitchFamily="34" charset="0"/>
                <a:ea typeface="Cambria" pitchFamily="34" charset="-122"/>
                <a:cs typeface="Cambria" pitchFamily="34" charset="-120"/>
              </a:rPr>
              <a:t>!</a:t>
            </a:r>
            <a:endParaRPr lang="en-US" sz="3200" dirty="0"/>
          </a:p>
        </p:txBody>
      </p:sp>
      <p:sp>
        <p:nvSpPr>
          <p:cNvPr id="8" name="Text 6"/>
          <p:cNvSpPr txBox="1"/>
          <p:nvPr/>
        </p:nvSpPr>
        <p:spPr>
          <a:xfrm>
            <a:off x="2103120" y="2194560"/>
            <a:ext cx="9174175" cy="2834640"/>
          </a:xfrm>
          <a:prstGeom prst="rect">
            <a:avLst/>
          </a:prstGeom>
          <a:noFill/>
          <a:ln/>
        </p:spPr>
        <p:txBody>
          <a:bodyPr wrap="square" lIns="0" tIns="0" rIns="0" bIns="0" rtlCol="0" anchor="ctr"/>
          <a:lstStyle/>
          <a:p>
            <a:pPr indent="0" marL="0">
              <a:lnSpc>
                <a:spcPct val="130000"/>
              </a:lnSpc>
              <a:buNone/>
            </a:pPr>
            <a:r>
              <a:rPr lang="en-US" sz="1700" dirty="0">
                <a:solidFill>
                  <a:srgbClr val="30425E"/>
                </a:solidFill>
                <a:latin typeface="Calibri" pitchFamily="34" charset="0"/>
                <a:ea typeface="Calibri" pitchFamily="34" charset="-122"/>
                <a:cs typeface="Calibri" pitchFamily="34" charset="-120"/>
              </a:rPr>
              <a:t>Binary search on an unsorted array does not crash, does not error, does not warn you. It runs, produces an index, and that index is sometimes just wrong — because the whole algorithm's logic (“the target isn't here, so it must be in this half”) only holds when the array is actually sorted. A crash is annoying; a silent wrong answer is much scarier, because nothing tells you to go looking for the bug.</a:t>
            </a:r>
            <a:endParaRPr lang="en-US" sz="1700" dirty="0"/>
          </a:p>
        </p:txBody>
      </p:sp>
      <p:sp>
        <p:nvSpPr>
          <p:cNvPr id="9" name="Shape 7"/>
          <p:cNvSpPr/>
          <p:nvPr/>
        </p:nvSpPr>
        <p:spPr>
          <a:xfrm>
            <a:off x="548640" y="5623560"/>
            <a:ext cx="11094415" cy="502920"/>
          </a:xfrm>
          <a:prstGeom prst="roundRect">
            <a:avLst>
              <a:gd name="adj" fmla="val 10909"/>
            </a:avLst>
          </a:prstGeom>
          <a:solidFill>
            <a:srgbClr val="E4F9ED"/>
          </a:solidFill>
          <a:ln/>
        </p:spPr>
      </p:sp>
      <p:sp>
        <p:nvSpPr>
          <p:cNvPr id="10" name="Text 8"/>
          <p:cNvSpPr txBox="1"/>
          <p:nvPr/>
        </p:nvSpPr>
        <p:spPr>
          <a:xfrm>
            <a:off x="731520" y="562356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Always know whether the array you're searching is actually sorted before reaching for binary search — if it isn't, sort it first, or fall back to linear search.</a:t>
            </a:r>
            <a:endParaRPr lang="en-US" sz="1200" dirty="0"/>
          </a:p>
        </p:txBody>
      </p:sp>
      <p:sp>
        <p:nvSpPr>
          <p:cNvPr id="11" name="Text 9"/>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Bubble sort</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void bubbleSort(int arr[], int size)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for (int pass = 0; pass &lt; size-1; pass++)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for (int i = 0; i &lt; size-1-pass; i++)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if (arr[i] &gt; arr[i + 1])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temp = arr[i];</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arr[i] = arr[i + 1];</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arr[i + 1] = temp;</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Each full pass pushes the largest remaining value one step closer to the end — like a bubble rising to the top.</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Repeatedly walk the array comparing ADJACENT pairs, swapping if out of order.</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Simplest sort to understand and hand-trace — a good FIRST sort to learn.</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Also one of the slowest for large arrays. See examples/03_bubble_sort.c.</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Selection sort</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void selectionSort(int arr[], int size)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for (int i = 0; i &lt; size - 1; i++)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minIndex = i;</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for (int j = i+1; j &lt; size; j++)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if (arr[j] &lt; arr[minIndex])</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minIndex = j;</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if (minIndex != i)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temp = arr[i];</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arr[i] = arr[minIndex];</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arr[minIndex] = temp;</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After pass i, the first i+1 elements are the i+1 smallest values in the array, fully sorted.</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For each position, find the MINIMUM of the remaining unsorted part, swap it in.</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Every later pass only ever touches the unsorted remainder.</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See examples/04_selection_sort.c.</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Insertion sort</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void insertionSort(int arr[], int size)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for (int i = 1; i &lt; size; i++)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key = arr[i];   // "picked up" card</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int j = i - 1;</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while (j &gt;= 0 &amp;&amp; arr[j] &gt; key)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arr[j + 1] = arr[j];  // shift right</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j--;</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arr[j + 1] = key;  // drop into place</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E7EDF6"/>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Exactly like sorting a hand of playing cards as you pick them up — each new card gets shifted left past every bigger sorted card until it lands correctly.</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Build up a sorted portion at the FRONT of the array, one element at a time.</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See examples/05_insertion_sort.c.</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885493" cy="310896"/>
          </a:xfrm>
          <a:prstGeom prst="roundRect">
            <a:avLst>
              <a:gd name="adj" fmla="val 50000"/>
            </a:avLst>
          </a:prstGeom>
          <a:solidFill>
            <a:srgbClr val="0B1F3A"/>
          </a:solidFill>
          <a:ln/>
        </p:spPr>
      </p:sp>
      <p:sp>
        <p:nvSpPr>
          <p:cNvPr id="3" name="Text 1"/>
          <p:cNvSpPr txBox="1"/>
          <p:nvPr/>
        </p:nvSpPr>
        <p:spPr>
          <a:xfrm>
            <a:off x="548640" y="502920"/>
            <a:ext cx="188549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HOW MUCH WORK, REALLY</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A first sense of “how much work is that?”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3931920"/>
        </p:xfrm>
        <a:graphic>
          <a:graphicData uri="http://schemas.openxmlformats.org/drawingml/2006/table">
            <a:tbl>
              <a:tblPr/>
              <a:tblGrid>
                <a:gridCol w="1950415"/>
                <a:gridCol w="5486400"/>
                <a:gridCol w="3657600"/>
              </a:tblGrid>
              <a:tr h="982980">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Array size</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Linear search / the three sorts (roughly)</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c>
                  <a:txBody>
                    <a:bodyPr/>
                    <a:lstStyle/>
                    <a:p>
                      <a:pPr indent="0" marL="0">
                        <a:buNone/>
                      </a:pPr>
                      <a:r>
                        <a:rPr lang="en-US" sz="1400" b="1" dirty="0">
                          <a:solidFill>
                            <a:srgbClr val="F5F8FC"/>
                          </a:solidFill>
                          <a:latin typeface="Calibri" pitchFamily="34" charset="0"/>
                          <a:ea typeface="Calibri" pitchFamily="34" charset="-122"/>
                          <a:cs typeface="Calibri" pitchFamily="34" charset="-120"/>
                        </a:rPr>
                        <a:t>Binary search (roughly)</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0B1F3A"/>
                    </a:solidFill>
                  </a:tcPr>
                </a:tc>
              </a:tr>
              <a:tr h="98298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up to 10 (search) / ~100 (sort)</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r h="98298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1,000</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up to 1,000 / ~1,000,000</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E9EEF6"/>
                    </a:solidFill>
                  </a:tcPr>
                </a:tc>
              </a:tr>
              <a:tr h="982980">
                <a:tc>
                  <a:txBody>
                    <a:bodyPr/>
                    <a:lstStyle/>
                    <a:p>
                      <a:pPr indent="0" marL="0">
                        <a:buNone/>
                      </a:pPr>
                      <a:r>
                        <a:rPr lang="en-US" sz="1400" dirty="0">
                          <a:solidFill>
                            <a:srgbClr val="132038"/>
                          </a:solidFill>
                          <a:latin typeface="Courier New" pitchFamily="34" charset="0"/>
                          <a:ea typeface="Courier New" pitchFamily="34" charset="-122"/>
                          <a:cs typeface="Courier New" pitchFamily="34" charset="-120"/>
                        </a:rPr>
                        <a:t>1,000,000</a:t>
                      </a:r>
                      <a:endParaRPr lang="en-US" sz="1400" dirty="0">
                        <a:latin typeface="Courier New" charset="0"/>
                        <a:ea typeface="Courier New" charset="0"/>
                        <a:cs typeface="Courier New"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up to 1,000,000 / ~1,000,000,000,000</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c>
                  <a:txBody>
                    <a:bodyPr/>
                    <a:lstStyle/>
                    <a:p>
                      <a:pPr indent="0" marL="0">
                        <a:buNone/>
                      </a:pPr>
                      <a:r>
                        <a:rPr lang="en-US" sz="1400" dirty="0">
                          <a:solidFill>
                            <a:srgbClr val="132038"/>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27000" marR="127000" marT="76200" marB="76200" anchor="ctr">
                    <a:lnL w="9525" cap="flat" cmpd="sng" algn="ctr">
                      <a:solidFill>
                        <a:srgbClr val="DCE2EC"/>
                      </a:solidFill>
                      <a:prstDash val="solid"/>
                      <a:round/>
                      <a:headEnd type="none" w="med" len="med"/>
                      <a:tailEnd type="none" w="med" len="med"/>
                    </a:lnL>
                    <a:lnR w="9525" cap="flat" cmpd="sng" algn="ctr">
                      <a:solidFill>
                        <a:srgbClr val="DCE2EC"/>
                      </a:solidFill>
                      <a:prstDash val="solid"/>
                      <a:round/>
                      <a:headEnd type="none" w="med" len="med"/>
                      <a:tailEnd type="none" w="med" len="med"/>
                    </a:lnR>
                    <a:lnT w="9525" cap="flat" cmpd="sng" algn="ctr">
                      <a:solidFill>
                        <a:srgbClr val="DCE2EC"/>
                      </a:solidFill>
                      <a:prstDash val="solid"/>
                      <a:round/>
                      <a:headEnd type="none" w="med" len="med"/>
                      <a:tailEnd type="none" w="med" len="med"/>
                    </a:lnT>
                    <a:lnB w="9525" cap="flat" cmpd="sng" algn="ctr">
                      <a:solidFill>
                        <a:srgbClr val="DCE2EC"/>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989320"/>
            <a:ext cx="11094415" cy="502920"/>
          </a:xfrm>
          <a:prstGeom prst="roundRect">
            <a:avLst>
              <a:gd name="adj" fmla="val 10909"/>
            </a:avLst>
          </a:prstGeom>
          <a:solidFill>
            <a:srgbClr val="E4F9ED"/>
          </a:solidFill>
          <a:ln/>
        </p:spPr>
      </p:sp>
      <p:sp>
        <p:nvSpPr>
          <p:cNvPr id="7" name="Text 4"/>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Binary search barely grows at all: 1000x more data costs it only about 10 more comparisons, because it throws away half of whatever's left at every single step.</a:t>
            </a:r>
            <a:endParaRPr lang="en-US" sz="1200" dirty="0"/>
          </a:p>
        </p:txBody>
      </p:sp>
      <p:sp>
        <p:nvSpPr>
          <p:cNvPr id="8" name="Text 5"/>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5762" cy="310896"/>
          </a:xfrm>
          <a:prstGeom prst="roundRect">
            <a:avLst>
              <a:gd name="adj" fmla="val 50000"/>
            </a:avLst>
          </a:prstGeom>
          <a:solidFill>
            <a:srgbClr val="0B1F3A"/>
          </a:solidFill>
          <a:ln/>
        </p:spPr>
      </p:sp>
      <p:sp>
        <p:nvSpPr>
          <p:cNvPr id="3" name="Text 1"/>
          <p:cNvSpPr txBox="1"/>
          <p:nvPr/>
        </p:nvSpPr>
        <p:spPr>
          <a:xfrm>
            <a:off x="548640" y="502920"/>
            <a:ext cx="835762"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CONCEPT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2800" b="1" dirty="0">
                <a:solidFill>
                  <a:srgbClr val="132038"/>
                </a:solidFill>
                <a:latin typeface="Cambria" pitchFamily="34" charset="0"/>
                <a:ea typeface="Cambria" pitchFamily="34" charset="-122"/>
                <a:cs typeface="Cambria" pitchFamily="34" charset="-120"/>
              </a:rPr>
              <a:t>A quick, honest look at qsort</a:t>
            </a:r>
            <a:endParaRPr lang="en-US" sz="2800" dirty="0"/>
          </a:p>
        </p:txBody>
      </p:sp>
      <p:sp>
        <p:nvSpPr>
          <p:cNvPr id="5" name="Shape 3"/>
          <p:cNvSpPr/>
          <p:nvPr/>
        </p:nvSpPr>
        <p:spPr>
          <a:xfrm>
            <a:off x="548640" y="1600200"/>
            <a:ext cx="6949440" cy="3749040"/>
          </a:xfrm>
          <a:prstGeom prst="roundRect">
            <a:avLst>
              <a:gd name="adj" fmla="val 1951"/>
            </a:avLst>
          </a:prstGeom>
          <a:solidFill>
            <a:srgbClr val="102841"/>
          </a:solidFill>
          <a:ln/>
        </p:spPr>
      </p:sp>
      <p:sp>
        <p:nvSpPr>
          <p:cNvPr id="6" name="Shape 4"/>
          <p:cNvSpPr/>
          <p:nvPr/>
        </p:nvSpPr>
        <p:spPr>
          <a:xfrm>
            <a:off x="749808" y="1764792"/>
            <a:ext cx="109728" cy="109728"/>
          </a:xfrm>
          <a:prstGeom prst="ellipse">
            <a:avLst/>
          </a:prstGeom>
          <a:solidFill>
            <a:srgbClr val="E6675C"/>
          </a:solidFill>
          <a:ln/>
        </p:spPr>
      </p:sp>
      <p:sp>
        <p:nvSpPr>
          <p:cNvPr id="7" name="Shape 5"/>
          <p:cNvSpPr/>
          <p:nvPr/>
        </p:nvSpPr>
        <p:spPr>
          <a:xfrm>
            <a:off x="969264" y="1764792"/>
            <a:ext cx="109728" cy="109728"/>
          </a:xfrm>
          <a:prstGeom prst="ellipse">
            <a:avLst/>
          </a:prstGeom>
          <a:solidFill>
            <a:srgbClr val="E8C15A"/>
          </a:solidFill>
          <a:ln/>
        </p:spPr>
      </p:sp>
      <p:sp>
        <p:nvSpPr>
          <p:cNvPr id="8" name="Shape 6"/>
          <p:cNvSpPr/>
          <p:nvPr/>
        </p:nvSpPr>
        <p:spPr>
          <a:xfrm>
            <a:off x="1188720" y="1764792"/>
            <a:ext cx="109728" cy="109728"/>
          </a:xfrm>
          <a:prstGeom prst="ellipse">
            <a:avLst/>
          </a:prstGeom>
          <a:solidFill>
            <a:srgbClr val="3DDC84"/>
          </a:solidFill>
          <a:ln/>
        </p:spPr>
      </p:sp>
      <p:sp>
        <p:nvSpPr>
          <p:cNvPr id="9" name="Text 7"/>
          <p:cNvSpPr txBox="1"/>
          <p:nvPr/>
        </p:nvSpPr>
        <p:spPr>
          <a:xfrm>
            <a:off x="804672" y="2039112"/>
            <a:ext cx="6492240" cy="3154680"/>
          </a:xfrm>
          <a:prstGeom prst="rect">
            <a:avLst/>
          </a:prstGeom>
          <a:noFill/>
          <a:ln/>
        </p:spPr>
        <p:txBody>
          <a:bodyPr wrap="square" lIns="0" tIns="0" rIns="0" bIns="0" rtlCol="0" anchor="t"/>
          <a:lstStyle/>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int compareInts(const void *a,</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                 const void *b) {</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    return (*(int *)a) - (*(int *)b);</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 </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qsort(values, size, sizeof(int),</a:t>
            </a:r>
            <a:endParaRPr lang="en-US" sz="1600" dirty="0"/>
          </a:p>
          <a:p>
            <a:pPr indent="0" marL="0">
              <a:lnSpc>
                <a:spcPct val="118000"/>
              </a:lnSpc>
              <a:buNone/>
            </a:pPr>
            <a:r>
              <a:rPr lang="en-US" sz="1600" dirty="0">
                <a:solidFill>
                  <a:srgbClr val="E7EDF6"/>
                </a:solidFill>
                <a:latin typeface="Courier New" pitchFamily="34" charset="0"/>
                <a:ea typeface="Courier New" pitchFamily="34" charset="-122"/>
                <a:cs typeface="Courier New" pitchFamily="34" charset="-120"/>
              </a:rPr>
              <a:t>      compareInts);</a:t>
            </a:r>
            <a:endParaRPr lang="en-US" sz="1600" dirty="0"/>
          </a:p>
        </p:txBody>
      </p:sp>
      <p:sp>
        <p:nvSpPr>
          <p:cNvPr id="10" name="Shape 8"/>
          <p:cNvSpPr/>
          <p:nvPr/>
        </p:nvSpPr>
        <p:spPr>
          <a:xfrm>
            <a:off x="548640" y="5513832"/>
            <a:ext cx="6949440" cy="621792"/>
          </a:xfrm>
          <a:prstGeom prst="roundRect">
            <a:avLst>
              <a:gd name="adj" fmla="val 8824"/>
            </a:avLst>
          </a:prstGeom>
          <a:solidFill>
            <a:srgbClr val="0B1F3A"/>
          </a:solidFill>
          <a:ln/>
        </p:spPr>
      </p:sp>
      <p:sp>
        <p:nvSpPr>
          <p:cNvPr id="11" name="Text 9"/>
          <p:cNvSpPr txBox="1"/>
          <p:nvPr/>
        </p:nvSpPr>
        <p:spPr>
          <a:xfrm>
            <a:off x="749808" y="5513832"/>
            <a:ext cx="6583680" cy="621792"/>
          </a:xfrm>
          <a:prstGeom prst="rect">
            <a:avLst/>
          </a:prstGeom>
          <a:noFill/>
          <a:ln/>
        </p:spPr>
        <p:txBody>
          <a:bodyPr wrap="square" lIns="0" tIns="0" rIns="0" bIns="0" rtlCol="0" anchor="ctr"/>
          <a:lstStyle/>
          <a:p>
            <a:pPr indent="0" marL="0">
              <a:buNone/>
            </a:pPr>
            <a:r>
              <a:rPr lang="en-US" sz="1500" dirty="0">
                <a:solidFill>
                  <a:srgbClr val="3DDC84"/>
                </a:solidFill>
                <a:latin typeface="Calibri" pitchFamily="34" charset="0"/>
                <a:ea typeface="Calibri" pitchFamily="34" charset="-122"/>
                <a:cs typeface="Calibri" pitchFamily="34" charset="-120"/>
              </a:rPr>
              <a:t>▸ </a:t>
            </a:r>
            <a:pPr indent="0" marL="0">
              <a:buNone/>
            </a:pPr>
            <a:r>
              <a:rPr lang="en-US" sz="1500" dirty="0">
                <a:solidFill>
                  <a:srgbClr val="F5F8FC"/>
                </a:solidFill>
                <a:latin typeface="Calibri" pitchFamily="34" charset="0"/>
                <a:ea typeface="Calibri" pitchFamily="34" charset="-122"/>
                <a:cs typeface="Calibri" pitchFamily="34" charset="-120"/>
              </a:rPr>
              <a:t>You don't need to understand function pointers deeply to use this — recognize the pattern: write a comparator with exactly this shape, hand it to qsort.</a:t>
            </a:r>
            <a:endParaRPr lang="en-US" sz="1500" dirty="0"/>
          </a:p>
        </p:txBody>
      </p:sp>
      <p:sp>
        <p:nvSpPr>
          <p:cNvPr id="12" name="Text 10"/>
          <p:cNvSpPr txBox="1"/>
          <p:nvPr/>
        </p:nvSpPr>
        <p:spPr>
          <a:xfrm>
            <a:off x="7909560" y="1691640"/>
            <a:ext cx="3733495" cy="4480560"/>
          </a:xfrm>
          <a:prstGeom prst="rect">
            <a:avLst/>
          </a:prstGeom>
          <a:noFill/>
          <a:ln/>
        </p:spPr>
        <p:txBody>
          <a:bodyPr wrap="square" lIns="0" tIns="0" rIns="0" bIns="0" rtlCol="0" anchor="t"/>
          <a:lstStyle/>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Real production C code almost never hand-writes its own sort — qsort, from &lt;stdlib.h&gt;, is already there.</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You hand it the array, element count, element size, and a comparator function you write.</a:t>
            </a:r>
            <a:endParaRPr lang="en-US" sz="1650" dirty="0"/>
          </a:p>
          <a:p>
            <a:pPr marL="342900" indent="-342900">
              <a:spcAft>
                <a:spcPts val="1600"/>
              </a:spcAft>
              <a:buSzPct val="100000"/>
              <a:buChar char="•"/>
            </a:pPr>
            <a:r>
              <a:rPr lang="en-US" sz="1650" dirty="0">
                <a:solidFill>
                  <a:srgbClr val="30425E"/>
                </a:solidFill>
                <a:latin typeface="Calibri" pitchFamily="34" charset="0"/>
                <a:ea typeface="Calibri" pitchFamily="34" charset="-122"/>
                <a:cs typeface="Calibri" pitchFamily="34" charset="-120"/>
              </a:rPr>
              <a:t>Negative = a before b, positive = a after b, 0 = equal. See examples/06_qsort_from_the_standard_library.c.</a:t>
            </a:r>
            <a:endParaRPr lang="en-US" sz="1650" dirty="0"/>
          </a:p>
        </p:txBody>
      </p:sp>
      <p:sp>
        <p:nvSpPr>
          <p:cNvPr id="13" name="Text 1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985723" cy="310896"/>
          </a:xfrm>
          <a:prstGeom prst="roundRect">
            <a:avLst>
              <a:gd name="adj" fmla="val 50000"/>
            </a:avLst>
          </a:prstGeom>
          <a:solidFill>
            <a:srgbClr val="16304F"/>
          </a:solidFill>
          <a:ln/>
        </p:spPr>
      </p:sp>
      <p:sp>
        <p:nvSpPr>
          <p:cNvPr id="3" name="Text 1"/>
          <p:cNvSpPr txBox="1"/>
          <p:nvPr/>
        </p:nvSpPr>
        <p:spPr>
          <a:xfrm>
            <a:off x="548640" y="502920"/>
            <a:ext cx="985723"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WATCH OUT</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3000" b="1" dirty="0">
                <a:solidFill>
                  <a:srgbClr val="F5F8FC"/>
                </a:solidFill>
                <a:latin typeface="Cambria" pitchFamily="34" charset="0"/>
                <a:ea typeface="Cambria" pitchFamily="34" charset="-122"/>
                <a:cs typeface="Cambria" pitchFamily="34" charset="-120"/>
              </a:rPr>
              <a:t>Common beginner mistakes</a:t>
            </a:r>
            <a:endParaRPr lang="en-US" sz="3000" dirty="0"/>
          </a:p>
        </p:txBody>
      </p:sp>
      <p:sp>
        <p:nvSpPr>
          <p:cNvPr id="5" name="Shape 3"/>
          <p:cNvSpPr/>
          <p:nvPr/>
        </p:nvSpPr>
        <p:spPr>
          <a:xfrm>
            <a:off x="548640" y="1691640"/>
            <a:ext cx="5364328" cy="1368582"/>
          </a:xfrm>
          <a:prstGeom prst="roundRect">
            <a:avLst>
              <a:gd name="adj" fmla="val 5345"/>
            </a:avLst>
          </a:prstGeom>
          <a:solidFill>
            <a:srgbClr val="16304F"/>
          </a:solidFill>
          <a:ln/>
        </p:spPr>
      </p:sp>
      <p:sp>
        <p:nvSpPr>
          <p:cNvPr id="6" name="Shape 4"/>
          <p:cNvSpPr/>
          <p:nvPr/>
        </p:nvSpPr>
        <p:spPr>
          <a:xfrm>
            <a:off x="749808" y="2165619"/>
            <a:ext cx="420624" cy="420624"/>
          </a:xfrm>
          <a:prstGeom prst="ellipse">
            <a:avLst/>
          </a:prstGeom>
          <a:solidFill>
            <a:srgbClr val="3DDC84"/>
          </a:solidFill>
          <a:ln/>
        </p:spPr>
      </p:sp>
      <p:sp>
        <p:nvSpPr>
          <p:cNvPr id="7" name="Text 5"/>
          <p:cNvSpPr txBox="1"/>
          <p:nvPr/>
        </p:nvSpPr>
        <p:spPr>
          <a:xfrm>
            <a:off x="749808" y="2165619"/>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8" name="Text 6"/>
          <p:cNvSpPr txBox="1"/>
          <p:nvPr/>
        </p:nvSpPr>
        <p:spPr>
          <a:xfrm>
            <a:off x="1325880" y="1783080"/>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Running binary search on an array that isn't actually sorted — wrong answer, no warning.</a:t>
            </a:r>
            <a:endParaRPr lang="en-US" sz="1350" dirty="0"/>
          </a:p>
        </p:txBody>
      </p:sp>
      <p:sp>
        <p:nvSpPr>
          <p:cNvPr id="9" name="Shape 7"/>
          <p:cNvSpPr/>
          <p:nvPr/>
        </p:nvSpPr>
        <p:spPr>
          <a:xfrm>
            <a:off x="6278728" y="1691640"/>
            <a:ext cx="5364328" cy="1368582"/>
          </a:xfrm>
          <a:prstGeom prst="roundRect">
            <a:avLst>
              <a:gd name="adj" fmla="val 5345"/>
            </a:avLst>
          </a:prstGeom>
          <a:solidFill>
            <a:srgbClr val="16304F"/>
          </a:solidFill>
          <a:ln/>
        </p:spPr>
      </p:sp>
      <p:sp>
        <p:nvSpPr>
          <p:cNvPr id="10" name="Shape 8"/>
          <p:cNvSpPr/>
          <p:nvPr/>
        </p:nvSpPr>
        <p:spPr>
          <a:xfrm>
            <a:off x="6479896" y="2165619"/>
            <a:ext cx="420624" cy="420624"/>
          </a:xfrm>
          <a:prstGeom prst="ellipse">
            <a:avLst/>
          </a:prstGeom>
          <a:solidFill>
            <a:srgbClr val="3DDC84"/>
          </a:solidFill>
          <a:ln/>
        </p:spPr>
      </p:sp>
      <p:sp>
        <p:nvSpPr>
          <p:cNvPr id="11" name="Text 9"/>
          <p:cNvSpPr txBox="1"/>
          <p:nvPr/>
        </p:nvSpPr>
        <p:spPr>
          <a:xfrm>
            <a:off x="6479896" y="2165619"/>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7055968" y="1783080"/>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Off-by-one errors in binary search's bounds — low &lt; high instead of low &lt;= high.</a:t>
            </a:r>
            <a:endParaRPr lang="en-US" sz="1350" dirty="0"/>
          </a:p>
        </p:txBody>
      </p:sp>
      <p:sp>
        <p:nvSpPr>
          <p:cNvPr id="13" name="Shape 11"/>
          <p:cNvSpPr/>
          <p:nvPr/>
        </p:nvSpPr>
        <p:spPr>
          <a:xfrm>
            <a:off x="548640" y="3316254"/>
            <a:ext cx="5364328" cy="1368582"/>
          </a:xfrm>
          <a:prstGeom prst="roundRect">
            <a:avLst>
              <a:gd name="adj" fmla="val 5345"/>
            </a:avLst>
          </a:prstGeom>
          <a:solidFill>
            <a:srgbClr val="16304F"/>
          </a:solidFill>
          <a:ln/>
        </p:spPr>
      </p:sp>
      <p:sp>
        <p:nvSpPr>
          <p:cNvPr id="14" name="Shape 12"/>
          <p:cNvSpPr/>
          <p:nvPr/>
        </p:nvSpPr>
        <p:spPr>
          <a:xfrm>
            <a:off x="749808" y="3790234"/>
            <a:ext cx="420624" cy="420624"/>
          </a:xfrm>
          <a:prstGeom prst="ellipse">
            <a:avLst/>
          </a:prstGeom>
          <a:solidFill>
            <a:srgbClr val="3DDC84"/>
          </a:solidFill>
          <a:ln/>
        </p:spPr>
      </p:sp>
      <p:sp>
        <p:nvSpPr>
          <p:cNvPr id="15" name="Text 13"/>
          <p:cNvSpPr txBox="1"/>
          <p:nvPr/>
        </p:nvSpPr>
        <p:spPr>
          <a:xfrm>
            <a:off x="749808" y="379023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1325880" y="3407694"/>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Writing mid = (low + high) / 2 instead of low + (high - low) / 2 — risks overflow on large arrays.</a:t>
            </a:r>
            <a:endParaRPr lang="en-US" sz="1350" dirty="0"/>
          </a:p>
        </p:txBody>
      </p:sp>
      <p:sp>
        <p:nvSpPr>
          <p:cNvPr id="17" name="Shape 15"/>
          <p:cNvSpPr/>
          <p:nvPr/>
        </p:nvSpPr>
        <p:spPr>
          <a:xfrm>
            <a:off x="6278728" y="3316254"/>
            <a:ext cx="5364328" cy="1368582"/>
          </a:xfrm>
          <a:prstGeom prst="roundRect">
            <a:avLst>
              <a:gd name="adj" fmla="val 5345"/>
            </a:avLst>
          </a:prstGeom>
          <a:solidFill>
            <a:srgbClr val="16304F"/>
          </a:solidFill>
          <a:ln/>
        </p:spPr>
      </p:sp>
      <p:sp>
        <p:nvSpPr>
          <p:cNvPr id="18" name="Shape 16"/>
          <p:cNvSpPr/>
          <p:nvPr/>
        </p:nvSpPr>
        <p:spPr>
          <a:xfrm>
            <a:off x="6479896" y="3790234"/>
            <a:ext cx="420624" cy="420624"/>
          </a:xfrm>
          <a:prstGeom prst="ellipse">
            <a:avLst/>
          </a:prstGeom>
          <a:solidFill>
            <a:srgbClr val="3DDC84"/>
          </a:solidFill>
          <a:ln/>
        </p:spPr>
      </p:sp>
      <p:sp>
        <p:nvSpPr>
          <p:cNvPr id="19" name="Text 17"/>
          <p:cNvSpPr txBox="1"/>
          <p:nvPr/>
        </p:nvSpPr>
        <p:spPr>
          <a:xfrm>
            <a:off x="6479896" y="3790234"/>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0" name="Text 18"/>
          <p:cNvSpPr txBox="1"/>
          <p:nvPr/>
        </p:nvSpPr>
        <p:spPr>
          <a:xfrm>
            <a:off x="7055968" y="3407694"/>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Forgetting a sort function must modify the array IN PLACE via the array parameter.</a:t>
            </a:r>
            <a:endParaRPr lang="en-US" sz="1350" dirty="0"/>
          </a:p>
        </p:txBody>
      </p:sp>
      <p:sp>
        <p:nvSpPr>
          <p:cNvPr id="21" name="Shape 19"/>
          <p:cNvSpPr/>
          <p:nvPr/>
        </p:nvSpPr>
        <p:spPr>
          <a:xfrm>
            <a:off x="548640" y="4940869"/>
            <a:ext cx="5364328" cy="1368582"/>
          </a:xfrm>
          <a:prstGeom prst="roundRect">
            <a:avLst>
              <a:gd name="adj" fmla="val 5345"/>
            </a:avLst>
          </a:prstGeom>
          <a:solidFill>
            <a:srgbClr val="16304F"/>
          </a:solidFill>
          <a:ln/>
        </p:spPr>
      </p:sp>
      <p:sp>
        <p:nvSpPr>
          <p:cNvPr id="22" name="Shape 20"/>
          <p:cNvSpPr/>
          <p:nvPr/>
        </p:nvSpPr>
        <p:spPr>
          <a:xfrm>
            <a:off x="749808" y="5414848"/>
            <a:ext cx="420624" cy="420624"/>
          </a:xfrm>
          <a:prstGeom prst="ellipse">
            <a:avLst/>
          </a:prstGeom>
          <a:solidFill>
            <a:srgbClr val="3DDC84"/>
          </a:solidFill>
          <a:ln/>
        </p:spPr>
      </p:sp>
      <p:sp>
        <p:nvSpPr>
          <p:cNvPr id="23" name="Text 21"/>
          <p:cNvSpPr txBox="1"/>
          <p:nvPr/>
        </p:nvSpPr>
        <p:spPr>
          <a:xfrm>
            <a:off x="749808" y="5414848"/>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4" name="Text 22"/>
          <p:cNvSpPr txBox="1"/>
          <p:nvPr/>
        </p:nvSpPr>
        <p:spPr>
          <a:xfrm>
            <a:off x="1325880" y="5032309"/>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Mixing up &lt; and &lt;=, or i and j, in a sort's inner loop bounds — a hard bug to spot by eye.</a:t>
            </a:r>
            <a:endParaRPr lang="en-US" sz="1350" dirty="0"/>
          </a:p>
        </p:txBody>
      </p:sp>
      <p:sp>
        <p:nvSpPr>
          <p:cNvPr id="25" name="Shape 23"/>
          <p:cNvSpPr/>
          <p:nvPr/>
        </p:nvSpPr>
        <p:spPr>
          <a:xfrm>
            <a:off x="6278728" y="4940869"/>
            <a:ext cx="5364328" cy="1368582"/>
          </a:xfrm>
          <a:prstGeom prst="roundRect">
            <a:avLst>
              <a:gd name="adj" fmla="val 5345"/>
            </a:avLst>
          </a:prstGeom>
          <a:solidFill>
            <a:srgbClr val="16304F"/>
          </a:solidFill>
          <a:ln/>
        </p:spPr>
      </p:sp>
      <p:sp>
        <p:nvSpPr>
          <p:cNvPr id="26" name="Shape 24"/>
          <p:cNvSpPr/>
          <p:nvPr/>
        </p:nvSpPr>
        <p:spPr>
          <a:xfrm>
            <a:off x="6479896" y="5414848"/>
            <a:ext cx="420624" cy="420624"/>
          </a:xfrm>
          <a:prstGeom prst="ellipse">
            <a:avLst/>
          </a:prstGeom>
          <a:solidFill>
            <a:srgbClr val="3DDC84"/>
          </a:solidFill>
          <a:ln/>
        </p:spPr>
      </p:sp>
      <p:sp>
        <p:nvSpPr>
          <p:cNvPr id="27" name="Text 25"/>
          <p:cNvSpPr txBox="1"/>
          <p:nvPr/>
        </p:nvSpPr>
        <p:spPr>
          <a:xfrm>
            <a:off x="6479896" y="5414848"/>
            <a:ext cx="420624" cy="420624"/>
          </a:xfrm>
          <a:prstGeom prst="rect">
            <a:avLst/>
          </a:prstGeom>
          <a:noFill/>
          <a:ln/>
        </p:spPr>
        <p:txBody>
          <a:bodyPr wrap="square" lIns="0" tIns="0" rIns="0" bIns="0" rtlCol="0" anchor="ctr"/>
          <a:lstStyle/>
          <a:p>
            <a:pPr algn="ctr" indent="0" marL="0">
              <a:buNone/>
            </a:pPr>
            <a:r>
              <a:rPr lang="en-US" sz="1800" b="1" dirty="0">
                <a:solidFill>
                  <a:srgbClr val="0B1F3A"/>
                </a:solidFill>
                <a:latin typeface="Calibri" pitchFamily="34" charset="0"/>
                <a:ea typeface="Calibri" pitchFamily="34" charset="-122"/>
                <a:cs typeface="Calibri" pitchFamily="34" charset="-120"/>
              </a:rPr>
              <a:t>!</a:t>
            </a:r>
            <a:endParaRPr lang="en-US" sz="1800" dirty="0"/>
          </a:p>
        </p:txBody>
      </p:sp>
      <p:sp>
        <p:nvSpPr>
          <p:cNvPr id="28" name="Text 26"/>
          <p:cNvSpPr txBox="1"/>
          <p:nvPr/>
        </p:nvSpPr>
        <p:spPr>
          <a:xfrm>
            <a:off x="7055968" y="5032309"/>
            <a:ext cx="4404208" cy="1185702"/>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Using == instead of strcmp if you sort strings later — Module 5's rule still applies.</a:t>
            </a:r>
            <a:endParaRPr lang="en-US" sz="1350" dirty="0"/>
          </a:p>
        </p:txBody>
      </p:sp>
      <p:sp>
        <p:nvSpPr>
          <p:cNvPr id="29" name="Text 27"/>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502920"/>
            <a:ext cx="1435608" cy="310896"/>
          </a:xfrm>
          <a:prstGeom prst="roundRect">
            <a:avLst>
              <a:gd name="adj" fmla="val 50000"/>
            </a:avLst>
          </a:prstGeom>
          <a:solidFill>
            <a:srgbClr val="16304F"/>
          </a:solidFill>
          <a:ln/>
        </p:spPr>
      </p:sp>
      <p:sp>
        <p:nvSpPr>
          <p:cNvPr id="3" name="Text 1"/>
          <p:cNvSpPr txBox="1"/>
          <p:nvPr/>
        </p:nvSpPr>
        <p:spPr>
          <a:xfrm>
            <a:off x="548640" y="502920"/>
            <a:ext cx="1435608" cy="310896"/>
          </a:xfrm>
          <a:prstGeom prst="rect">
            <a:avLst/>
          </a:prstGeom>
          <a:noFill/>
          <a:ln/>
        </p:spPr>
        <p:txBody>
          <a:bodyPr wrap="square" lIns="0" tIns="0" rIns="0" bIns="0" rtlCol="0" anchor="ctr"/>
          <a:lstStyle/>
          <a:p>
            <a:pPr algn="ctr" indent="0" marL="0">
              <a:buNone/>
            </a:pPr>
            <a:r>
              <a:rPr lang="en-US" sz="1100" b="1" dirty="0">
                <a:solidFill>
                  <a:srgbClr val="3DDC84"/>
                </a:solidFill>
                <a:latin typeface="Calibri" pitchFamily="34" charset="0"/>
                <a:ea typeface="Calibri" pitchFamily="34" charset="-122"/>
                <a:cs typeface="Calibri" pitchFamily="34" charset="-120"/>
              </a:rPr>
              <a:t>TRY IT YOURSELF</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ctr"/>
          <a:lstStyle/>
          <a:p>
            <a:pPr indent="0" marL="0">
              <a:buNone/>
            </a:pPr>
            <a:r>
              <a:rPr lang="en-US" sz="3000" b="1" dirty="0">
                <a:solidFill>
                  <a:srgbClr val="F5F8FC"/>
                </a:solidFill>
                <a:latin typeface="Cambria" pitchFamily="34" charset="0"/>
                <a:ea typeface="Cambria" pitchFamily="34" charset="-122"/>
                <a:cs typeface="Cambria" pitchFamily="34" charset="-120"/>
              </a:rPr>
              <a:t>Before you move on</a:t>
            </a:r>
            <a:endParaRPr lang="en-US" sz="3000" dirty="0"/>
          </a:p>
        </p:txBody>
      </p:sp>
      <p:sp>
        <p:nvSpPr>
          <p:cNvPr id="5" name="Shape 3"/>
          <p:cNvSpPr/>
          <p:nvPr/>
        </p:nvSpPr>
        <p:spPr>
          <a:xfrm>
            <a:off x="548640" y="1783080"/>
            <a:ext cx="5318608" cy="4160520"/>
          </a:xfrm>
          <a:prstGeom prst="roundRect">
            <a:avLst>
              <a:gd name="adj" fmla="val 1758"/>
            </a:avLst>
          </a:prstGeom>
          <a:solidFill>
            <a:srgbClr val="16304F"/>
          </a:solidFill>
          <a:ln/>
        </p:spPr>
      </p:sp>
      <p:sp>
        <p:nvSpPr>
          <p:cNvPr id="6" name="Shape 4"/>
          <p:cNvSpPr/>
          <p:nvPr/>
        </p:nvSpPr>
        <p:spPr>
          <a:xfrm>
            <a:off x="804672" y="2057400"/>
            <a:ext cx="365760" cy="365760"/>
          </a:xfrm>
          <a:prstGeom prst="ellipse">
            <a:avLst/>
          </a:prstGeom>
          <a:solidFill>
            <a:srgbClr val="3DDC84"/>
          </a:solidFill>
          <a:ln/>
        </p:spPr>
      </p:sp>
      <p:sp>
        <p:nvSpPr>
          <p:cNvPr id="7" name="Text 5"/>
          <p:cNvSpPr txBox="1"/>
          <p:nvPr/>
        </p:nvSpPr>
        <p:spPr>
          <a:xfrm>
            <a:off x="804672" y="20574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98424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Work through every file in examples/, compiling and running each one.</a:t>
            </a:r>
            <a:endParaRPr lang="en-US" sz="1350" dirty="0"/>
          </a:p>
        </p:txBody>
      </p:sp>
      <p:sp>
        <p:nvSpPr>
          <p:cNvPr id="9" name="Shape 7"/>
          <p:cNvSpPr/>
          <p:nvPr/>
        </p:nvSpPr>
        <p:spPr>
          <a:xfrm>
            <a:off x="804672" y="3028950"/>
            <a:ext cx="365760" cy="365760"/>
          </a:xfrm>
          <a:prstGeom prst="ellipse">
            <a:avLst/>
          </a:prstGeom>
          <a:solidFill>
            <a:srgbClr val="3DDC84"/>
          </a:solidFill>
          <a:ln/>
        </p:spPr>
      </p:sp>
      <p:sp>
        <p:nvSpPr>
          <p:cNvPr id="10" name="Text 8"/>
          <p:cNvSpPr txBox="1"/>
          <p:nvPr/>
        </p:nvSpPr>
        <p:spPr>
          <a:xfrm>
            <a:off x="804672" y="302895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325880" y="295579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Complete exercises/exercise1.c.</a:t>
            </a:r>
            <a:endParaRPr lang="en-US" sz="1350" dirty="0"/>
          </a:p>
        </p:txBody>
      </p:sp>
      <p:sp>
        <p:nvSpPr>
          <p:cNvPr id="12" name="Shape 10"/>
          <p:cNvSpPr/>
          <p:nvPr/>
        </p:nvSpPr>
        <p:spPr>
          <a:xfrm>
            <a:off x="804672" y="4000500"/>
            <a:ext cx="365760" cy="365760"/>
          </a:xfrm>
          <a:prstGeom prst="ellipse">
            <a:avLst/>
          </a:prstGeom>
          <a:solidFill>
            <a:srgbClr val="3DDC84"/>
          </a:solidFill>
          <a:ln/>
        </p:spPr>
      </p:sp>
      <p:sp>
        <p:nvSpPr>
          <p:cNvPr id="13" name="Text 11"/>
          <p:cNvSpPr txBox="1"/>
          <p:nvPr/>
        </p:nvSpPr>
        <p:spPr>
          <a:xfrm>
            <a:off x="804672" y="400050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25880" y="392734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Build the module project: a small leaderboard tool.</a:t>
            </a:r>
            <a:endParaRPr lang="en-US" sz="1350" dirty="0"/>
          </a:p>
        </p:txBody>
      </p:sp>
      <p:sp>
        <p:nvSpPr>
          <p:cNvPr id="15" name="Shape 13"/>
          <p:cNvSpPr/>
          <p:nvPr/>
        </p:nvSpPr>
        <p:spPr>
          <a:xfrm>
            <a:off x="804672" y="4972050"/>
            <a:ext cx="365760" cy="365760"/>
          </a:xfrm>
          <a:prstGeom prst="ellipse">
            <a:avLst/>
          </a:prstGeom>
          <a:solidFill>
            <a:srgbClr val="3DDC84"/>
          </a:solidFill>
          <a:ln/>
        </p:spPr>
      </p:sp>
      <p:sp>
        <p:nvSpPr>
          <p:cNvPr id="16" name="Text 14"/>
          <p:cNvSpPr txBox="1"/>
          <p:nvPr/>
        </p:nvSpPr>
        <p:spPr>
          <a:xfrm>
            <a:off x="804672" y="4972050"/>
            <a:ext cx="365760" cy="36576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898898"/>
            <a:ext cx="4541368" cy="971550"/>
          </a:xfrm>
          <a:prstGeom prst="rect">
            <a:avLst/>
          </a:prstGeom>
          <a:noFill/>
          <a:ln/>
        </p:spPr>
        <p:txBody>
          <a:bodyPr wrap="square" lIns="0" tIns="0" rIns="0" bIns="0" rtlCol="0" anchor="ctr"/>
          <a:lstStyle/>
          <a:p>
            <a:pPr indent="0" marL="0">
              <a:buNone/>
            </a:pPr>
            <a:r>
              <a:rPr lang="en-US" sz="1350" dirty="0">
                <a:solidFill>
                  <a:srgbClr val="F5F8FC"/>
                </a:solidFill>
                <a:latin typeface="Calibri" pitchFamily="34" charset="0"/>
                <a:ea typeface="Calibri" pitchFamily="34" charset="-122"/>
                <a:cs typeface="Calibri" pitchFamily="34" charset="-120"/>
              </a:rPr>
              <a:t>git add . &amp;&amp; git commit -m "..." &amp;&amp; git push</a:t>
            </a:r>
            <a:endParaRPr lang="en-US" sz="1350" dirty="0"/>
          </a:p>
        </p:txBody>
      </p:sp>
      <p:sp>
        <p:nvSpPr>
          <p:cNvPr id="18" name="Shape 16"/>
          <p:cNvSpPr/>
          <p:nvPr/>
        </p:nvSpPr>
        <p:spPr>
          <a:xfrm>
            <a:off x="6324448" y="1783080"/>
            <a:ext cx="5318608" cy="4160520"/>
          </a:xfrm>
          <a:prstGeom prst="roundRect">
            <a:avLst>
              <a:gd name="adj" fmla="val 1758"/>
            </a:avLst>
          </a:prstGeom>
          <a:solidFill>
            <a:srgbClr val="3DDC84"/>
          </a:solidFill>
          <a:ln/>
        </p:spPr>
      </p:sp>
      <p:sp>
        <p:nvSpPr>
          <p:cNvPr id="19" name="Text 17"/>
          <p:cNvSpPr txBox="1"/>
          <p:nvPr/>
        </p:nvSpPr>
        <p:spPr>
          <a:xfrm>
            <a:off x="6644488" y="2103120"/>
            <a:ext cx="4678528"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UP NEXT</a:t>
            </a:r>
            <a:endParaRPr lang="en-US" sz="1200" dirty="0"/>
          </a:p>
        </p:txBody>
      </p:sp>
      <p:sp>
        <p:nvSpPr>
          <p:cNvPr id="20" name="Text 18"/>
          <p:cNvSpPr txBox="1"/>
          <p:nvPr/>
        </p:nvSpPr>
        <p:spPr>
          <a:xfrm>
            <a:off x="6644488" y="2468880"/>
            <a:ext cx="4678528" cy="118872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Module 19 — Part 2 Capstone Project</a:t>
            </a:r>
            <a:endParaRPr lang="en-US" sz="2400" dirty="0"/>
          </a:p>
        </p:txBody>
      </p:sp>
      <p:sp>
        <p:nvSpPr>
          <p:cNvPr id="21" name="Text 19"/>
          <p:cNvSpPr txBox="1"/>
          <p:nvPr/>
        </p:nvSpPr>
        <p:spPr>
          <a:xfrm>
            <a:off x="6644488" y="3703320"/>
            <a:ext cx="4678528" cy="1965960"/>
          </a:xfrm>
          <a:prstGeom prst="rect">
            <a:avLst/>
          </a:prstGeom>
          <a:noFill/>
          <a:ln/>
        </p:spPr>
        <p:txBody>
          <a:bodyPr wrap="square" lIns="0" tIns="0" rIns="0" bIns="0" rtlCol="0" anchor="ctr"/>
          <a:lstStyle/>
          <a:p>
            <a:pPr indent="0" marL="0">
              <a:buNone/>
            </a:pPr>
            <a:r>
              <a:rPr lang="en-US" sz="1400" dirty="0">
                <a:solidFill>
                  <a:srgbClr val="0B1F3A"/>
                </a:solidFill>
                <a:latin typeface="Calibri" pitchFamily="34" charset="0"/>
                <a:ea typeface="Calibri" pitchFamily="34" charset="-122"/>
                <a:cs typeface="Calibri" pitchFamily="34" charset="-120"/>
              </a:rPr>
              <a:t>Your data now has to grow, your program has to be organized across files, and something has to recurse.</a:t>
            </a:r>
            <a:endParaRPr lang="en-US" sz="1400" dirty="0"/>
          </a:p>
        </p:txBody>
      </p:sp>
      <p:sp>
        <p:nvSpPr>
          <p:cNvPr id="22" name="Text 20"/>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8CA3C2"/>
                </a:solidFill>
                <a:latin typeface="Calibri" pitchFamily="34" charset="0"/>
                <a:ea typeface="Calibri" pitchFamily="34" charset="-122"/>
                <a:cs typeface="Calibri" pitchFamily="34" charset="-120"/>
              </a:rPr>
              <a:t>MODULE 18 — SORTING &amp; SEARCHING ALGORITHMS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2026-09-15T18:16:13Z</dcterms:created>
  <dcterms:modified xsi:type="dcterms:W3CDTF">2026-09-15T18:16:13Z</dcterms:modified>
</cp:coreProperties>
</file>