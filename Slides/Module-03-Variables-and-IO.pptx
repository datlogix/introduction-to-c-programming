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actually run this and type a real age -- the "personal" feeling is the whole point, and it is exactly what makes the module project (a bigger interactive program) satisfying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program up to now only printed text baked into the code itself. A variable is what lets a value have a reusable NAME instead of retyping a literal everywhere -- that is the entire motivation for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Rules are non-negotiable (the compiler rejects violations); conventions are a community habit that keeps everyone's C code mutually readable. snake_case is the idiomatic C style even though other languages prefer camelCase.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Python/math-background students often misread age = age + 1 as an equation. Say explicitly: = means "compute right side, then store in the variable on the left," never "these are equal."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classic maddening-to-debug bug because the program can APPEAR to work by luck. Tie the exception (about to scanf immediately) forward to the next few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 a feature, not an annoyance: it converts "a value silently got changed somewhere it shouldn't have" from a confusing runtime bug into an immediate, obvious compiler 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rule for now, without the pointer theory: always write &amp; before the variable name in scanf, for the types known so far. This changes once students meet strings and arrays in Module 5 (no &amp; for those).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most common and confusing beginner scanf bugs -- if a %c read seems to get silently skipped, this is almost always why. Worth live-demonstrating both the buggy and fixed version back to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interactive program from here on follows this three-step shape. Point back explicitly at the hook program at the start of the module and have students identify the read/compute/print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&amp; and leading-space bugs together account for the large majority of Module 3 debugging questions -- make sure both get a live demo, not just a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4's hook (Rock Paper Scissors) reuses scanf and the ==/&amp;&amp;/|| operators from Modules 2-3 directly -- make sure those are solid before moving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949440" y="914400"/>
            <a:ext cx="5120640" cy="5120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630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2000" dirty="0"/>
          </a:p>
        </p:txBody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ln w="28575">
            <a:solidFill>
              <a:srgbClr val="16304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331720"/>
            <a:ext cx="830275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331720"/>
            <a:ext cx="8302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Input/Output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values well, reading input from the user, and locking values down with const.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512064" cy="512064"/>
          </a:xfrm>
          <a:prstGeom prst="ellipse">
            <a:avLst/>
          </a:prstGeom>
          <a:solidFill>
            <a:srgbClr val="16304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141732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❯_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07008" y="1417320"/>
            <a:ext cx="5486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C PROGRAMMING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459382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45938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— LIVE 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instant mind reader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03720" cy="3794760"/>
          </a:xfrm>
          <a:prstGeom prst="roundRect">
            <a:avLst>
              <a:gd name="adj" fmla="val 2169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391656" cy="3172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main(void) {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age;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printf("Think of your age. Don't tell anyone. Just type it in: ");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scanf("%d", &amp;age);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birth_year_guess = 2026 - age;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days_alive_guess = age * 365;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printf("\nI sense... you were born around the year %d.\n", birth_year_guess);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printf("You have been alive for roughly %d days.\n", days_alive_guess);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printf("I am basically a wizard.\n");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0;</a:t>
            </a:r>
            <a:endParaRPr lang="en-US" sz="10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5559552"/>
            <a:ext cx="6903720" cy="566928"/>
          </a:xfrm>
          <a:prstGeom prst="roundRect">
            <a:avLst>
              <a:gd name="adj" fmla="val 12903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59552"/>
            <a:ext cx="65013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1300" dirty="0">
                <a:solidFill>
                  <a:srgbClr val="F5F8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gcc mindreader.c -o mindreader &amp;&amp; ./mindreader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863840" y="1691640"/>
            <a:ext cx="37792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in your age and watch it "read your mind."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trick — a variable holding what you typed, plus two lines of arithmetic.</a:t>
            </a:r>
            <a:endParaRPr lang="en-US" sz="1550" dirty="0"/>
          </a:p>
          <a:p>
            <a:pPr algn="l" marL="228600" indent="-228600">
              <a:spcAft>
                <a:spcPts val="1400"/>
              </a:spcAft>
              <a:buSzPct val="100000"/>
              <a:buChar char="▸"/>
            </a:pPr>
            <a:r>
              <a:rPr lang="en-US" sz="15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module you’ll understand every piece, including that mysterious &amp; before age.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variable, really?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4415" cy="914400"/>
          </a:xfrm>
          <a:prstGeom prst="roundRect">
            <a:avLst>
              <a:gd name="adj" fmla="val 9000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  age   =   16;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397709" y="3017520"/>
            <a:ext cx="0" cy="45720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474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38100" dir="5400000">
              <a:srgbClr val="0B1F3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61188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977640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kind of value the box is allowed to hold (Module 2).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95848" y="3017520"/>
            <a:ext cx="0" cy="45720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38218" y="3474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38100" dir="5400000">
              <a:srgbClr val="0B1F3A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475378" y="361188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475378" y="3977640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use to refer to the box — read it, print it, reuse it.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793986" y="3017520"/>
            <a:ext cx="0" cy="457200"/>
          </a:xfrm>
          <a:prstGeom prst="line">
            <a:avLst/>
          </a:prstGeom>
          <a:noFill/>
          <a:ln w="25400">
            <a:solidFill>
              <a:srgbClr val="3DDC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36357" y="3474720"/>
            <a:ext cx="3515258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63500" dist="38100" dir="5400000">
              <a:srgbClr val="0B1F3A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73517" y="3611880"/>
            <a:ext cx="32409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173517" y="3977640"/>
            <a:ext cx="324093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stored in the box right now. Can change while the program runs.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11094415" cy="594360"/>
          </a:xfrm>
          <a:prstGeom prst="roundRect">
            <a:avLst>
              <a:gd name="adj" fmla="val 12308"/>
            </a:avLst>
          </a:prstGeom>
          <a:solidFill>
            <a:srgbClr val="E4F9E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31520" y="521208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56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named box in memory that holds a value your program can read and change.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variables: rules vs. conventions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(compiler enforces)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651760"/>
            <a:ext cx="4769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Letters, digits, and underscores only.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start with a digit.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Case-sensitive — age, Age, AGE are 3 names.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use a reserved word (int, return, const...).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24448" y="1783080"/>
            <a:ext cx="5318608" cy="4434840"/>
          </a:xfrm>
          <a:prstGeom prst="roundRect">
            <a:avLst>
              <a:gd name="adj" fmla="val 1856"/>
            </a:avLst>
          </a:prstGeom>
          <a:solidFill>
            <a:srgbClr val="FFFFFF"/>
          </a:solidFill>
          <a:ln w="12700">
            <a:solidFill>
              <a:srgbClr val="DCE2EC"/>
            </a:solidFill>
            <a:prstDash val="solid"/>
          </a:ln>
          <a:effectLst>
            <a:outerShdw sx="100000" sy="100000" kx="0" ky="0" algn="bl" rotWithShape="0" blurRad="76200" dist="38100" dir="5400000">
              <a:srgbClr val="0B1F3A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98768" y="2057400"/>
            <a:ext cx="420624" cy="420624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98768" y="2057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147408" y="2057400"/>
            <a:ext cx="422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Conventions (community habits)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98768" y="2651760"/>
            <a:ext cx="4769968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meaningful names — average_score, not s.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snake_case — all lowercase, joined by _.</a:t>
            </a:r>
            <a:endParaRPr lang="en-US" sz="1400" dirty="0"/>
          </a:p>
          <a:p>
            <a:pPr algn="l" marL="228600" indent="-228600">
              <a:spcAft>
                <a:spcPts val="1200"/>
              </a:spcAft>
              <a:buSzPct val="100000"/>
              <a:buChar char="▸"/>
            </a:pPr>
            <a:r>
              <a:rPr lang="en-US" sz="14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writing for the next human to read this — often future you.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Declaring, initializing, reassigning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score;         // declared -- no meaningful value yet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score2 = 0;     // declared AND initialized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 = 16;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age + 1;      // re-assigns: read 16, add 1, store 17 back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= age + 1 is not algebra — compute the right side, store it on the left.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creates the box.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Initializing puts a value in it at that same moment.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= again later re-assigns, it does not declare a new variable.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uninitialized variables are dangerous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mystery;</a:t>
            </a:r>
            <a:endParaRPr lang="en-US" sz="2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20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printf("%d\n", mystery);   // could print ANYTHING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garbage value — not guaranteed to be 0, or anything predictable.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without initializing leaves whatever bits were already there.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bug can look harmless on one run and break on the next.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Habit: always initialize — unless you’re about to scanf into it immediately.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const: values that should never change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double PI = 3.14159;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int MAX_STUDENTS = 30;</a:t>
            </a: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endParaRPr lang="en-US" sz="17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7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PI = 3.14;   -- gcc refuses to compile this. On purpose.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silent runtime bug into an obvious compile-time error.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for anything you already know should never change.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mathematical constant, a max size, a fixed price.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reassign it anywhere later refuses to compile.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51637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75163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input with scanf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age;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your age: 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&amp;age);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price;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a price: 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scanf("%f", &amp;price);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means "the address of this variable" — where to store the value.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format specifiers as printf: %d, %f, %c.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printf a prompt before calling scanf.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story on &amp; arrives in Module 7 (Pointers).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BUG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scanf("%c") and the leading-space bug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69494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64373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score;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 grade;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scanf("%d", &amp;score);</a:t>
            </a:r>
            <a:endParaRPr lang="en-US" sz="16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6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 %c", &amp;grade);   // &lt;-- the leading space matters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69494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65471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after %d leaves \n sitting in the buffer.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909560" y="1691640"/>
            <a:ext cx="373349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space, %c reads that leftover \n instantly.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appears to skip right past asking for a letter.</a:t>
            </a:r>
            <a:endParaRPr lang="en-US" sz="1500" dirty="0"/>
          </a:p>
          <a:p>
            <a:pPr algn="l" marL="228600" indent="-228600">
              <a:spcAft>
                <a:spcPts val="1600"/>
              </a:spcAft>
              <a:buSzPct val="100000"/>
              <a:buChar char="▸"/>
            </a:pPr>
            <a:r>
              <a:rPr lang="en-US" sz="1500" dirty="0">
                <a:solidFill>
                  <a:srgbClr val="30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space says: "skip whitespace, then read the next real character."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695298" cy="310896"/>
          </a:xfrm>
          <a:prstGeom prst="roundRect">
            <a:avLst>
              <a:gd name="adj" fmla="val 50000"/>
            </a:avLst>
          </a:prstGeom>
          <a:solidFill>
            <a:srgbClr val="0B1F3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69529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3203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→ compute → print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7863840" cy="3749040"/>
          </a:xfrm>
          <a:prstGeom prst="roundRect">
            <a:avLst>
              <a:gd name="adj" fmla="val 2195"/>
            </a:avLst>
          </a:prstGeom>
          <a:solidFill>
            <a:srgbClr val="102841"/>
          </a:solidFill>
          <a:ln/>
          <a:effectLst>
            <a:outerShdw sx="100000" sy="100000" kx="0" ky="0" algn="bl" rotWithShape="0" blurRad="101600" dist="38100" dir="5400000">
              <a:srgbClr val="0B1F3A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1764792"/>
            <a:ext cx="109728" cy="109728"/>
          </a:xfrm>
          <a:prstGeom prst="ellipse">
            <a:avLst/>
          </a:prstGeom>
          <a:solidFill>
            <a:srgbClr val="E6675C"/>
          </a:solidFill>
          <a:ln/>
        </p:spPr>
      </p:sp>
      <p:sp>
        <p:nvSpPr>
          <p:cNvPr id="7" name="Shape 5"/>
          <p:cNvSpPr/>
          <p:nvPr/>
        </p:nvSpPr>
        <p:spPr>
          <a:xfrm>
            <a:off x="969264" y="1764792"/>
            <a:ext cx="109728" cy="109728"/>
          </a:xfrm>
          <a:prstGeom prst="ellipse">
            <a:avLst/>
          </a:prstGeom>
          <a:solidFill>
            <a:srgbClr val="E8C15A"/>
          </a:solidFill>
          <a:ln/>
        </p:spPr>
      </p:sp>
      <p:sp>
        <p:nvSpPr>
          <p:cNvPr id="8" name="Shape 6"/>
          <p:cNvSpPr/>
          <p:nvPr/>
        </p:nvSpPr>
        <p:spPr>
          <a:xfrm>
            <a:off x="1188720" y="1764792"/>
            <a:ext cx="109728" cy="109728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04672" y="2039112"/>
            <a:ext cx="7351776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num1, num2;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the first number: 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scanf("%f", &amp;num1);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printf("Enter the second number: ");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scanf("%f", &amp;num2);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 sum = num1 + num2;</a:t>
            </a:r>
            <a:endParaRPr lang="en-US" sz="15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500" dirty="0">
                <a:solidFill>
                  <a:srgbClr val="E7ED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printf("%.2f + %.2f = %.2f\n", num1, num2, sum);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5513832"/>
            <a:ext cx="786384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5513832"/>
            <a:ext cx="74615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300" b="1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pattern behind the mind-reader hook.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90891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90891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beginner mistakes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&amp; before a variable name in scanf.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78728" y="1691640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0" name="Shape 8"/>
          <p:cNvSpPr/>
          <p:nvPr/>
        </p:nvSpPr>
        <p:spPr>
          <a:xfrm>
            <a:off x="6479896" y="2165604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79896" y="21656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055968" y="1783080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the leading space before %c after a numeric read.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4" name="Shape 12"/>
          <p:cNvSpPr/>
          <p:nvPr/>
        </p:nvSpPr>
        <p:spPr>
          <a:xfrm>
            <a:off x="749808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49808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1325880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format specifier for the variable’s type (silently reads garbage).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78728" y="3316224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18" name="Shape 16"/>
          <p:cNvSpPr/>
          <p:nvPr/>
        </p:nvSpPr>
        <p:spPr>
          <a:xfrm>
            <a:off x="6479896" y="3790188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79896" y="37901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055968" y="3407664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Declaring a variable without initializing it, then reading its value.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2" name="Shape 20"/>
          <p:cNvSpPr/>
          <p:nvPr/>
        </p:nvSpPr>
        <p:spPr>
          <a:xfrm>
            <a:off x="749808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Trying to re-assign a const variable after it’s been set.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78728" y="4940808"/>
            <a:ext cx="5364328" cy="1368552"/>
          </a:xfrm>
          <a:prstGeom prst="roundRect">
            <a:avLst>
              <a:gd name="adj" fmla="val 5345"/>
            </a:avLst>
          </a:prstGeom>
          <a:solidFill>
            <a:srgbClr val="16304F"/>
          </a:solidFill>
          <a:ln/>
        </p:spPr>
      </p:sp>
      <p:sp>
        <p:nvSpPr>
          <p:cNvPr id="26" name="Shape 24"/>
          <p:cNvSpPr/>
          <p:nvPr/>
        </p:nvSpPr>
        <p:spPr>
          <a:xfrm>
            <a:off x="6479896" y="5414772"/>
            <a:ext cx="420624" cy="420624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79896" y="54147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7055968" y="5032248"/>
            <a:ext cx="4404208" cy="1185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Non-descriptive names like x, a, temp1 instead of what the value means.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380744" cy="310896"/>
          </a:xfrm>
          <a:prstGeom prst="roundRect">
            <a:avLst>
              <a:gd name="adj" fmla="val 50000"/>
            </a:avLst>
          </a:prstGeom>
          <a:solidFill>
            <a:srgbClr val="16304F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380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96012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8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move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16304F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057400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057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1984248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through every file in examples/ — try different input values.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770632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7706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697480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exercises/exercise1.c.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04672" y="3483864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3483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410712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module project.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04672" y="4197096"/>
            <a:ext cx="365760" cy="365760"/>
          </a:xfrm>
          <a:prstGeom prst="ellipse">
            <a:avLst/>
          </a:prstGeom>
          <a:solidFill>
            <a:srgbClr val="3DDC8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4197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4123944"/>
            <a:ext cx="43127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8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add . &amp;&amp; git commit -m "..." &amp;&amp; git push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324448" y="1783080"/>
            <a:ext cx="5318608" cy="4160520"/>
          </a:xfrm>
          <a:prstGeom prst="roundRect">
            <a:avLst>
              <a:gd name="adj" fmla="val 1978"/>
            </a:avLst>
          </a:prstGeom>
          <a:solidFill>
            <a:srgbClr val="3DDC8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644488" y="2103120"/>
            <a:ext cx="46785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44488" y="2468880"/>
            <a:ext cx="467852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4 — Control Structures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6644488" y="3703320"/>
            <a:ext cx="467852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Making decisions with if/else, repeating work with loops, and adding real randomness with rand().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8C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VARIABLES &amp; I/O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Introduction to C Programming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Introduction to C Programming</dc:creator>
  <cp:lastModifiedBy>Introduction to C Programming</cp:lastModifiedBy>
  <cp:revision>1</cp:revision>
  <dcterms:created xsi:type="dcterms:W3CDTF">2026-09-14T07:01:23Z</dcterms:created>
  <dcterms:modified xsi:type="dcterms:W3CDTF">2026-09-14T07:01:23Z</dcterms:modified>
</cp:coreProperties>
</file>