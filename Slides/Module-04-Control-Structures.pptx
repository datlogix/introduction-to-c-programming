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listing is in examples/ and the module README -- this is the trimmed, interesting core (choice printing lines omitted for slide space). Ask students what happens if they type a number other than 0/1/2 -- it falls into the else branch as Scissors, a good segue into switch's default case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thesis statement for the whole module -- everything after it is one of these two jobs: deciding, or repeating.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if a later else-if condition would also be true, C never checks it once an earlier branch matched. Relational/logical operators here are exactly Module 2's ==, !=, &lt;, &gt;, &amp;&amp;, ||.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is switch's safety net, the same job a final else does for if. Set up the next slide by noting we are about to see what happens WITHOUT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compile and run this exactly as written BEFORE explaining it -- the surprise ("why did all 3 lines print for a Saturday?") is the teaching moment. Then fix it live by adding break after each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example of "until something happens": asking the player to guess a number until they get it right, which is exactly the module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examples/03_while_and_do_while.c for a side-by-side comparison the students can run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when you know IN ADVANCE how many repetitions you want (a multiplication table, rolling a die 5 times). Anything writable as a for loop could also be a while loop -- for just keeps init/condition/increment together so they are harder to forget.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Confusing break and continue is explicitly called out on the mistakes slide -- the mnemonic that tends to stick: break LEAVES, continue just SKIPS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explains the hook's computerChoice = rand() % 3. Calling srand() more than once, or inside a loop, is a common mistake -- flag it now, it is on the mistakes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short -- nesting is a natural consequence of everything already taught, not a new concept. The example combines this module's for loop with Module 2's %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= vs == mistake is the single most common bug introduced in this module -- it compiles cleanly and just silently does the wrong thing, which makes it dangerous. Ctrl+C stops a genuinely frozen infinite loop, worth mentioning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Guessing Game project combines nearly everything from Modules 1-4: variables, scanf, comparisons, and a loop that repeats until the player wins. It is the first genuinely "complete program" moment of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31720"/>
            <a:ext cx="830275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830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Structures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with if/else, repeating work with loops, and adding real randomness.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417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5938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593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Rock, Paper, Scissors vs. the computer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2169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39165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srand(time(NULL));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playerChoice;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&amp;playerChoice);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computerChoice = rand() % 3;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(playerChoice == computerChoice) {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printf("It's a tie!\n");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((playerChoice == 0 &amp;&amp; computerChoice == 2) ||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(playerChoice == 1 &amp;&amp; computerChoice == 0) ||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(playerChoice == 2 &amp;&amp; computerChoice == 1)) {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printf("You win!\n");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printf("Computer wins!\n");</a:t>
            </a:r>
            <a:endParaRPr lang="en-US" sz="13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59552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rps.c -o rps &amp;&amp; ./rps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169164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things: if / else if / else, and rand().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logic reuses Module 2’s ==, &amp;&amp;, and ||.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 few times and try all three choices.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863840" y="5074920"/>
            <a:ext cx="3779215" cy="1234440"/>
          </a:xfrm>
          <a:prstGeom prst="roundRect">
            <a:avLst>
              <a:gd name="adj" fmla="val 5926"/>
            </a:avLst>
          </a:prstGeom>
          <a:solidFill>
            <a:srgbClr val="E4F9E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5074920"/>
            <a:ext cx="3413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you’ll understand every line — and build a full Number Guessing Game in the project.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control structures?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4231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 bottom, once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so far ran line 1, then 2, then 3, done, no exceptions.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234440" y="332841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programs decide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 guess is too high, say so."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234440" y="424281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519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programs repeat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asking until the player gets it right."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2727"/>
            </a:avLst>
          </a:prstGeom>
          <a:solidFill>
            <a:srgbClr val="E4F9E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switch, while, do-while, and for control WHICH statements run, and HOW MANY TIMES.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0275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0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 if / else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temperature = 28;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(temperature &gt;= 30) {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printf("It's hot outside.\n");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(temperature &gt;= 20) {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printf("It's a mild day.\n");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printf("It's cold.\n");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true branch runs; every other branch is skipped.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are checked top to bottom.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 with &amp;&amp; and ||.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else (optional) catches everything else.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30275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30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statements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(dayNumber) {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printf("Monday\n");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printf("Tuesday\n");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printf("Not a valid day number.\n");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the switch. Always include a default case.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than a long if/else if chain for ONE variable vs. exact values.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do ranges or &amp;&amp;/|| — use if/else for those.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80744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BUG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switch fallthrough bug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dayNumber = 6; // Saturday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(dayNumber) {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6: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printf("Saturday: weekend movie night.\n");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7: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printf("Sunday: weekend movie night.\n");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printf("Some other day: no movie night.\n");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break: ALL matching-and-below cases run. All three lines print.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break, a switch "falls through" to the next case.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common beginner switch bugs.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8914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89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loops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countdown = 5;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(countdown &gt; 0) {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printf("%d...\n", countdown);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countdown = countdown - 1;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printf("Liftoff!\n");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every run — including the first.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condition starts false, the body never runs at all.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repeating "until something happens," and you don’t know the count in advance.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8914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89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vs. do-while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4769968" cy="777240"/>
          </a:xfrm>
          <a:prstGeom prst="rect">
            <a:avLst/>
          </a:prstGeom>
          <a:solidFill>
            <a:srgbClr val="E9EEF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(cond)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body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47699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condition FIRST.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may run zero times.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4448" y="1783080"/>
            <a:ext cx="5318608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87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987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47408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do-while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2651760"/>
            <a:ext cx="4769968" cy="777240"/>
          </a:xfrm>
          <a:prstGeom prst="rect">
            <a:avLst/>
          </a:prstGeom>
          <a:solidFill>
            <a:srgbClr val="E9EEF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body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(cond);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3566160"/>
            <a:ext cx="47699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condition AFTER.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always runs at least once.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2531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do-while anywhere you need to do something once before you can even check the condition — like a player’s first guess.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8914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89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loops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10; i = i + 1) {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printf("%d\n", i);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parts, one line: initialization ; condition ; increment.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once, before the loop starts.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every run; stops the moment it’s false.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every run of the body.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8914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89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vs. continue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47699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the loop entirely.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checks, no more iterations.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4448" y="1783080"/>
            <a:ext cx="5318608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87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87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47408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651760"/>
            <a:ext cx="47699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REST of this iteration only.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straight to the next condition check.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2531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(i = 1; i &lt;= 15; i++) { if (i % 3 == 0) continue; if (i &gt; 10) break; printf("%d\n", i); }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rand() and srand()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&lt;time.h&gt;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srand(time(NULL));           // call ONCE, near the top of main</a:t>
            </a:r>
            <a:endParaRPr lang="en-US" sz="1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roll = rand() % 6 + 1;   // a number from 1 to 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pattern: rand() % (max - min + 1) + min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 alone produces a long, fixed sequence that just looks random.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srand() seeds that sequence — without it, every run repeats the same numbers.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with the current time so it actually changes each run.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Nesting control structures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8803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 can live inside each other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commonly an if inside a loop, to check something about each value as the loop produces it.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234440" y="3785616"/>
            <a:ext cx="10408615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79476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 one level deeper each time —   </a:t>
            </a:r>
            <a:pPr algn="l" indent="0" marL="0"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ignores whitespace, but consistent indentation is what makes nested code readable at a glance.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2727"/>
            </a:avLst>
          </a:prstGeom>
          <a:solidFill>
            <a:srgbClr val="E4F9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(i = 1; i &lt;= 10; i++) { if (i % 2 == 0) printf("%d is even\n", i); else printf("%d is odd\n", i); }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8914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89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6560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656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83080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= instead of == inside an if condition — if (x = 5) compiles and is always true.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9896" y="216560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9896" y="21656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55968" y="1783080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break in a switch case, causing fallthrough.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16224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407664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whose condition never becomes false — an infinite loop.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78728" y="3316224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9896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79896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55968" y="3407664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in a for condition: i &lt; 10 runs 10 times, i &lt;= 10 runs 11.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940808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41477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4147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32248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srand() more than once, or inside a loop.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78728" y="4940808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9896" y="541477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9896" y="54147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055968" y="5032248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break (leaves the loop) with continue (skips ahead).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80744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4160520"/>
          </a:xfrm>
          <a:prstGeom prst="roundRect">
            <a:avLst>
              <a:gd name="adj" fmla="val 1978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file in examples/, including the broken fallthrough demo.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70632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9748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3483864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10712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project: a Number Guessing Game.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" y="4197096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23944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"..." &amp;&amp; git push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24448" y="1783080"/>
            <a:ext cx="5318608" cy="4160520"/>
          </a:xfrm>
          <a:prstGeom prst="roundRect">
            <a:avLst>
              <a:gd name="adj" fmla="val 1978"/>
            </a:avLst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44488" y="21031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44488" y="2468880"/>
            <a:ext cx="467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 — Arrays &amp; Strings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644488" y="3703320"/>
            <a:ext cx="46785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many values under one name, and finally printing real text with %s.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CONTROL STRUCTURES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Introduction to C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Introduction to C Programming</dc:creator>
  <cp:lastModifiedBy>Introduction to C Programming</cp:lastModifiedBy>
  <cp:revision>1</cp:revision>
  <dcterms:created xsi:type="dcterms:W3CDTF">2026-09-14T07:01:23Z</dcterms:created>
  <dcterms:modified xsi:type="dcterms:W3CDTF">2026-09-14T07:01:23Z</dcterms:modified>
</cp:coreProperties>
</file>