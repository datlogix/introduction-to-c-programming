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and a queue are both just linked lists. The only new idea this module introduces is a discipline about which end you add to and remove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it and let students predict the undo order out loud before it prints. push added to one end, pop removed from that SAME end -- that's why the order came back reversed.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and a queue are both just Module 12's linked lists -- the only difference is a rule about which end you're allowed to add to and remove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call the head pointer 'top' here instead of 'head' -- same pointer, different name, because stack terminology talks about the top of the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tradeoff slide: linked list = unlimited size but per-node overhead; array = fixed size but dead simple.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tail-reset-on-last-dequeue rule is the single trickiest line in the module -- if you skip it, the next enqueue writes through a dangling tail pointer and corrupts the heap.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payoff -- connect the abstract LIFO/FIFO rule to software the students actually use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Mistake 1 (missing empty check) and mistake 3 (forgotten tail reset) account for almost every real bug students hit in this module's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14 is a shift in topic -- from data structures to code organization -- but it uses the same struct and pointer skills from this module and Module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2000" b="1" spc="-1400" kern="0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417320"/>
            <a:ext cx="6400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1014984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33172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Stacks &amp; Queues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434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linked list from Module 12 -- with a rule about which end you're allowed to touch.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65453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56545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your own Ctrl+Z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1446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push(Node *top, const char *action)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*newNode = malloc(sizeof(Node));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newNode-&gt;action = action;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newNode-&gt;next = top;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newNode;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pop(Node *top) {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(top == NULL) return NULL;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printf("Undoing: %s\n", top-&gt;action);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Node *oldTop = top;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 = top-&gt;next;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free(oldTop);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top;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hook.c -o hook &amp;&amp; ./hook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actions go in, and three actions come back out in exactly the REVERSE order.</a:t>
            </a:r>
            <a:endParaRPr lang="en-US" sz="15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thing you did is the first thing undone -- that's not a coincidence, it's the entire idea behind this module.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776472" cy="1234440"/>
          </a:xfrm>
          <a:prstGeom prst="roundRect">
            <a:avLst>
              <a:gd name="adj" fmla="val 5926"/>
            </a:avLst>
          </a:prstGeom>
          <a:solidFill>
            <a:srgbClr val="E4F9E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5074920"/>
            <a:ext cx="34107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you'll understand exactly why push/pop naturally produce that reversal, and meet its opposite: first-in, first-out.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LIFO vs. FIFO: two disciplines for ordering data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-- LIFO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In, First Out. Whatever you added most recently is the first thing that comes back out.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stack of plates: you add to the top, and you take from the top.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the hook just demonstrated.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-- FIFO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01968" y="2651760"/>
            <a:ext cx="4773168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In, First Out. Whatever you added first is the first thing that comes back out.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checkout line: you join at the back, and you're served from the front.</a:t>
            </a:r>
            <a:endParaRPr lang="en-US" sz="1500" dirty="0"/>
          </a:p>
          <a:p>
            <a:pPr algn="l" marL="342900" indent="-342900">
              <a:lnSpc>
                <a:spcPct val="115000"/>
              </a:lnSpc>
              <a:spcAft>
                <a:spcPts val="1800"/>
              </a:spcAft>
              <a:buSzPct val="100000"/>
              <a:buChar char="▪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one end, remove from the other -- the order comes back the same as it went in.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module is: how do you build each of these on a linked list, and why does a queue need more bookkeeping than a stack?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a stack: push and pop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73168" cy="130302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2651760"/>
            <a:ext cx="4553712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Node* push(Node *top, int value) {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newNode-&gt;next = top;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newNode;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91940"/>
            <a:ext cx="477316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Insert-at-head from Module 12, wearing a different name.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ever touches the head -- no walking the list, so it's O(1).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01968" y="2651760"/>
            <a:ext cx="4773168" cy="158305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2651760"/>
            <a:ext cx="4553712" cy="1583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(top == NULL) {  // ALWAYS check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NULL;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top-&gt;next;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free(oldTop);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4371975"/>
            <a:ext cx="4773168" cy="1160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for an empty stack before touching top-&gt;value.</a:t>
            </a:r>
            <a:endParaRPr lang="en-US" sz="1350" dirty="0"/>
          </a:p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check dereferences NULL -- an instant crash.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examples/01_stack_push_and_pop.c.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simpler alternative: array-based stacks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MAX_SIZE 5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stack[MAX_SIZE];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top = -1;  // -1 means empty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(top == MAX_SIZE - 1)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printf("Stack is full.\n");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stack[++top] = value;   // push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code, but a fixed maximum size decided at compile time -- push past it and you must explicitly refuse.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linked-list stack can grow without limit -- every push just mallocs one more node.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know in advance you'll never need more than, say, 100 items, a plain array is simpler: no malloc, no free, no pointers to chase.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approach is “better” in general -- pick the one that matches what you know about your data ahead of time.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examples/02_array_based_stack_alternative.c.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a queue: enqueue and dequeue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enqueue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4773168" cy="2143125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2651760"/>
            <a:ext cx="4553712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(q-&gt;tail == NULL) {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q-&gt;head = newNode;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q-&gt;tail = newNode;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q-&gt;tail-&gt;next = newNode;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q-&gt;tail = newNode;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32045"/>
            <a:ext cx="477316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at the TAIL. A tail pointer means enqueue never has to walk the whole list.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27648" y="1783080"/>
            <a:ext cx="5321808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019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6019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50608" y="2057400"/>
            <a:ext cx="4407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dequeue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601968" y="2651760"/>
            <a:ext cx="4773168" cy="1303020"/>
          </a:xfrm>
          <a:prstGeom prst="rect">
            <a:avLst/>
          </a:prstGeom>
          <a:solidFill>
            <a:srgbClr val="E9EE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11696" y="2651760"/>
            <a:ext cx="4553712" cy="130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q-&gt;head = oldHead-&gt;next;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(q-&gt;head == NULL) {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q-&gt;tail = NULL;  // reset it too!</a:t>
            </a: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0B1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601968" y="4091940"/>
            <a:ext cx="4773168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from the HEAD. Forgetting to reset tail leaves it dangling.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Queue struct holds both head and tail -- pass a POINTER to it so both fields can update together. See examples/03_queue_enqueue_and_dequeue.c.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90626" cy="310896"/>
          </a:xfrm>
          <a:prstGeom prst="roundRect">
            <a:avLst>
              <a:gd name="adj" fmla="val 23529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8906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6903720" cy="3182112"/>
          </a:xfrm>
          <a:prstGeom prst="roundRect">
            <a:avLst>
              <a:gd name="adj" fmla="val 1724"/>
            </a:avLst>
          </a:prstGeom>
          <a:solidFill>
            <a:srgbClr val="102841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85623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85623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9" name="Shape 7"/>
          <p:cNvSpPr/>
          <p:nvPr/>
        </p:nvSpPr>
        <p:spPr>
          <a:xfrm>
            <a:off x="1188720" y="185623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130552"/>
            <a:ext cx="63916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enqueue(&amp;printQueue, "Doug's essay.pdf");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enqueue(&amp;printQueue, "Ama's timetable.pdf");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enqueue(&amp;printQueue, "Kofi's poster.pdf");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(dequeue(&amp;printQueue, &amp;job)) {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printf("now printing: %s\n", job);</a:t>
            </a:r>
            <a:endParaRPr lang="en-US" sz="13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5038344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5038344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algn="l"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Stacks power undo history. Queues power task and print queues.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1691640"/>
            <a:ext cx="3776472" cy="3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'undo' button you've ever used -- a text editor, an image editor, a browser's back button -- is LIFO by nature.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several jobs are requested and handled one at a time, fairness usually means FIFO: whoever asked first gets served first.</a:t>
            </a:r>
            <a:endParaRPr lang="en-US" sz="1450" dirty="0"/>
          </a:p>
          <a:p>
            <a:pPr algn="l"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examples/05_task_queue_simulation.c, a small print-queue simulation.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40587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04058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Popping or dequeuing without checking for empty first -- the single most common bug in this module.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64428" y="169164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1" name="Shape 9"/>
          <p:cNvSpPr/>
          <p:nvPr/>
        </p:nvSpPr>
        <p:spPr>
          <a:xfrm>
            <a:off x="6365596" y="216712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65596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941668" y="178308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up which end a queue operates on -- enqueue at the tail, dequeue at the head. Doing both at the same end turns it into a stack by accident.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reset tail to NULL when dequeue removes the last node, leaving it dangling and corrupting the next enqueue.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64428" y="3200400"/>
            <a:ext cx="5478628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65596" y="36758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65596" y="36758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1668" y="3291840"/>
            <a:ext cx="45185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free a popped/dequeued node -- every node that came from malloc needs exactly one matching free.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4415" cy="1371600"/>
          </a:xfrm>
          <a:prstGeom prst="roundRect">
            <a:avLst>
              <a:gd name="adj" fmla="val 4000"/>
            </a:avLst>
          </a:prstGeom>
          <a:solidFill>
            <a:srgbClr val="16304F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" y="518464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9808" y="5184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4800600"/>
            <a:ext cx="10134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stack and a queue are “the same thing with different names.” The rule about which end you touch is the entire difference.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90472" cy="310896"/>
          </a:xfrm>
          <a:prstGeom prst="roundRect">
            <a:avLst>
              <a:gd name="adj" fmla="val 23529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13 — STACKS &amp; QUEUES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16304F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84248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examples/, compiling and running each 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697480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410712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23944"/>
            <a:ext cx="4361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and push: git add . &amp;&amp; git commit -m "Complete Module 13" &amp;&amp; git push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27648" y="1783080"/>
            <a:ext cx="5321808" cy="4160520"/>
          </a:xfrm>
          <a:prstGeom prst="roundRect">
            <a:avLst>
              <a:gd name="adj" fmla="val 1319"/>
            </a:avLst>
          </a:prstGeom>
          <a:solidFill>
            <a:srgbClr val="3DDC8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47688" y="2103120"/>
            <a:ext cx="4681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2468880"/>
            <a:ext cx="46817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14 — Multi-File Programs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703320"/>
            <a:ext cx="46817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a growing program across header and source files -- without changing what it does.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2026-09-15T23:21:10Z</dcterms:created>
  <dcterms:modified xsi:type="dcterms:W3CDTF">2026-09-15T23:21:10Z</dcterms:modified>
</cp:coreProperties>
</file>