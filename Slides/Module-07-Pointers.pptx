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exactly as written and have students read the output carefully before explaining anything. The surprise is real: swapBroken's own printf proves a and b really did swap INSIDE the function, yet main's x and y are untouched. Don't resolve the mystery yet — the whole module builds toward slide 8, which fixes this exact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moment for the &amp; they've been typing since Module 3's scanf calls without ever being told what it meant. Land that connection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p and age are two completely separate variables that happen to be linked by an address. Draw both boxes on the board, with an arrow from p to age's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slide is worth slowing down for — the README calls it the single biggest beginner trap in the whole module. Write both lines on the board and have students point at each * and say out loud which meaning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we printed p directly with %d instead of *p, what would we see? Answer: a meaningless-looking address, not 25 — a common beginner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the rest of the module (and Module 8's struct pointers) depends on. Make sure every student can explain in their own words why age changed even though nobody wrote `age = 100`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 compile and run swapWorks live so students see x and y actually swap this time. Make the connection explicit: this is precisely why Module 6's findMax could modify an array but never a plain 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payoff of Module 6's cliffhanger (slide 8 of that deck). Let the realization land: arrays were pointers in disguise the entire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comfortable, live-demo the commented-out crash at the bottom of the example file (dereferencing an uninitialized pointer) so students see a real segfault once, safely, in a throwaway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1 is worth a live demo — the compiler warning for a missing &amp; is usually 'incompatible pointer to integer conversion' or similar, worth reading together at least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8: structs use `.` and `-&gt;` exactly the way pointers use `*` and `&amp;` — this module's mental model transfers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ln w="28575">
            <a:solidFill>
              <a:srgbClr val="16304F"/>
            </a:solidFill>
            <a:prstDash val="solid"/>
          </a:ln>
        </p:spPr>
      </p:sp>
      <p:sp>
        <p:nvSpPr>
          <p:cNvPr id="3" name="Text 1"/>
          <p:cNvSpPr txBox="1"/>
          <p:nvPr/>
        </p:nvSpPr>
        <p:spPr>
          <a:xfrm>
            <a:off x="6949440" y="914400"/>
            <a:ext cx="5120640" cy="5120640"/>
          </a:xfrm>
          <a:prstGeom prst="rect">
            <a:avLst/>
          </a:prstGeom>
          <a:noFill/>
          <a:ln/>
        </p:spPr>
        <p:txBody>
          <a:bodyPr wrap="square" lIns="0" tIns="0" rIns="0" bIns="0" rtlCol="0" anchor="ctr"/>
          <a:lstStyle/>
          <a:p>
            <a:pPr algn="r" indent="0" marL="0">
              <a:buNone/>
            </a:pPr>
            <a:r>
              <a:rPr lang="en-US" sz="32000" b="1" dirty="0">
                <a:solidFill>
                  <a:srgbClr val="16304F"/>
                </a:solidFill>
                <a:latin typeface="Cambria" pitchFamily="34" charset="0"/>
                <a:ea typeface="Cambria" pitchFamily="34" charset="-122"/>
                <a:cs typeface="Cambria" pitchFamily="34" charset="-120"/>
              </a:rPr>
              <a:t>07</a:t>
            </a:r>
            <a:endParaRPr lang="en-US" sz="32000" dirty="0"/>
          </a:p>
        </p:txBody>
      </p:sp>
      <p:sp>
        <p:nvSpPr>
          <p:cNvPr id="4" name="Shape 2"/>
          <p:cNvSpPr/>
          <p:nvPr/>
        </p:nvSpPr>
        <p:spPr>
          <a:xfrm>
            <a:off x="548640" y="1417320"/>
            <a:ext cx="512064" cy="512064"/>
          </a:xfrm>
          <a:prstGeom prst="ellipse">
            <a:avLst/>
          </a:prstGeom>
          <a:solidFill>
            <a:srgbClr val="16304F"/>
          </a:solidFill>
          <a:ln/>
        </p:spPr>
      </p:sp>
      <p:sp>
        <p:nvSpPr>
          <p:cNvPr id="5" name="Text 3"/>
          <p:cNvSpPr txBox="1"/>
          <p:nvPr/>
        </p:nvSpPr>
        <p:spPr>
          <a:xfrm>
            <a:off x="548640" y="1417320"/>
            <a:ext cx="512064" cy="512064"/>
          </a:xfrm>
          <a:prstGeom prst="rect">
            <a:avLst/>
          </a:prstGeom>
          <a:noFill/>
          <a:ln/>
        </p:spPr>
        <p:txBody>
          <a:bodyPr wrap="square" lIns="0" tIns="0" rIns="0" bIns="0" rtlCol="0" anchor="ctr"/>
          <a:lstStyle/>
          <a:p>
            <a:pPr algn="ctr" indent="0" marL="0">
              <a:buNone/>
            </a:pPr>
            <a:r>
              <a:rPr lang="en-US" sz="1800" b="1" dirty="0">
                <a:solidFill>
                  <a:srgbClr val="3DDC84"/>
                </a:solidFill>
                <a:latin typeface="Calibri" pitchFamily="34" charset="0"/>
                <a:ea typeface="Calibri" pitchFamily="34" charset="-122"/>
                <a:cs typeface="Calibri" pitchFamily="34" charset="-120"/>
              </a:rPr>
              <a:t>❯_</a:t>
            </a:r>
            <a:endParaRPr lang="en-US" sz="1800" dirty="0"/>
          </a:p>
        </p:txBody>
      </p:sp>
      <p:sp>
        <p:nvSpPr>
          <p:cNvPr id="6" name="Text 4"/>
          <p:cNvSpPr txBox="1"/>
          <p:nvPr/>
        </p:nvSpPr>
        <p:spPr>
          <a:xfrm>
            <a:off x="1207008" y="1417320"/>
            <a:ext cx="5486400" cy="512064"/>
          </a:xfrm>
          <a:prstGeom prst="rect">
            <a:avLst/>
          </a:prstGeom>
          <a:noFill/>
          <a:ln/>
        </p:spPr>
        <p:txBody>
          <a:bodyPr wrap="square" lIns="0" tIns="0" rIns="0" bIns="0" rtlCol="0" anchor="ctr"/>
          <a:lstStyle/>
          <a:p>
            <a:pPr indent="0" marL="0">
              <a:buNone/>
            </a:pPr>
            <a:r>
              <a:rPr lang="en-US" sz="1200" b="1" spc="100" kern="0" dirty="0">
                <a:solidFill>
                  <a:srgbClr val="8CA3C2"/>
                </a:solidFill>
                <a:latin typeface="Calibri" pitchFamily="34" charset="0"/>
                <a:ea typeface="Calibri" pitchFamily="34" charset="-122"/>
                <a:cs typeface="Calibri" pitchFamily="34" charset="-120"/>
              </a:rPr>
              <a:t>INTRODUCTION TO C PROGRAMMING</a:t>
            </a:r>
            <a:endParaRPr lang="en-US" sz="1200" dirty="0"/>
          </a:p>
        </p:txBody>
      </p:sp>
      <p:sp>
        <p:nvSpPr>
          <p:cNvPr id="7" name="Shape 5"/>
          <p:cNvSpPr/>
          <p:nvPr/>
        </p:nvSpPr>
        <p:spPr>
          <a:xfrm>
            <a:off x="548640" y="2331720"/>
            <a:ext cx="833201" cy="310896"/>
          </a:xfrm>
          <a:prstGeom prst="roundRect">
            <a:avLst>
              <a:gd name="adj" fmla="val 50000"/>
            </a:avLst>
          </a:prstGeom>
          <a:solidFill>
            <a:srgbClr val="16304F"/>
          </a:solidFill>
          <a:ln/>
        </p:spPr>
      </p:sp>
      <p:sp>
        <p:nvSpPr>
          <p:cNvPr id="8" name="Text 6"/>
          <p:cNvSpPr txBox="1"/>
          <p:nvPr/>
        </p:nvSpPr>
        <p:spPr>
          <a:xfrm>
            <a:off x="548640" y="2331720"/>
            <a:ext cx="833201"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MODULE 7</a:t>
            </a:r>
            <a:endParaRPr lang="en-US" sz="1100" dirty="0"/>
          </a:p>
        </p:txBody>
      </p:sp>
      <p:sp>
        <p:nvSpPr>
          <p:cNvPr id="9" name="Text 7"/>
          <p:cNvSpPr txBox="1"/>
          <p:nvPr/>
        </p:nvSpPr>
        <p:spPr>
          <a:xfrm>
            <a:off x="548640" y="2788920"/>
            <a:ext cx="8778240" cy="1737360"/>
          </a:xfrm>
          <a:prstGeom prst="rect">
            <a:avLst/>
          </a:prstGeom>
          <a:noFill/>
          <a:ln/>
        </p:spPr>
        <p:txBody>
          <a:bodyPr wrap="square" lIns="0" tIns="0" rIns="0" bIns="0" rtlCol="0" anchor="t"/>
          <a:lstStyle/>
          <a:p>
            <a:pPr indent="0" marL="0">
              <a:buNone/>
            </a:pPr>
            <a:r>
              <a:rPr lang="en-US" sz="4400" b="1" dirty="0">
                <a:solidFill>
                  <a:srgbClr val="F5F8FC"/>
                </a:solidFill>
                <a:latin typeface="Cambria" pitchFamily="34" charset="0"/>
                <a:ea typeface="Cambria" pitchFamily="34" charset="-122"/>
                <a:cs typeface="Cambria" pitchFamily="34" charset="-120"/>
              </a:rPr>
              <a:t>Pointers</a:t>
            </a:r>
            <a:endParaRPr lang="en-US" sz="4400" dirty="0"/>
          </a:p>
        </p:txBody>
      </p:sp>
      <p:sp>
        <p:nvSpPr>
          <p:cNvPr id="10" name="Text 8"/>
          <p:cNvSpPr txBox="1"/>
          <p:nvPr/>
        </p:nvSpPr>
        <p:spPr>
          <a:xfrm>
            <a:off x="548640" y="4343400"/>
            <a:ext cx="8412480" cy="731520"/>
          </a:xfrm>
          <a:prstGeom prst="rect">
            <a:avLst/>
          </a:prstGeom>
          <a:noFill/>
          <a:ln/>
        </p:spPr>
        <p:txBody>
          <a:bodyPr wrap="square" lIns="0" tIns="0" rIns="0" bIns="0" rtlCol="0" anchor="t"/>
          <a:lstStyle/>
          <a:p>
            <a:pPr indent="0" marL="0">
              <a:buNone/>
            </a:pPr>
            <a:r>
              <a:rPr lang="en-US" sz="1800" dirty="0">
                <a:solidFill>
                  <a:srgbClr val="8CA3C2"/>
                </a:solidFill>
                <a:latin typeface="Calibri" pitchFamily="34" charset="0"/>
                <a:ea typeface="Calibri" pitchFamily="34" charset="-122"/>
                <a:cs typeface="Calibri" pitchFamily="34" charset="-120"/>
              </a:rPr>
              <a:t>The mechanism behind everything Module 6 left unexplained.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1465235" cy="310896"/>
          </a:xfrm>
          <a:prstGeom prst="roundRect">
            <a:avLst>
              <a:gd name="adj" fmla="val 50000"/>
            </a:avLst>
          </a:prstGeom>
          <a:solidFill>
            <a:srgbClr val="0B1F3A"/>
          </a:solidFill>
          <a:ln/>
        </p:spPr>
      </p:sp>
      <p:sp>
        <p:nvSpPr>
          <p:cNvPr id="3" name="Text 1"/>
          <p:cNvSpPr txBox="1"/>
          <p:nvPr/>
        </p:nvSpPr>
        <p:spPr>
          <a:xfrm>
            <a:off x="548640" y="502920"/>
            <a:ext cx="1465235"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HOOK — LIVE DEMO</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700" b="1" dirty="0">
                <a:solidFill>
                  <a:srgbClr val="132038"/>
                </a:solidFill>
                <a:latin typeface="Cambria" pitchFamily="34" charset="0"/>
                <a:ea typeface="Cambria" pitchFamily="34" charset="-122"/>
                <a:cs typeface="Cambria" pitchFamily="34" charset="-120"/>
              </a:rPr>
              <a:t>The magic swap that isn't</a:t>
            </a:r>
            <a:endParaRPr lang="en-US" sz="2700" dirty="0"/>
          </a:p>
        </p:txBody>
      </p:sp>
      <p:sp>
        <p:nvSpPr>
          <p:cNvPr id="5" name="Shape 3"/>
          <p:cNvSpPr/>
          <p:nvPr/>
        </p:nvSpPr>
        <p:spPr>
          <a:xfrm>
            <a:off x="548640" y="1600200"/>
            <a:ext cx="6903720" cy="3794760"/>
          </a:xfrm>
          <a:prstGeom prst="roundRect">
            <a:avLst>
              <a:gd name="adj" fmla="val 2169"/>
            </a:avLst>
          </a:prstGeom>
          <a:solidFill>
            <a:srgbClr val="102841"/>
          </a:solidFill>
          <a:ln/>
          <a:effectLst>
            <a:outerShdw sx="100000" sy="100000" kx="0" ky="0" algn="bl" rotWithShape="0" blurRad="101600" dist="38100" dir="5400000">
              <a:srgbClr val="0B1F3A">
                <a:alpha val="28000"/>
              </a:srgbClr>
            </a:outerShdw>
          </a:effectLst>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1371600" y="1682496"/>
            <a:ext cx="5897880" cy="274320"/>
          </a:xfrm>
          <a:prstGeom prst="rect">
            <a:avLst/>
          </a:prstGeom>
          <a:noFill/>
          <a:ln/>
        </p:spPr>
        <p:txBody>
          <a:bodyPr wrap="square" lIns="0" tIns="0" rIns="0" bIns="0" rtlCol="0" anchor="ctr"/>
          <a:lstStyle/>
          <a:p>
            <a:pPr indent="0" marL="0">
              <a:buNone/>
            </a:pPr>
            <a:r>
              <a:rPr lang="en-US" sz="1100" dirty="0">
                <a:solidFill>
                  <a:srgbClr val="8CA3C2"/>
                </a:solidFill>
                <a:latin typeface="Courier New" pitchFamily="34" charset="0"/>
                <a:ea typeface="Courier New" pitchFamily="34" charset="-122"/>
                <a:cs typeface="Courier New" pitchFamily="34" charset="-120"/>
              </a:rPr>
              <a:t>swap.c</a:t>
            </a:r>
            <a:endParaRPr lang="en-US" sz="1100" dirty="0"/>
          </a:p>
        </p:txBody>
      </p:sp>
      <p:sp>
        <p:nvSpPr>
          <p:cNvPr id="10" name="Text 8"/>
          <p:cNvSpPr txBox="1"/>
          <p:nvPr/>
        </p:nvSpPr>
        <p:spPr>
          <a:xfrm>
            <a:off x="804672" y="2039112"/>
            <a:ext cx="6446520" cy="3218688"/>
          </a:xfrm>
          <a:prstGeom prst="rect">
            <a:avLst/>
          </a:prstGeom>
          <a:noFill/>
          <a:ln/>
        </p:spPr>
        <p:txBody>
          <a:bodyPr wrap="square" lIns="0" tIns="0" rIns="0" bIns="0" rtlCol="0" anchor="t"/>
          <a:lstStyle/>
          <a:p>
            <a:pPr indent="0" marL="0">
              <a:lnSpc>
                <a:spcPct val="128000"/>
              </a:lnSpc>
              <a:buNone/>
            </a:pPr>
            <a:r>
              <a:rPr lang="en-US" sz="1300" dirty="0">
                <a:solidFill>
                  <a:srgbClr val="E7EDF6"/>
                </a:solidFill>
                <a:latin typeface="Courier New" pitchFamily="34" charset="0"/>
                <a:ea typeface="Courier New" pitchFamily="34" charset="-122"/>
                <a:cs typeface="Courier New" pitchFamily="34" charset="-120"/>
              </a:rPr>
              <a:t>void swapBroken(int a, int b) {</a:t>
            </a:r>
            <a:endParaRPr lang="en-US" sz="1300" dirty="0"/>
          </a:p>
          <a:p>
            <a:pPr indent="0" marL="0">
              <a:lnSpc>
                <a:spcPct val="128000"/>
              </a:lnSpc>
              <a:buNone/>
            </a:pPr>
            <a:r>
              <a:rPr lang="en-US" sz="1300" dirty="0">
                <a:solidFill>
                  <a:srgbClr val="E7EDF6"/>
                </a:solidFill>
                <a:latin typeface="Courier New" pitchFamily="34" charset="0"/>
                <a:ea typeface="Courier New" pitchFamily="34" charset="-122"/>
                <a:cs typeface="Courier New" pitchFamily="34" charset="-120"/>
              </a:rPr>
              <a:t>    int temp = a;</a:t>
            </a:r>
            <a:endParaRPr lang="en-US" sz="1300" dirty="0"/>
          </a:p>
          <a:p>
            <a:pPr indent="0" marL="0">
              <a:lnSpc>
                <a:spcPct val="128000"/>
              </a:lnSpc>
              <a:buNone/>
            </a:pPr>
            <a:r>
              <a:rPr lang="en-US" sz="1300" dirty="0">
                <a:solidFill>
                  <a:srgbClr val="E7EDF6"/>
                </a:solidFill>
                <a:latin typeface="Courier New" pitchFamily="34" charset="0"/>
                <a:ea typeface="Courier New" pitchFamily="34" charset="-122"/>
                <a:cs typeface="Courier New" pitchFamily="34" charset="-120"/>
              </a:rPr>
              <a:t>    a = b;</a:t>
            </a:r>
            <a:endParaRPr lang="en-US" sz="1300" dirty="0"/>
          </a:p>
          <a:p>
            <a:pPr indent="0" marL="0">
              <a:lnSpc>
                <a:spcPct val="128000"/>
              </a:lnSpc>
              <a:buNone/>
            </a:pPr>
            <a:r>
              <a:rPr lang="en-US" sz="1300" dirty="0">
                <a:solidFill>
                  <a:srgbClr val="E7EDF6"/>
                </a:solidFill>
                <a:latin typeface="Courier New" pitchFamily="34" charset="0"/>
                <a:ea typeface="Courier New" pitchFamily="34" charset="-122"/>
                <a:cs typeface="Courier New" pitchFamily="34" charset="-120"/>
              </a:rPr>
              <a:t>    b = temp;</a:t>
            </a:r>
            <a:endParaRPr lang="en-US" sz="1300" dirty="0"/>
          </a:p>
          <a:p>
            <a:pPr indent="0" marL="0">
              <a:lnSpc>
                <a:spcPct val="128000"/>
              </a:lnSpc>
              <a:buNone/>
            </a:pPr>
            <a:r>
              <a:rPr lang="en-US" sz="1300" dirty="0">
                <a:solidFill>
                  <a:srgbClr val="E7EDF6"/>
                </a:solidFill>
                <a:latin typeface="Courier New" pitchFamily="34" charset="0"/>
                <a:ea typeface="Courier New" pitchFamily="34" charset="-122"/>
                <a:cs typeface="Courier New" pitchFamily="34" charset="-120"/>
              </a:rPr>
              <a:t>    printf("  inside: a=%d, b=%d\n", a, b);</a:t>
            </a:r>
            <a:endParaRPr lang="en-US" sz="1300" dirty="0"/>
          </a:p>
          <a:p>
            <a:pPr indent="0" marL="0">
              <a:lnSpc>
                <a:spcPct val="128000"/>
              </a:lnSpc>
              <a:buNone/>
            </a:pPr>
            <a:r>
              <a:rPr lang="en-US" sz="1300" dirty="0">
                <a:solidFill>
                  <a:srgbClr val="E7EDF6"/>
                </a:solidFill>
                <a:latin typeface="Courier New" pitchFamily="34" charset="0"/>
                <a:ea typeface="Courier New" pitchFamily="34" charset="-122"/>
                <a:cs typeface="Courier New" pitchFamily="34" charset="-120"/>
              </a:rPr>
              <a:t>}</a:t>
            </a:r>
            <a:endParaRPr lang="en-US" sz="1300" dirty="0"/>
          </a:p>
          <a:p>
            <a:pPr indent="0" marL="0">
              <a:lnSpc>
                <a:spcPct val="128000"/>
              </a:lnSpc>
              <a:buNone/>
            </a:pPr>
            <a:endParaRPr lang="en-US" sz="1300" dirty="0"/>
          </a:p>
          <a:p>
            <a:pPr indent="0" marL="0">
              <a:lnSpc>
                <a:spcPct val="128000"/>
              </a:lnSpc>
              <a:buNone/>
            </a:pPr>
            <a:r>
              <a:rPr lang="en-US" sz="1300" dirty="0">
                <a:solidFill>
                  <a:srgbClr val="E7EDF6"/>
                </a:solidFill>
                <a:latin typeface="Courier New" pitchFamily="34" charset="0"/>
                <a:ea typeface="Courier New" pitchFamily="34" charset="-122"/>
                <a:cs typeface="Courier New" pitchFamily="34" charset="-120"/>
              </a:rPr>
              <a:t>int x = 3, y = 7;</a:t>
            </a:r>
            <a:endParaRPr lang="en-US" sz="1300" dirty="0"/>
          </a:p>
          <a:p>
            <a:pPr indent="0" marL="0">
              <a:lnSpc>
                <a:spcPct val="128000"/>
              </a:lnSpc>
              <a:buNone/>
            </a:pPr>
            <a:r>
              <a:rPr lang="en-US" sz="1300" dirty="0">
                <a:solidFill>
                  <a:srgbClr val="E7EDF6"/>
                </a:solidFill>
                <a:latin typeface="Courier New" pitchFamily="34" charset="0"/>
                <a:ea typeface="Courier New" pitchFamily="34" charset="-122"/>
                <a:cs typeface="Courier New" pitchFamily="34" charset="-120"/>
              </a:rPr>
              <a:t>printf("Before: x=%d, y=%d\n", x, y);</a:t>
            </a:r>
            <a:endParaRPr lang="en-US" sz="1300" dirty="0"/>
          </a:p>
          <a:p>
            <a:pPr indent="0" marL="0">
              <a:lnSpc>
                <a:spcPct val="128000"/>
              </a:lnSpc>
              <a:buNone/>
            </a:pPr>
            <a:r>
              <a:rPr lang="en-US" sz="1300" dirty="0">
                <a:solidFill>
                  <a:srgbClr val="E7EDF6"/>
                </a:solidFill>
                <a:latin typeface="Courier New" pitchFamily="34" charset="0"/>
                <a:ea typeface="Courier New" pitchFamily="34" charset="-122"/>
                <a:cs typeface="Courier New" pitchFamily="34" charset="-120"/>
              </a:rPr>
              <a:t>swapBroken(x, y);</a:t>
            </a:r>
            <a:endParaRPr lang="en-US" sz="1300" dirty="0"/>
          </a:p>
          <a:p>
            <a:pPr indent="0" marL="0">
              <a:lnSpc>
                <a:spcPct val="128000"/>
              </a:lnSpc>
              <a:buNone/>
            </a:pPr>
            <a:r>
              <a:rPr lang="en-US" sz="1300" dirty="0">
                <a:solidFill>
                  <a:srgbClr val="E7EDF6"/>
                </a:solidFill>
                <a:latin typeface="Courier New" pitchFamily="34" charset="0"/>
                <a:ea typeface="Courier New" pitchFamily="34" charset="-122"/>
                <a:cs typeface="Courier New" pitchFamily="34" charset="-120"/>
              </a:rPr>
              <a:t>printf("After:  x=%d, y=%d\n", x, y);</a:t>
            </a:r>
            <a:endParaRPr lang="en-US" sz="1300" dirty="0"/>
          </a:p>
        </p:txBody>
      </p:sp>
      <p:sp>
        <p:nvSpPr>
          <p:cNvPr id="11" name="Shape 9"/>
          <p:cNvSpPr/>
          <p:nvPr/>
        </p:nvSpPr>
        <p:spPr>
          <a:xfrm>
            <a:off x="548640" y="5559552"/>
            <a:ext cx="6903720" cy="566928"/>
          </a:xfrm>
          <a:prstGeom prst="roundRect">
            <a:avLst>
              <a:gd name="adj" fmla="val 12903"/>
            </a:avLst>
          </a:prstGeom>
          <a:solidFill>
            <a:srgbClr val="0B1F3A"/>
          </a:solidFill>
          <a:ln/>
        </p:spPr>
      </p:sp>
      <p:sp>
        <p:nvSpPr>
          <p:cNvPr id="12" name="Text 10"/>
          <p:cNvSpPr txBox="1"/>
          <p:nvPr/>
        </p:nvSpPr>
        <p:spPr>
          <a:xfrm>
            <a:off x="749808" y="5559552"/>
            <a:ext cx="6537960" cy="566928"/>
          </a:xfrm>
          <a:prstGeom prst="rect">
            <a:avLst/>
          </a:prstGeom>
          <a:noFill/>
          <a:ln/>
        </p:spPr>
        <p:txBody>
          <a:bodyPr wrap="square" lIns="0" tIns="0" rIns="0" bIns="0" rtlCol="0" anchor="ctr"/>
          <a:lstStyle/>
          <a:p>
            <a:pPr indent="0" marL="0">
              <a:buNone/>
            </a:pPr>
            <a:r>
              <a:rPr lang="en-US" sz="1300" b="1" dirty="0">
                <a:solidFill>
                  <a:srgbClr val="3DDC84"/>
                </a:solidFill>
                <a:latin typeface="Courier New" pitchFamily="34" charset="0"/>
                <a:ea typeface="Courier New" pitchFamily="34" charset="-122"/>
                <a:cs typeface="Courier New" pitchFamily="34" charset="-120"/>
              </a:rPr>
              <a:t>$ </a:t>
            </a:r>
            <a:pPr indent="0" marL="0">
              <a:buNone/>
            </a:pPr>
            <a:r>
              <a:rPr lang="en-US" sz="1300" dirty="0">
                <a:solidFill>
                  <a:srgbClr val="F5F8FC"/>
                </a:solidFill>
                <a:latin typeface="Courier New" pitchFamily="34" charset="0"/>
                <a:ea typeface="Courier New" pitchFamily="34" charset="-122"/>
                <a:cs typeface="Courier New" pitchFamily="34" charset="-120"/>
              </a:rPr>
              <a:t>gcc swap.c -o swap &amp;&amp; ./swap</a:t>
            </a:r>
            <a:endParaRPr lang="en-US" sz="1300" dirty="0"/>
          </a:p>
        </p:txBody>
      </p:sp>
      <p:sp>
        <p:nvSpPr>
          <p:cNvPr id="13" name="Text 11"/>
          <p:cNvSpPr txBox="1"/>
          <p:nvPr/>
        </p:nvSpPr>
        <p:spPr>
          <a:xfrm>
            <a:off x="7863840" y="1691640"/>
            <a:ext cx="3779215" cy="3291840"/>
          </a:xfrm>
          <a:prstGeom prst="rect">
            <a:avLst/>
          </a:prstGeom>
          <a:noFill/>
          <a:ln/>
        </p:spPr>
        <p:txBody>
          <a:bodyPr wrap="square" lIns="0" tIns="0" rIns="0" bIns="0" rtlCol="0" anchor="t"/>
          <a:lstStyle/>
          <a:p>
            <a:pPr indent="0" marL="0">
              <a:spcAft>
                <a:spcPts val="1200"/>
              </a:spcAft>
              <a:buNone/>
            </a:pPr>
            <a:r>
              <a:rPr lang="en-US" sz="1550" dirty="0">
                <a:solidFill>
                  <a:srgbClr val="30425E"/>
                </a:solidFill>
                <a:latin typeface="Calibri" pitchFamily="34" charset="0"/>
                <a:ea typeface="Calibri" pitchFamily="34" charset="-122"/>
                <a:cs typeface="Calibri" pitchFamily="34" charset="-120"/>
              </a:rPr>
              <a:t>Inside swapBroken, a and b swap just fine.</a:t>
            </a:r>
            <a:endParaRPr lang="en-US" sz="1550" dirty="0"/>
          </a:p>
          <a:p>
            <a:pPr indent="0" marL="0">
              <a:spcAft>
                <a:spcPts val="1200"/>
              </a:spcAft>
              <a:buNone/>
            </a:pPr>
            <a:r>
              <a:rPr lang="en-US" sz="1550" dirty="0">
                <a:solidFill>
                  <a:srgbClr val="30425E"/>
                </a:solidFill>
                <a:latin typeface="Calibri" pitchFamily="34" charset="0"/>
                <a:ea typeface="Calibri" pitchFamily="34" charset="-122"/>
                <a:cs typeface="Calibri" pitchFamily="34" charset="-120"/>
              </a:rPr>
              <a:t>Back in main, x and y are completely unchanged.</a:t>
            </a:r>
            <a:endParaRPr lang="en-US" sz="1550" dirty="0"/>
          </a:p>
          <a:p>
            <a:pPr indent="0" marL="0">
              <a:spcAft>
                <a:spcPts val="1200"/>
              </a:spcAft>
              <a:buNone/>
            </a:pPr>
            <a:r>
              <a:rPr lang="en-US" sz="1550" dirty="0">
                <a:solidFill>
                  <a:srgbClr val="30425E"/>
                </a:solidFill>
                <a:latin typeface="Calibri" pitchFamily="34" charset="0"/>
                <a:ea typeface="Calibri" pitchFamily="34" charset="-122"/>
                <a:cs typeface="Calibri" pitchFamily="34" charset="-120"/>
              </a:rPr>
              <a:t>The function did exactly what you told it to. So why didn't it work?</a:t>
            </a:r>
            <a:endParaRPr lang="en-US" sz="1550" dirty="0"/>
          </a:p>
        </p:txBody>
      </p:sp>
      <p:sp>
        <p:nvSpPr>
          <p:cNvPr id="14" name="Shape 12"/>
          <p:cNvSpPr/>
          <p:nvPr/>
        </p:nvSpPr>
        <p:spPr>
          <a:xfrm>
            <a:off x="7863840" y="5074920"/>
            <a:ext cx="3779215" cy="1234440"/>
          </a:xfrm>
          <a:prstGeom prst="roundRect">
            <a:avLst>
              <a:gd name="adj" fmla="val 5926"/>
            </a:avLst>
          </a:prstGeom>
          <a:solidFill>
            <a:srgbClr val="E4F9ED"/>
          </a:solidFill>
          <a:ln/>
          <a:effectLst>
            <a:outerShdw sx="100000" sy="100000" kx="0" ky="0" algn="bl" rotWithShape="0" blurRad="101600" dist="38100" dir="5400000">
              <a:srgbClr val="0B1F3A">
                <a:alpha val="28000"/>
              </a:srgbClr>
            </a:outerShdw>
          </a:effectLst>
        </p:spPr>
      </p:sp>
      <p:sp>
        <p:nvSpPr>
          <p:cNvPr id="15" name="Text 13"/>
          <p:cNvSpPr txBox="1"/>
          <p:nvPr/>
        </p:nvSpPr>
        <p:spPr>
          <a:xfrm>
            <a:off x="8046720" y="5074920"/>
            <a:ext cx="3413455" cy="1234440"/>
          </a:xfrm>
          <a:prstGeom prst="rect">
            <a:avLst/>
          </a:prstGeom>
          <a:noFill/>
          <a:ln/>
        </p:spPr>
        <p:txBody>
          <a:bodyPr wrap="square" lIns="0" tIns="0" rIns="0" bIns="0" rtlCol="0" anchor="ctr"/>
          <a:lstStyle/>
          <a:p>
            <a:pPr indent="0" marL="0">
              <a:buNone/>
            </a:pPr>
            <a:r>
              <a:rPr lang="en-US" sz="1200" dirty="0">
                <a:solidFill>
                  <a:srgbClr val="156B3F"/>
                </a:solidFill>
                <a:latin typeface="Calibri" pitchFamily="34" charset="0"/>
                <a:ea typeface="Calibri" pitchFamily="34" charset="-122"/>
                <a:cs typeface="Calibri" pitchFamily="34" charset="-120"/>
              </a:rPr>
              <a:t>This is also the exact question Module 6 left open: why could a function change an array, but never a plain int? Same answer.</a:t>
            </a:r>
            <a:endParaRPr lang="en-US" sz="1200" dirty="0"/>
          </a:p>
        </p:txBody>
      </p:sp>
      <p:sp>
        <p:nvSpPr>
          <p:cNvPr id="16" name="Text 14"/>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7 — POINTERS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754197" cy="310896"/>
          </a:xfrm>
          <a:prstGeom prst="roundRect">
            <a:avLst>
              <a:gd name="adj" fmla="val 50000"/>
            </a:avLst>
          </a:prstGeom>
          <a:solidFill>
            <a:srgbClr val="0B1F3A"/>
          </a:solidFill>
          <a:ln/>
        </p:spPr>
      </p:sp>
      <p:sp>
        <p:nvSpPr>
          <p:cNvPr id="3" name="Text 1"/>
          <p:cNvSpPr txBox="1"/>
          <p:nvPr/>
        </p:nvSpPr>
        <p:spPr>
          <a:xfrm>
            <a:off x="548640" y="502920"/>
            <a:ext cx="754197"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800" b="1" dirty="0">
                <a:solidFill>
                  <a:srgbClr val="132038"/>
                </a:solidFill>
                <a:latin typeface="Cambria" pitchFamily="34" charset="0"/>
                <a:ea typeface="Cambria" pitchFamily="34" charset="-122"/>
                <a:cs typeface="Cambria" pitchFamily="34" charset="-120"/>
              </a:rPr>
              <a:t>What is a memory address, really?</a:t>
            </a:r>
            <a:endParaRPr lang="en-US" sz="2800" dirty="0"/>
          </a:p>
        </p:txBody>
      </p:sp>
      <p:sp>
        <p:nvSpPr>
          <p:cNvPr id="5" name="Shape 3"/>
          <p:cNvSpPr/>
          <p:nvPr/>
        </p:nvSpPr>
        <p:spPr>
          <a:xfrm>
            <a:off x="548640" y="2529840"/>
            <a:ext cx="457200" cy="457200"/>
          </a:xfrm>
          <a:prstGeom prst="ellipse">
            <a:avLst/>
          </a:prstGeom>
          <a:solidFill>
            <a:srgbClr val="0B1F3A"/>
          </a:solidFill>
          <a:ln/>
        </p:spPr>
      </p:sp>
      <p:sp>
        <p:nvSpPr>
          <p:cNvPr id="6" name="Text 4"/>
          <p:cNvSpPr txBox="1"/>
          <p:nvPr/>
        </p:nvSpPr>
        <p:spPr>
          <a:xfrm>
            <a:off x="548640" y="2529840"/>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1234440" y="2148840"/>
            <a:ext cx="10408615" cy="1082040"/>
          </a:xfrm>
          <a:prstGeom prst="rect">
            <a:avLst/>
          </a:prstGeom>
          <a:noFill/>
          <a:ln/>
        </p:spPr>
        <p:txBody>
          <a:bodyPr wrap="square" lIns="0" tIns="0" rIns="0" bIns="0" rtlCol="0" anchor="ctr"/>
          <a:lstStyle/>
          <a:p>
            <a:pPr indent="0" marL="0">
              <a:buNone/>
            </a:pPr>
            <a:r>
              <a:rPr lang="en-US" sz="1550" b="1" dirty="0">
                <a:solidFill>
                  <a:srgbClr val="132038"/>
                </a:solidFill>
                <a:latin typeface="Calibri" pitchFamily="34" charset="0"/>
                <a:ea typeface="Calibri" pitchFamily="34" charset="-122"/>
                <a:cs typeface="Calibri" pitchFamily="34" charset="-120"/>
              </a:rPr>
              <a:t>RAM is a row of mailboxes  —   </a:t>
            </a:r>
            <a:pPr indent="0" marL="0">
              <a:buNone/>
            </a:pPr>
            <a:r>
              <a:rPr lang="en-US" sz="1550" dirty="0">
                <a:solidFill>
                  <a:srgbClr val="30425E"/>
                </a:solidFill>
                <a:latin typeface="Calibri" pitchFamily="34" charset="0"/>
                <a:ea typeface="Calibri" pitchFamily="34" charset="-122"/>
                <a:cs typeface="Calibri" pitchFamily="34" charset="-120"/>
              </a:rPr>
              <a:t>int age = 25; picks a free mailbox, labels it age, and stores 25 inside it. The mailbox's number is its address.</a:t>
            </a:r>
            <a:endParaRPr lang="en-US" sz="1550" dirty="0"/>
          </a:p>
        </p:txBody>
      </p:sp>
      <p:sp>
        <p:nvSpPr>
          <p:cNvPr id="8" name="Shape 6"/>
          <p:cNvSpPr/>
          <p:nvPr/>
        </p:nvSpPr>
        <p:spPr>
          <a:xfrm>
            <a:off x="1234440" y="3313176"/>
            <a:ext cx="10408615" cy="0"/>
          </a:xfrm>
          <a:prstGeom prst="line">
            <a:avLst/>
          </a:prstGeom>
          <a:noFill/>
          <a:ln w="12700">
            <a:solidFill>
              <a:srgbClr val="DCE2EC"/>
            </a:solidFill>
            <a:prstDash val="solid"/>
          </a:ln>
        </p:spPr>
      </p:sp>
      <p:sp>
        <p:nvSpPr>
          <p:cNvPr id="9" name="Shape 7"/>
          <p:cNvSpPr/>
          <p:nvPr/>
        </p:nvSpPr>
        <p:spPr>
          <a:xfrm>
            <a:off x="548640" y="3749040"/>
            <a:ext cx="457200" cy="457200"/>
          </a:xfrm>
          <a:prstGeom prst="ellipse">
            <a:avLst/>
          </a:prstGeom>
          <a:solidFill>
            <a:srgbClr val="0B1F3A"/>
          </a:solidFill>
          <a:ln/>
        </p:spPr>
      </p:sp>
      <p:sp>
        <p:nvSpPr>
          <p:cNvPr id="10" name="Text 8"/>
          <p:cNvSpPr txBox="1"/>
          <p:nvPr/>
        </p:nvSpPr>
        <p:spPr>
          <a:xfrm>
            <a:off x="548640" y="3749040"/>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2</a:t>
            </a:r>
            <a:endParaRPr lang="en-US" sz="1700" dirty="0"/>
          </a:p>
        </p:txBody>
      </p:sp>
      <p:sp>
        <p:nvSpPr>
          <p:cNvPr id="11" name="Text 9"/>
          <p:cNvSpPr txBox="1"/>
          <p:nvPr/>
        </p:nvSpPr>
        <p:spPr>
          <a:xfrm>
            <a:off x="1234440" y="3368040"/>
            <a:ext cx="10408615" cy="1082040"/>
          </a:xfrm>
          <a:prstGeom prst="rect">
            <a:avLst/>
          </a:prstGeom>
          <a:noFill/>
          <a:ln/>
        </p:spPr>
        <p:txBody>
          <a:bodyPr wrap="square" lIns="0" tIns="0" rIns="0" bIns="0" rtlCol="0" anchor="ctr"/>
          <a:lstStyle/>
          <a:p>
            <a:pPr indent="0" marL="0">
              <a:buNone/>
            </a:pPr>
            <a:r>
              <a:rPr lang="en-US" sz="1550" b="1" dirty="0">
                <a:solidFill>
                  <a:srgbClr val="132038"/>
                </a:solidFill>
                <a:latin typeface="Calibri" pitchFamily="34" charset="0"/>
                <a:ea typeface="Calibri" pitchFamily="34" charset="-122"/>
                <a:cs typeface="Calibri" pitchFamily="34" charset="-120"/>
              </a:rPr>
              <a:t>You've used addresses already  —   </a:t>
            </a:r>
            <a:pPr indent="0" marL="0">
              <a:buNone/>
            </a:pPr>
            <a:r>
              <a:rPr lang="en-US" sz="1550" dirty="0">
                <a:solidFill>
                  <a:srgbClr val="30425E"/>
                </a:solidFill>
                <a:latin typeface="Calibri" pitchFamily="34" charset="0"/>
                <a:ea typeface="Calibri" pitchFamily="34" charset="-122"/>
                <a:cs typeface="Calibri" pitchFamily="34" charset="-120"/>
              </a:rPr>
              <a:t>scanf("%d", &amp;age); — that &amp; means “give scanf the address of age,” not its value.</a:t>
            </a:r>
            <a:endParaRPr lang="en-US" sz="1550" dirty="0"/>
          </a:p>
        </p:txBody>
      </p:sp>
      <p:sp>
        <p:nvSpPr>
          <p:cNvPr id="12" name="Shape 10"/>
          <p:cNvSpPr/>
          <p:nvPr/>
        </p:nvSpPr>
        <p:spPr>
          <a:xfrm>
            <a:off x="1234440" y="4532376"/>
            <a:ext cx="10408615" cy="0"/>
          </a:xfrm>
          <a:prstGeom prst="line">
            <a:avLst/>
          </a:prstGeom>
          <a:noFill/>
          <a:ln w="12700">
            <a:solidFill>
              <a:srgbClr val="DCE2EC"/>
            </a:solidFill>
            <a:prstDash val="solid"/>
          </a:ln>
        </p:spPr>
      </p:sp>
      <p:sp>
        <p:nvSpPr>
          <p:cNvPr id="13" name="Shape 11"/>
          <p:cNvSpPr/>
          <p:nvPr/>
        </p:nvSpPr>
        <p:spPr>
          <a:xfrm>
            <a:off x="548640" y="4968240"/>
            <a:ext cx="457200" cy="457200"/>
          </a:xfrm>
          <a:prstGeom prst="ellipse">
            <a:avLst/>
          </a:prstGeom>
          <a:solidFill>
            <a:srgbClr val="0B1F3A"/>
          </a:solidFill>
          <a:ln/>
        </p:spPr>
      </p:sp>
      <p:sp>
        <p:nvSpPr>
          <p:cNvPr id="14" name="Text 12"/>
          <p:cNvSpPr txBox="1"/>
          <p:nvPr/>
        </p:nvSpPr>
        <p:spPr>
          <a:xfrm>
            <a:off x="548640" y="4968240"/>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3</a:t>
            </a:r>
            <a:endParaRPr lang="en-US" sz="1700" dirty="0"/>
          </a:p>
        </p:txBody>
      </p:sp>
      <p:sp>
        <p:nvSpPr>
          <p:cNvPr id="15" name="Text 13"/>
          <p:cNvSpPr txBox="1"/>
          <p:nvPr/>
        </p:nvSpPr>
        <p:spPr>
          <a:xfrm>
            <a:off x="1234440" y="4587240"/>
            <a:ext cx="10408615" cy="1082040"/>
          </a:xfrm>
          <a:prstGeom prst="rect">
            <a:avLst/>
          </a:prstGeom>
          <a:noFill/>
          <a:ln/>
        </p:spPr>
        <p:txBody>
          <a:bodyPr wrap="square" lIns="0" tIns="0" rIns="0" bIns="0" rtlCol="0" anchor="ctr"/>
          <a:lstStyle/>
          <a:p>
            <a:pPr indent="0" marL="0">
              <a:buNone/>
            </a:pPr>
            <a:r>
              <a:rPr lang="en-US" sz="1550" b="1" dirty="0">
                <a:solidFill>
                  <a:srgbClr val="132038"/>
                </a:solidFill>
                <a:latin typeface="Calibri" pitchFamily="34" charset="0"/>
                <a:ea typeface="Calibri" pitchFamily="34" charset="-122"/>
                <a:cs typeface="Calibri" pitchFamily="34" charset="-120"/>
              </a:rPr>
              <a:t>Print any address with %p  —   </a:t>
            </a:r>
            <a:pPr indent="0" marL="0">
              <a:buNone/>
            </a:pPr>
            <a:r>
              <a:rPr lang="en-US" sz="1550" dirty="0">
                <a:solidFill>
                  <a:srgbClr val="30425E"/>
                </a:solidFill>
                <a:latin typeface="Calibri" pitchFamily="34" charset="0"/>
                <a:ea typeface="Calibri" pitchFamily="34" charset="-122"/>
                <a:cs typeface="Calibri" pitchFamily="34" charset="-120"/>
              </a:rPr>
              <a:t>printf("%p\n", (void *)&amp;age); prints a hex string you'll never need to predict — only know it exists.</a:t>
            </a:r>
            <a:endParaRPr lang="en-US" sz="1550" dirty="0"/>
          </a:p>
        </p:txBody>
      </p:sp>
      <p:sp>
        <p:nvSpPr>
          <p:cNvPr id="16" name="Shape 14"/>
          <p:cNvSpPr/>
          <p:nvPr/>
        </p:nvSpPr>
        <p:spPr>
          <a:xfrm>
            <a:off x="548640" y="5989320"/>
            <a:ext cx="11094415" cy="502920"/>
          </a:xfrm>
          <a:prstGeom prst="roundRect">
            <a:avLst>
              <a:gd name="adj" fmla="val 14545"/>
            </a:avLst>
          </a:prstGeom>
          <a:solidFill>
            <a:srgbClr val="E4F9ED"/>
          </a:solidFill>
          <a:ln/>
          <a:effectLst>
            <a:outerShdw sx="100000" sy="100000" kx="0" ky="0" algn="bl" rotWithShape="0" blurRad="101600" dist="38100" dir="5400000">
              <a:srgbClr val="0B1F3A">
                <a:alpha val="28000"/>
              </a:srgbClr>
            </a:outerShdw>
          </a:effectLst>
        </p:spPr>
      </p:sp>
      <p:sp>
        <p:nvSpPr>
          <p:cNvPr id="17" name="Text 15"/>
          <p:cNvSpPr txBox="1"/>
          <p:nvPr/>
        </p:nvSpPr>
        <p:spPr>
          <a:xfrm>
            <a:off x="731520" y="5989320"/>
            <a:ext cx="10728655" cy="502920"/>
          </a:xfrm>
          <a:prstGeom prst="rect">
            <a:avLst/>
          </a:prstGeom>
          <a:noFill/>
          <a:ln/>
        </p:spPr>
        <p:txBody>
          <a:bodyPr wrap="square" lIns="0" tIns="0" rIns="0" bIns="0" rtlCol="0" anchor="ctr"/>
          <a:lstStyle/>
          <a:p>
            <a:pPr indent="0" marL="0">
              <a:buNone/>
            </a:pPr>
            <a:r>
              <a:rPr lang="en-US" sz="1200" i="1" dirty="0">
                <a:solidFill>
                  <a:srgbClr val="156B3F"/>
                </a:solidFill>
                <a:latin typeface="Calibri" pitchFamily="34" charset="0"/>
                <a:ea typeface="Calibri" pitchFamily="34" charset="-122"/>
                <a:cs typeface="Calibri" pitchFamily="34" charset="-120"/>
              </a:rPr>
              <a:t>A pointer is simply a variable built to store one of these addresses.</a:t>
            </a:r>
            <a:endParaRPr lang="en-US" sz="1200" dirty="0"/>
          </a:p>
        </p:txBody>
      </p:sp>
      <p:sp>
        <p:nvSpPr>
          <p:cNvPr id="18" name="Text 16"/>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7 — POINTERS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754197" cy="310896"/>
          </a:xfrm>
          <a:prstGeom prst="roundRect">
            <a:avLst>
              <a:gd name="adj" fmla="val 50000"/>
            </a:avLst>
          </a:prstGeom>
          <a:solidFill>
            <a:srgbClr val="0B1F3A"/>
          </a:solidFill>
          <a:ln/>
        </p:spPr>
      </p:sp>
      <p:sp>
        <p:nvSpPr>
          <p:cNvPr id="3" name="Text 1"/>
          <p:cNvSpPr txBox="1"/>
          <p:nvPr/>
        </p:nvSpPr>
        <p:spPr>
          <a:xfrm>
            <a:off x="548640" y="502920"/>
            <a:ext cx="754197"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700" b="1" dirty="0">
                <a:solidFill>
                  <a:srgbClr val="132038"/>
                </a:solidFill>
                <a:latin typeface="Cambria" pitchFamily="34" charset="0"/>
                <a:ea typeface="Cambria" pitchFamily="34" charset="-122"/>
                <a:cs typeface="Cambria" pitchFamily="34" charset="-120"/>
              </a:rPr>
              <a:t>Declaring a pointer</a:t>
            </a:r>
            <a:endParaRPr lang="en-US" sz="2700" dirty="0"/>
          </a:p>
        </p:txBody>
      </p:sp>
      <p:sp>
        <p:nvSpPr>
          <p:cNvPr id="5" name="Shape 3"/>
          <p:cNvSpPr/>
          <p:nvPr/>
        </p:nvSpPr>
        <p:spPr>
          <a:xfrm>
            <a:off x="548640" y="1600200"/>
            <a:ext cx="6949440" cy="3749040"/>
          </a:xfrm>
          <a:prstGeom prst="roundRect">
            <a:avLst>
              <a:gd name="adj" fmla="val 2195"/>
            </a:avLst>
          </a:prstGeom>
          <a:solidFill>
            <a:srgbClr val="102841"/>
          </a:solidFill>
          <a:ln/>
          <a:effectLst>
            <a:outerShdw sx="100000" sy="100000" kx="0" ky="0" algn="bl" rotWithShape="0" blurRad="101600" dist="38100" dir="5400000">
              <a:srgbClr val="0B1F3A">
                <a:alpha val="28000"/>
              </a:srgbClr>
            </a:outerShdw>
          </a:effectLst>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1371600" y="1682496"/>
            <a:ext cx="5943600" cy="274320"/>
          </a:xfrm>
          <a:prstGeom prst="rect">
            <a:avLst/>
          </a:prstGeom>
          <a:noFill/>
          <a:ln/>
        </p:spPr>
        <p:txBody>
          <a:bodyPr wrap="square" lIns="0" tIns="0" rIns="0" bIns="0" rtlCol="0" anchor="ctr"/>
          <a:lstStyle/>
          <a:p>
            <a:pPr indent="0" marL="0">
              <a:buNone/>
            </a:pPr>
            <a:r>
              <a:rPr lang="en-US" sz="1100" dirty="0">
                <a:solidFill>
                  <a:srgbClr val="8CA3C2"/>
                </a:solidFill>
                <a:latin typeface="Courier New" pitchFamily="34" charset="0"/>
                <a:ea typeface="Courier New" pitchFamily="34" charset="-122"/>
                <a:cs typeface="Courier New" pitchFamily="34" charset="-120"/>
              </a:rPr>
              <a:t>02_declaring_and_dereferencing_pointers.c</a:t>
            </a:r>
            <a:endParaRPr lang="en-US" sz="1100" dirty="0"/>
          </a:p>
        </p:txBody>
      </p:sp>
      <p:sp>
        <p:nvSpPr>
          <p:cNvPr id="10" name="Text 8"/>
          <p:cNvSpPr txBox="1"/>
          <p:nvPr/>
        </p:nvSpPr>
        <p:spPr>
          <a:xfrm>
            <a:off x="804672" y="2039112"/>
            <a:ext cx="6492240" cy="3172968"/>
          </a:xfrm>
          <a:prstGeom prst="rect">
            <a:avLst/>
          </a:prstGeom>
          <a:noFill/>
          <a:ln/>
        </p:spPr>
        <p:txBody>
          <a:bodyPr wrap="square" lIns="0" tIns="0" rIns="0" bIns="0" rtlCol="0" anchor="t"/>
          <a:lstStyle/>
          <a:p>
            <a:pPr indent="0" marL="0">
              <a:lnSpc>
                <a:spcPct val="128000"/>
              </a:lnSpc>
              <a:buNone/>
            </a:pPr>
            <a:r>
              <a:rPr lang="en-US" sz="1800" dirty="0">
                <a:solidFill>
                  <a:srgbClr val="E7EDF6"/>
                </a:solidFill>
                <a:latin typeface="Courier New" pitchFamily="34" charset="0"/>
                <a:ea typeface="Courier New" pitchFamily="34" charset="-122"/>
                <a:cs typeface="Courier New" pitchFamily="34" charset="-120"/>
              </a:rPr>
              <a:t>int age = 25;</a:t>
            </a:r>
            <a:endParaRPr lang="en-US" sz="1800" dirty="0"/>
          </a:p>
          <a:p>
            <a:pPr indent="0" marL="0">
              <a:lnSpc>
                <a:spcPct val="128000"/>
              </a:lnSpc>
              <a:buNone/>
            </a:pPr>
            <a:r>
              <a:rPr lang="en-US" sz="1800" dirty="0">
                <a:solidFill>
                  <a:srgbClr val="E7EDF6"/>
                </a:solidFill>
                <a:latin typeface="Courier New" pitchFamily="34" charset="0"/>
                <a:ea typeface="Courier New" pitchFamily="34" charset="-122"/>
                <a:cs typeface="Courier New" pitchFamily="34" charset="-120"/>
              </a:rPr>
              <a:t>int *p;       // p is a pointer to int</a:t>
            </a:r>
            <a:endParaRPr lang="en-US" sz="1800" dirty="0"/>
          </a:p>
          <a:p>
            <a:pPr indent="0" marL="0">
              <a:lnSpc>
                <a:spcPct val="128000"/>
              </a:lnSpc>
              <a:buNone/>
            </a:pPr>
            <a:r>
              <a:rPr lang="en-US" sz="1800" dirty="0">
                <a:solidFill>
                  <a:srgbClr val="E7EDF6"/>
                </a:solidFill>
                <a:latin typeface="Courier New" pitchFamily="34" charset="0"/>
                <a:ea typeface="Courier New" pitchFamily="34" charset="-122"/>
                <a:cs typeface="Courier New" pitchFamily="34" charset="-120"/>
              </a:rPr>
              <a:t>p = &amp;age;     // p now holds age's address</a:t>
            </a:r>
            <a:endParaRPr lang="en-US" sz="1800" dirty="0"/>
          </a:p>
        </p:txBody>
      </p:sp>
      <p:sp>
        <p:nvSpPr>
          <p:cNvPr id="11" name="Shape 9"/>
          <p:cNvSpPr/>
          <p:nvPr/>
        </p:nvSpPr>
        <p:spPr>
          <a:xfrm>
            <a:off x="548640" y="5513832"/>
            <a:ext cx="6949440" cy="621792"/>
          </a:xfrm>
          <a:prstGeom prst="roundRect">
            <a:avLst>
              <a:gd name="adj" fmla="val 11765"/>
            </a:avLst>
          </a:prstGeom>
          <a:solidFill>
            <a:srgbClr val="0B1F3A"/>
          </a:solidFill>
          <a:ln/>
          <a:effectLst>
            <a:outerShdw sx="100000" sy="100000" kx="0" ky="0" algn="bl" rotWithShape="0" blurRad="101600" dist="38100" dir="5400000">
              <a:srgbClr val="0B1F3A">
                <a:alpha val="28000"/>
              </a:srgbClr>
            </a:outerShdw>
          </a:effectLst>
        </p:spPr>
      </p:sp>
      <p:sp>
        <p:nvSpPr>
          <p:cNvPr id="12" name="Text 10"/>
          <p:cNvSpPr txBox="1"/>
          <p:nvPr/>
        </p:nvSpPr>
        <p:spPr>
          <a:xfrm>
            <a:off x="749808" y="5513832"/>
            <a:ext cx="6547104" cy="621792"/>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 </a:t>
            </a:r>
            <a:pPr indent="0" marL="0">
              <a:buNone/>
            </a:pPr>
            <a:r>
              <a:rPr lang="en-US" sz="1300" b="1" dirty="0">
                <a:solidFill>
                  <a:srgbClr val="F5F8FC"/>
                </a:solidFill>
                <a:latin typeface="Calibri" pitchFamily="34" charset="0"/>
                <a:ea typeface="Calibri" pitchFamily="34" charset="-122"/>
                <a:cs typeface="Calibri" pitchFamily="34" charset="-120"/>
              </a:rPr>
              <a:t>“p is a pointer to int” — whatever address p holds, it promises an int lives there.</a:t>
            </a:r>
            <a:endParaRPr lang="en-US" sz="1300" dirty="0"/>
          </a:p>
        </p:txBody>
      </p:sp>
      <p:sp>
        <p:nvSpPr>
          <p:cNvPr id="13" name="Text 11"/>
          <p:cNvSpPr txBox="1"/>
          <p:nvPr/>
        </p:nvSpPr>
        <p:spPr>
          <a:xfrm>
            <a:off x="7909560" y="1691640"/>
            <a:ext cx="3733495" cy="4480560"/>
          </a:xfrm>
          <a:prstGeom prst="rect">
            <a:avLst/>
          </a:prstGeom>
          <a:noFill/>
          <a:ln/>
        </p:spPr>
        <p:txBody>
          <a:bodyPr wrap="square" lIns="0" tIns="0" rIns="0" bIns="0" rtlCol="0" anchor="t"/>
          <a:lstStyle/>
          <a:p>
            <a:pPr indent="0" marL="0">
              <a:spcAft>
                <a:spcPts val="1400"/>
              </a:spcAft>
              <a:buNone/>
            </a:pPr>
            <a:r>
              <a:rPr lang="en-US" sz="1500" dirty="0">
                <a:solidFill>
                  <a:srgbClr val="30425E"/>
                </a:solidFill>
                <a:latin typeface="Calibri" pitchFamily="34" charset="0"/>
                <a:ea typeface="Calibri" pitchFamily="34" charset="-122"/>
                <a:cs typeface="Calibri" pitchFamily="34" charset="-120"/>
              </a:rPr>
              <a:t>A pointer is a variable, just like any other — except it holds an address instead of a number.</a:t>
            </a:r>
            <a:endParaRPr lang="en-US" sz="1500" dirty="0"/>
          </a:p>
          <a:p>
            <a:pPr indent="0" marL="0">
              <a:spcAft>
                <a:spcPts val="1400"/>
              </a:spcAft>
              <a:buNone/>
            </a:pPr>
            <a:r>
              <a:rPr lang="en-US" sz="1500" dirty="0">
                <a:solidFill>
                  <a:srgbClr val="30425E"/>
                </a:solidFill>
                <a:latin typeface="Calibri" pitchFamily="34" charset="0"/>
                <a:ea typeface="Calibri" pitchFamily="34" charset="-122"/>
                <a:cs typeface="Calibri" pitchFamily="34" charset="-120"/>
              </a:rPr>
              <a:t>The computer needs to know how many bytes to read starting from that address, so the type matters.</a:t>
            </a:r>
            <a:endParaRPr lang="en-US" sz="1500" dirty="0"/>
          </a:p>
        </p:txBody>
      </p:sp>
      <p:sp>
        <p:nvSpPr>
          <p:cNvPr id="14" name="Text 12"/>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7 — POINTERS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1228222" cy="310896"/>
          </a:xfrm>
          <a:prstGeom prst="roundRect">
            <a:avLst>
              <a:gd name="adj" fmla="val 50000"/>
            </a:avLst>
          </a:prstGeom>
          <a:solidFill>
            <a:srgbClr val="0B1F3A"/>
          </a:solidFill>
          <a:ln/>
        </p:spPr>
      </p:sp>
      <p:sp>
        <p:nvSpPr>
          <p:cNvPr id="3" name="Text 1"/>
          <p:cNvSpPr txBox="1"/>
          <p:nvPr/>
        </p:nvSpPr>
        <p:spPr>
          <a:xfrm>
            <a:off x="548640" y="502920"/>
            <a:ext cx="1228222"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WATCH CLOSELY</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800" b="1" dirty="0">
                <a:solidFill>
                  <a:srgbClr val="132038"/>
                </a:solidFill>
                <a:latin typeface="Cambria" pitchFamily="34" charset="0"/>
                <a:ea typeface="Cambria" pitchFamily="34" charset="-122"/>
                <a:cs typeface="Cambria" pitchFamily="34" charset="-120"/>
              </a:rPr>
              <a:t>The dual meaning of * — the #1 beginner trap</a:t>
            </a:r>
            <a:endParaRPr lang="en-US" sz="2800" dirty="0"/>
          </a:p>
        </p:txBody>
      </p:sp>
      <p:sp>
        <p:nvSpPr>
          <p:cNvPr id="5" name="Shape 3"/>
          <p:cNvSpPr/>
          <p:nvPr/>
        </p:nvSpPr>
        <p:spPr>
          <a:xfrm>
            <a:off x="548640" y="1783080"/>
            <a:ext cx="5414620" cy="3977640"/>
          </a:xfrm>
          <a:prstGeom prst="roundRect">
            <a:avLst>
              <a:gd name="adj" fmla="val 2069"/>
            </a:avLst>
          </a:prstGeom>
          <a:solidFill>
            <a:srgbClr val="FFFFFF"/>
          </a:solidFill>
          <a:ln w="12700">
            <a:solidFill>
              <a:srgbClr val="DCE2EC"/>
            </a:solidFill>
            <a:prstDash val="solid"/>
          </a:ln>
        </p:spPr>
      </p:sp>
      <p:sp>
        <p:nvSpPr>
          <p:cNvPr id="6" name="Shape 4"/>
          <p:cNvSpPr/>
          <p:nvPr/>
        </p:nvSpPr>
        <p:spPr>
          <a:xfrm>
            <a:off x="822960" y="2057400"/>
            <a:ext cx="420624" cy="420624"/>
          </a:xfrm>
          <a:prstGeom prst="ellipse">
            <a:avLst/>
          </a:prstGeom>
          <a:solidFill>
            <a:srgbClr val="0B1F3A"/>
          </a:solidFill>
          <a:ln/>
        </p:spPr>
      </p:sp>
      <p:sp>
        <p:nvSpPr>
          <p:cNvPr id="7" name="Text 5"/>
          <p:cNvSpPr txBox="1"/>
          <p:nvPr/>
        </p:nvSpPr>
        <p:spPr>
          <a:xfrm>
            <a:off x="822960" y="2057400"/>
            <a:ext cx="420624" cy="420624"/>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371600" y="2057400"/>
            <a:ext cx="4408780" cy="420624"/>
          </a:xfrm>
          <a:prstGeom prst="rect">
            <a:avLst/>
          </a:prstGeom>
          <a:noFill/>
          <a:ln/>
        </p:spPr>
        <p:txBody>
          <a:bodyPr wrap="square" lIns="0" tIns="0" rIns="0" bIns="0" rtlCol="0" anchor="ctr"/>
          <a:lstStyle/>
          <a:p>
            <a:pPr indent="0" marL="0">
              <a:buNone/>
            </a:pPr>
            <a:r>
              <a:rPr lang="en-US" sz="1800" b="1" dirty="0">
                <a:solidFill>
                  <a:srgbClr val="132038"/>
                </a:solidFill>
                <a:latin typeface="Cambria" pitchFamily="34" charset="0"/>
                <a:ea typeface="Cambria" pitchFamily="34" charset="-122"/>
                <a:cs typeface="Cambria" pitchFamily="34" charset="-120"/>
              </a:rPr>
              <a:t>Declaration</a:t>
            </a:r>
            <a:endParaRPr lang="en-US" sz="1800" dirty="0"/>
          </a:p>
        </p:txBody>
      </p:sp>
      <p:sp>
        <p:nvSpPr>
          <p:cNvPr id="9" name="Shape 7"/>
          <p:cNvSpPr/>
          <p:nvPr/>
        </p:nvSpPr>
        <p:spPr>
          <a:xfrm>
            <a:off x="822960" y="2651760"/>
            <a:ext cx="4865980" cy="530352"/>
          </a:xfrm>
          <a:prstGeom prst="roundRect">
            <a:avLst>
              <a:gd name="adj" fmla="val 8621"/>
            </a:avLst>
          </a:prstGeom>
          <a:solidFill>
            <a:srgbClr val="E9EEF6"/>
          </a:solidFill>
          <a:ln/>
        </p:spPr>
      </p:sp>
      <p:sp>
        <p:nvSpPr>
          <p:cNvPr id="10" name="Text 8"/>
          <p:cNvSpPr txBox="1"/>
          <p:nvPr/>
        </p:nvSpPr>
        <p:spPr>
          <a:xfrm>
            <a:off x="960120" y="2743200"/>
            <a:ext cx="4591660" cy="347472"/>
          </a:xfrm>
          <a:prstGeom prst="rect">
            <a:avLst/>
          </a:prstGeom>
          <a:noFill/>
          <a:ln/>
        </p:spPr>
        <p:txBody>
          <a:bodyPr wrap="square" lIns="0" tIns="0" rIns="0" bIns="0" rtlCol="0" anchor="t"/>
          <a:lstStyle/>
          <a:p>
            <a:pPr indent="0" marL="0">
              <a:lnSpc>
                <a:spcPct val="125000"/>
              </a:lnSpc>
              <a:buNone/>
            </a:pPr>
            <a:r>
              <a:rPr lang="en-US" sz="1250" dirty="0">
                <a:solidFill>
                  <a:srgbClr val="0B1F3A"/>
                </a:solidFill>
                <a:latin typeface="Courier New" pitchFamily="34" charset="0"/>
                <a:ea typeface="Courier New" pitchFamily="34" charset="-122"/>
                <a:cs typeface="Courier New" pitchFamily="34" charset="-120"/>
              </a:rPr>
              <a:t>int *p = &amp;age;</a:t>
            </a:r>
            <a:endParaRPr lang="en-US" sz="1250" dirty="0"/>
          </a:p>
        </p:txBody>
      </p:sp>
      <p:sp>
        <p:nvSpPr>
          <p:cNvPr id="11" name="Text 9"/>
          <p:cNvSpPr txBox="1"/>
          <p:nvPr/>
        </p:nvSpPr>
        <p:spPr>
          <a:xfrm>
            <a:off x="822960" y="3319272"/>
            <a:ext cx="4865980" cy="2304288"/>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30425E"/>
                </a:solidFill>
                <a:latin typeface="Calibri" pitchFamily="34" charset="0"/>
                <a:ea typeface="Calibri" pitchFamily="34" charset="-122"/>
                <a:cs typeface="Calibri" pitchFamily="34" charset="-120"/>
              </a:rPr>
              <a:t>* is part of declaring p's type.</a:t>
            </a:r>
            <a:endParaRPr lang="en-US" sz="1350" dirty="0"/>
          </a:p>
          <a:p>
            <a:pPr marL="228600" indent="-228600">
              <a:spcAft>
                <a:spcPts val="1000"/>
              </a:spcAft>
              <a:buSzPct val="100000"/>
              <a:buChar char="▸"/>
            </a:pPr>
            <a:r>
              <a:rPr lang="en-US" sz="1350" dirty="0">
                <a:solidFill>
                  <a:srgbClr val="30425E"/>
                </a:solidFill>
                <a:latin typeface="Calibri" pitchFamily="34" charset="0"/>
                <a:ea typeface="Calibri" pitchFamily="34" charset="-122"/>
                <a:cs typeface="Calibri" pitchFamily="34" charset="-120"/>
              </a:rPr>
              <a:t>It only appears once, at the moment you introduce the variable.</a:t>
            </a:r>
            <a:endParaRPr lang="en-US" sz="1350" dirty="0"/>
          </a:p>
          <a:p>
            <a:pPr marL="228600" indent="-228600">
              <a:spcAft>
                <a:spcPts val="1000"/>
              </a:spcAft>
              <a:buSzPct val="100000"/>
              <a:buChar char="▸"/>
            </a:pPr>
            <a:r>
              <a:rPr lang="en-US" sz="1350" dirty="0">
                <a:solidFill>
                  <a:srgbClr val="30425E"/>
                </a:solidFill>
                <a:latin typeface="Calibri" pitchFamily="34" charset="0"/>
                <a:ea typeface="Calibri" pitchFamily="34" charset="-122"/>
                <a:cs typeface="Calibri" pitchFamily="34" charset="-120"/>
              </a:rPr>
              <a:t>Read it as: “p is a pointer.”</a:t>
            </a:r>
            <a:endParaRPr lang="en-US" sz="1350" dirty="0"/>
          </a:p>
        </p:txBody>
      </p:sp>
      <p:sp>
        <p:nvSpPr>
          <p:cNvPr id="12" name="Shape 10"/>
          <p:cNvSpPr/>
          <p:nvPr/>
        </p:nvSpPr>
        <p:spPr>
          <a:xfrm>
            <a:off x="6228436" y="1783080"/>
            <a:ext cx="5414620" cy="3977640"/>
          </a:xfrm>
          <a:prstGeom prst="roundRect">
            <a:avLst>
              <a:gd name="adj" fmla="val 2069"/>
            </a:avLst>
          </a:prstGeom>
          <a:solidFill>
            <a:srgbClr val="FFFFFF"/>
          </a:solidFill>
          <a:ln w="12700">
            <a:solidFill>
              <a:srgbClr val="DCE2EC"/>
            </a:solidFill>
            <a:prstDash val="solid"/>
          </a:ln>
        </p:spPr>
      </p:sp>
      <p:sp>
        <p:nvSpPr>
          <p:cNvPr id="13" name="Shape 11"/>
          <p:cNvSpPr/>
          <p:nvPr/>
        </p:nvSpPr>
        <p:spPr>
          <a:xfrm>
            <a:off x="6502756" y="2057400"/>
            <a:ext cx="420624" cy="420624"/>
          </a:xfrm>
          <a:prstGeom prst="ellipse">
            <a:avLst/>
          </a:prstGeom>
          <a:solidFill>
            <a:srgbClr val="0B1F3A"/>
          </a:solidFill>
          <a:ln/>
        </p:spPr>
      </p:sp>
      <p:sp>
        <p:nvSpPr>
          <p:cNvPr id="14" name="Text 12"/>
          <p:cNvSpPr txBox="1"/>
          <p:nvPr/>
        </p:nvSpPr>
        <p:spPr>
          <a:xfrm>
            <a:off x="6502756" y="2057400"/>
            <a:ext cx="420624" cy="420624"/>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2</a:t>
            </a:r>
            <a:endParaRPr lang="en-US" sz="1600" dirty="0"/>
          </a:p>
        </p:txBody>
      </p:sp>
      <p:sp>
        <p:nvSpPr>
          <p:cNvPr id="15" name="Text 13"/>
          <p:cNvSpPr txBox="1"/>
          <p:nvPr/>
        </p:nvSpPr>
        <p:spPr>
          <a:xfrm>
            <a:off x="7051396" y="2057400"/>
            <a:ext cx="4408780" cy="420624"/>
          </a:xfrm>
          <a:prstGeom prst="rect">
            <a:avLst/>
          </a:prstGeom>
          <a:noFill/>
          <a:ln/>
        </p:spPr>
        <p:txBody>
          <a:bodyPr wrap="square" lIns="0" tIns="0" rIns="0" bIns="0" rtlCol="0" anchor="ctr"/>
          <a:lstStyle/>
          <a:p>
            <a:pPr indent="0" marL="0">
              <a:buNone/>
            </a:pPr>
            <a:r>
              <a:rPr lang="en-US" sz="1800" b="1" dirty="0">
                <a:solidFill>
                  <a:srgbClr val="132038"/>
                </a:solidFill>
                <a:latin typeface="Cambria" pitchFamily="34" charset="0"/>
                <a:ea typeface="Cambria" pitchFamily="34" charset="-122"/>
                <a:cs typeface="Cambria" pitchFamily="34" charset="-120"/>
              </a:rPr>
              <a:t>Dereference</a:t>
            </a:r>
            <a:endParaRPr lang="en-US" sz="1800" dirty="0"/>
          </a:p>
        </p:txBody>
      </p:sp>
      <p:sp>
        <p:nvSpPr>
          <p:cNvPr id="16" name="Shape 14"/>
          <p:cNvSpPr/>
          <p:nvPr/>
        </p:nvSpPr>
        <p:spPr>
          <a:xfrm>
            <a:off x="6502756" y="2651760"/>
            <a:ext cx="4865980" cy="530352"/>
          </a:xfrm>
          <a:prstGeom prst="roundRect">
            <a:avLst>
              <a:gd name="adj" fmla="val 8621"/>
            </a:avLst>
          </a:prstGeom>
          <a:solidFill>
            <a:srgbClr val="E9EEF6"/>
          </a:solidFill>
          <a:ln/>
        </p:spPr>
      </p:sp>
      <p:sp>
        <p:nvSpPr>
          <p:cNvPr id="17" name="Text 15"/>
          <p:cNvSpPr txBox="1"/>
          <p:nvPr/>
        </p:nvSpPr>
        <p:spPr>
          <a:xfrm>
            <a:off x="6639916" y="2743200"/>
            <a:ext cx="4591660" cy="347472"/>
          </a:xfrm>
          <a:prstGeom prst="rect">
            <a:avLst/>
          </a:prstGeom>
          <a:noFill/>
          <a:ln/>
        </p:spPr>
        <p:txBody>
          <a:bodyPr wrap="square" lIns="0" tIns="0" rIns="0" bIns="0" rtlCol="0" anchor="t"/>
          <a:lstStyle/>
          <a:p>
            <a:pPr indent="0" marL="0">
              <a:lnSpc>
                <a:spcPct val="125000"/>
              </a:lnSpc>
              <a:buNone/>
            </a:pPr>
            <a:r>
              <a:rPr lang="en-US" sz="1250" dirty="0">
                <a:solidFill>
                  <a:srgbClr val="0B1F3A"/>
                </a:solidFill>
                <a:latin typeface="Courier New" pitchFamily="34" charset="0"/>
                <a:ea typeface="Courier New" pitchFamily="34" charset="-122"/>
                <a:cs typeface="Courier New" pitchFamily="34" charset="-120"/>
              </a:rPr>
              <a:t>*p = 100;</a:t>
            </a:r>
            <a:endParaRPr lang="en-US" sz="1250" dirty="0"/>
          </a:p>
        </p:txBody>
      </p:sp>
      <p:sp>
        <p:nvSpPr>
          <p:cNvPr id="18" name="Text 16"/>
          <p:cNvSpPr txBox="1"/>
          <p:nvPr/>
        </p:nvSpPr>
        <p:spPr>
          <a:xfrm>
            <a:off x="6502756" y="3319272"/>
            <a:ext cx="4865980" cy="2304288"/>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30425E"/>
                </a:solidFill>
                <a:latin typeface="Calibri" pitchFamily="34" charset="0"/>
                <a:ea typeface="Calibri" pitchFamily="34" charset="-122"/>
                <a:cs typeface="Calibri" pitchFamily="34" charset="-120"/>
              </a:rPr>
              <a:t>* is the DEREFERENCE operator.</a:t>
            </a:r>
            <a:endParaRPr lang="en-US" sz="1350" dirty="0"/>
          </a:p>
          <a:p>
            <a:pPr marL="228600" indent="-228600">
              <a:spcAft>
                <a:spcPts val="1000"/>
              </a:spcAft>
              <a:buSzPct val="100000"/>
              <a:buChar char="▸"/>
            </a:pPr>
            <a:r>
              <a:rPr lang="en-US" sz="1350" dirty="0">
                <a:solidFill>
                  <a:srgbClr val="30425E"/>
                </a:solidFill>
                <a:latin typeface="Calibri" pitchFamily="34" charset="0"/>
                <a:ea typeface="Calibri" pitchFamily="34" charset="-122"/>
                <a:cs typeface="Calibri" pitchFamily="34" charset="-120"/>
              </a:rPr>
              <a:t>Applied to an existing pointer, it means “go to the address p holds.”</a:t>
            </a:r>
            <a:endParaRPr lang="en-US" sz="1350" dirty="0"/>
          </a:p>
          <a:p>
            <a:pPr marL="228600" indent="-228600">
              <a:spcAft>
                <a:spcPts val="1000"/>
              </a:spcAft>
              <a:buSzPct val="100000"/>
              <a:buChar char="▸"/>
            </a:pPr>
            <a:r>
              <a:rPr lang="en-US" sz="1350" dirty="0">
                <a:solidFill>
                  <a:srgbClr val="30425E"/>
                </a:solidFill>
                <a:latin typeface="Calibri" pitchFamily="34" charset="0"/>
                <a:ea typeface="Calibri" pitchFamily="34" charset="-122"/>
                <a:cs typeface="Calibri" pitchFamily="34" charset="-120"/>
              </a:rPr>
              <a:t>Read it as: “the value at the address p holds.”</a:t>
            </a:r>
            <a:endParaRPr lang="en-US" sz="1350" dirty="0"/>
          </a:p>
        </p:txBody>
      </p:sp>
      <p:sp>
        <p:nvSpPr>
          <p:cNvPr id="19" name="Text 17"/>
          <p:cNvSpPr txBox="1"/>
          <p:nvPr/>
        </p:nvSpPr>
        <p:spPr>
          <a:xfrm>
            <a:off x="548640" y="5925312"/>
            <a:ext cx="11094415" cy="457200"/>
          </a:xfrm>
          <a:prstGeom prst="rect">
            <a:avLst/>
          </a:prstGeom>
          <a:noFill/>
          <a:ln/>
        </p:spPr>
        <p:txBody>
          <a:bodyPr wrap="square" lIns="0" tIns="0" rIns="0" bIns="0" rtlCol="0" anchor="ctr"/>
          <a:lstStyle/>
          <a:p>
            <a:pPr indent="0" marL="0">
              <a:buNone/>
            </a:pPr>
            <a:r>
              <a:rPr lang="en-US" sz="1250" i="1" dirty="0">
                <a:solidFill>
                  <a:srgbClr val="5B6B82"/>
                </a:solidFill>
                <a:latin typeface="Calibri" pitchFamily="34" charset="0"/>
                <a:ea typeface="Calibri" pitchFamily="34" charset="-122"/>
                <a:cs typeface="Calibri" pitchFamily="34" charset="-120"/>
              </a:rPr>
              <a:t>Rule of thumb: introducing a brand-new variable name right after a type → declaration. Anywhere else → dereference.</a:t>
            </a:r>
            <a:endParaRPr lang="en-US" sz="1250" dirty="0"/>
          </a:p>
        </p:txBody>
      </p:sp>
      <p:sp>
        <p:nvSpPr>
          <p:cNvPr id="20" name="Text 18"/>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7 — POINTERS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754197" cy="310896"/>
          </a:xfrm>
          <a:prstGeom prst="roundRect">
            <a:avLst>
              <a:gd name="adj" fmla="val 50000"/>
            </a:avLst>
          </a:prstGeom>
          <a:solidFill>
            <a:srgbClr val="0B1F3A"/>
          </a:solidFill>
          <a:ln/>
        </p:spPr>
      </p:sp>
      <p:sp>
        <p:nvSpPr>
          <p:cNvPr id="3" name="Text 1"/>
          <p:cNvSpPr txBox="1"/>
          <p:nvPr/>
        </p:nvSpPr>
        <p:spPr>
          <a:xfrm>
            <a:off x="548640" y="502920"/>
            <a:ext cx="754197"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700" b="1" dirty="0">
                <a:solidFill>
                  <a:srgbClr val="132038"/>
                </a:solidFill>
                <a:latin typeface="Cambria" pitchFamily="34" charset="0"/>
                <a:ea typeface="Cambria" pitchFamily="34" charset="-122"/>
                <a:cs typeface="Cambria" pitchFamily="34" charset="-120"/>
              </a:rPr>
              <a:t>Assigning and dereferencing a pointer</a:t>
            </a:r>
            <a:endParaRPr lang="en-US" sz="2700" dirty="0"/>
          </a:p>
        </p:txBody>
      </p:sp>
      <p:sp>
        <p:nvSpPr>
          <p:cNvPr id="5" name="Shape 3"/>
          <p:cNvSpPr/>
          <p:nvPr/>
        </p:nvSpPr>
        <p:spPr>
          <a:xfrm>
            <a:off x="548640" y="1600200"/>
            <a:ext cx="6949440" cy="3749040"/>
          </a:xfrm>
          <a:prstGeom prst="roundRect">
            <a:avLst>
              <a:gd name="adj" fmla="val 2195"/>
            </a:avLst>
          </a:prstGeom>
          <a:solidFill>
            <a:srgbClr val="102841"/>
          </a:solidFill>
          <a:ln/>
          <a:effectLst>
            <a:outerShdw sx="100000" sy="100000" kx="0" ky="0" algn="bl" rotWithShape="0" blurRad="101600" dist="38100" dir="5400000">
              <a:srgbClr val="0B1F3A">
                <a:alpha val="28000"/>
              </a:srgbClr>
            </a:outerShdw>
          </a:effectLst>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1371600" y="1682496"/>
            <a:ext cx="5943600" cy="274320"/>
          </a:xfrm>
          <a:prstGeom prst="rect">
            <a:avLst/>
          </a:prstGeom>
          <a:noFill/>
          <a:ln/>
        </p:spPr>
        <p:txBody>
          <a:bodyPr wrap="square" lIns="0" tIns="0" rIns="0" bIns="0" rtlCol="0" anchor="ctr"/>
          <a:lstStyle/>
          <a:p>
            <a:pPr indent="0" marL="0">
              <a:buNone/>
            </a:pPr>
            <a:r>
              <a:rPr lang="en-US" sz="1100" dirty="0">
                <a:solidFill>
                  <a:srgbClr val="8CA3C2"/>
                </a:solidFill>
                <a:latin typeface="Courier New" pitchFamily="34" charset="0"/>
                <a:ea typeface="Courier New" pitchFamily="34" charset="-122"/>
                <a:cs typeface="Courier New" pitchFamily="34" charset="-120"/>
              </a:rPr>
              <a:t>02_declaring_and_dereferencing_pointers.c</a:t>
            </a:r>
            <a:endParaRPr lang="en-US" sz="1100" dirty="0"/>
          </a:p>
        </p:txBody>
      </p:sp>
      <p:sp>
        <p:nvSpPr>
          <p:cNvPr id="10" name="Text 8"/>
          <p:cNvSpPr txBox="1"/>
          <p:nvPr/>
        </p:nvSpPr>
        <p:spPr>
          <a:xfrm>
            <a:off x="804672" y="2039112"/>
            <a:ext cx="6492240" cy="3172968"/>
          </a:xfrm>
          <a:prstGeom prst="rect">
            <a:avLst/>
          </a:prstGeom>
          <a:noFill/>
          <a:ln/>
        </p:spPr>
        <p:txBody>
          <a:bodyPr wrap="square" lIns="0" tIns="0" rIns="0" bIns="0" rtlCol="0" anchor="t"/>
          <a:lstStyle/>
          <a:p>
            <a:pPr indent="0" marL="0">
              <a:lnSpc>
                <a:spcPct val="128000"/>
              </a:lnSpc>
              <a:buNone/>
            </a:pPr>
            <a:r>
              <a:rPr lang="en-US" sz="1700" dirty="0">
                <a:solidFill>
                  <a:srgbClr val="E7EDF6"/>
                </a:solidFill>
                <a:latin typeface="Courier New" pitchFamily="34" charset="0"/>
                <a:ea typeface="Courier New" pitchFamily="34" charset="-122"/>
                <a:cs typeface="Courier New" pitchFamily="34" charset="-120"/>
              </a:rPr>
              <a:t>int age = 25;</a:t>
            </a:r>
            <a:endParaRPr lang="en-US" sz="1700" dirty="0"/>
          </a:p>
          <a:p>
            <a:pPr indent="0" marL="0">
              <a:lnSpc>
                <a:spcPct val="128000"/>
              </a:lnSpc>
              <a:buNone/>
            </a:pPr>
            <a:r>
              <a:rPr lang="en-US" sz="1700" dirty="0">
                <a:solidFill>
                  <a:srgbClr val="E7EDF6"/>
                </a:solidFill>
                <a:latin typeface="Courier New" pitchFamily="34" charset="0"/>
                <a:ea typeface="Courier New" pitchFamily="34" charset="-122"/>
                <a:cs typeface="Courier New" pitchFamily="34" charset="-120"/>
              </a:rPr>
              <a:t>int *p = &amp;age;       // p points to age</a:t>
            </a:r>
            <a:endParaRPr lang="en-US" sz="1700" dirty="0"/>
          </a:p>
          <a:p>
            <a:pPr indent="0" marL="0">
              <a:lnSpc>
                <a:spcPct val="128000"/>
              </a:lnSpc>
              <a:buNone/>
            </a:pPr>
            <a:endParaRPr lang="en-US" sz="1700" dirty="0"/>
          </a:p>
          <a:p>
            <a:pPr indent="0" marL="0">
              <a:lnSpc>
                <a:spcPct val="128000"/>
              </a:lnSpc>
              <a:buNone/>
            </a:pPr>
            <a:r>
              <a:rPr lang="en-US" sz="1700" dirty="0">
                <a:solidFill>
                  <a:srgbClr val="E7EDF6"/>
                </a:solidFill>
                <a:latin typeface="Courier New" pitchFamily="34" charset="0"/>
                <a:ea typeface="Courier New" pitchFamily="34" charset="-122"/>
                <a:cs typeface="Courier New" pitchFamily="34" charset="-120"/>
              </a:rPr>
              <a:t>printf("%d\n", *p);   // dereference -&gt; 25</a:t>
            </a:r>
            <a:endParaRPr lang="en-US" sz="1700" dirty="0"/>
          </a:p>
        </p:txBody>
      </p:sp>
      <p:sp>
        <p:nvSpPr>
          <p:cNvPr id="11" name="Shape 9"/>
          <p:cNvSpPr/>
          <p:nvPr/>
        </p:nvSpPr>
        <p:spPr>
          <a:xfrm>
            <a:off x="548640" y="5513832"/>
            <a:ext cx="6949440" cy="621792"/>
          </a:xfrm>
          <a:prstGeom prst="roundRect">
            <a:avLst>
              <a:gd name="adj" fmla="val 11765"/>
            </a:avLst>
          </a:prstGeom>
          <a:solidFill>
            <a:srgbClr val="0B1F3A"/>
          </a:solidFill>
          <a:ln/>
          <a:effectLst>
            <a:outerShdw sx="100000" sy="100000" kx="0" ky="0" algn="bl" rotWithShape="0" blurRad="101600" dist="38100" dir="5400000">
              <a:srgbClr val="0B1F3A">
                <a:alpha val="28000"/>
              </a:srgbClr>
            </a:outerShdw>
          </a:effectLst>
        </p:spPr>
      </p:sp>
      <p:sp>
        <p:nvSpPr>
          <p:cNvPr id="12" name="Text 10"/>
          <p:cNvSpPr txBox="1"/>
          <p:nvPr/>
        </p:nvSpPr>
        <p:spPr>
          <a:xfrm>
            <a:off x="749808" y="5513832"/>
            <a:ext cx="6547104" cy="621792"/>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 </a:t>
            </a:r>
            <a:pPr indent="0" marL="0">
              <a:buNone/>
            </a:pPr>
            <a:r>
              <a:rPr lang="en-US" sz="1300" b="1" dirty="0">
                <a:solidFill>
                  <a:srgbClr val="F5F8FC"/>
                </a:solidFill>
                <a:latin typeface="Calibri" pitchFamily="34" charset="0"/>
                <a:ea typeface="Calibri" pitchFamily="34" charset="-122"/>
                <a:cs typeface="Calibri" pitchFamily="34" charset="-120"/>
              </a:rPr>
              <a:t>p doesn't contain 25 — it contains the address where 25 lives.</a:t>
            </a:r>
            <a:endParaRPr lang="en-US" sz="1300" dirty="0"/>
          </a:p>
        </p:txBody>
      </p:sp>
      <p:sp>
        <p:nvSpPr>
          <p:cNvPr id="13" name="Text 11"/>
          <p:cNvSpPr txBox="1"/>
          <p:nvPr/>
        </p:nvSpPr>
        <p:spPr>
          <a:xfrm>
            <a:off x="7909560" y="1691640"/>
            <a:ext cx="3733495" cy="4480560"/>
          </a:xfrm>
          <a:prstGeom prst="rect">
            <a:avLst/>
          </a:prstGeom>
          <a:noFill/>
          <a:ln/>
        </p:spPr>
        <p:txBody>
          <a:bodyPr wrap="square" lIns="0" tIns="0" rIns="0" bIns="0" rtlCol="0" anchor="t"/>
          <a:lstStyle/>
          <a:p>
            <a:pPr indent="0" marL="0">
              <a:spcAft>
                <a:spcPts val="1400"/>
              </a:spcAft>
              <a:buNone/>
            </a:pPr>
            <a:r>
              <a:rPr lang="en-US" sz="1500" dirty="0">
                <a:solidFill>
                  <a:srgbClr val="30425E"/>
                </a:solidFill>
                <a:latin typeface="Calibri" pitchFamily="34" charset="0"/>
                <a:ea typeface="Calibri" pitchFamily="34" charset="-122"/>
                <a:cs typeface="Calibri" pitchFamily="34" charset="-120"/>
              </a:rPr>
              <a:t>*p is how you ask C to follow that address and hand you what's actually stored there.</a:t>
            </a:r>
            <a:endParaRPr lang="en-US" sz="1500" dirty="0"/>
          </a:p>
          <a:p>
            <a:pPr indent="0" marL="0">
              <a:spcAft>
                <a:spcPts val="1400"/>
              </a:spcAft>
              <a:buNone/>
            </a:pPr>
            <a:r>
              <a:rPr lang="en-US" sz="1500" dirty="0">
                <a:solidFill>
                  <a:srgbClr val="30425E"/>
                </a:solidFill>
                <a:latin typeface="Calibri" pitchFamily="34" charset="0"/>
                <a:ea typeface="Calibri" pitchFamily="34" charset="-122"/>
                <a:cs typeface="Calibri" pitchFamily="34" charset="-120"/>
              </a:rPr>
              <a:t>p and age are two different variables, linked by an address.</a:t>
            </a:r>
            <a:endParaRPr lang="en-US" sz="1500" dirty="0"/>
          </a:p>
        </p:txBody>
      </p:sp>
      <p:sp>
        <p:nvSpPr>
          <p:cNvPr id="14" name="Text 12"/>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7 — POINTERS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754197" cy="310896"/>
          </a:xfrm>
          <a:prstGeom prst="roundRect">
            <a:avLst>
              <a:gd name="adj" fmla="val 50000"/>
            </a:avLst>
          </a:prstGeom>
          <a:solidFill>
            <a:srgbClr val="0B1F3A"/>
          </a:solidFill>
          <a:ln/>
        </p:spPr>
      </p:sp>
      <p:sp>
        <p:nvSpPr>
          <p:cNvPr id="3" name="Text 1"/>
          <p:cNvSpPr txBox="1"/>
          <p:nvPr/>
        </p:nvSpPr>
        <p:spPr>
          <a:xfrm>
            <a:off x="548640" y="502920"/>
            <a:ext cx="754197"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700" b="1" dirty="0">
                <a:solidFill>
                  <a:srgbClr val="132038"/>
                </a:solidFill>
                <a:latin typeface="Cambria" pitchFamily="34" charset="0"/>
                <a:ea typeface="Cambria" pitchFamily="34" charset="-122"/>
                <a:cs typeface="Cambria" pitchFamily="34" charset="-120"/>
              </a:rPr>
              <a:t>Modifying a value through a pointer</a:t>
            </a:r>
            <a:endParaRPr lang="en-US" sz="2700" dirty="0"/>
          </a:p>
        </p:txBody>
      </p:sp>
      <p:sp>
        <p:nvSpPr>
          <p:cNvPr id="5" name="Shape 3"/>
          <p:cNvSpPr/>
          <p:nvPr/>
        </p:nvSpPr>
        <p:spPr>
          <a:xfrm>
            <a:off x="548640" y="1600200"/>
            <a:ext cx="6949440" cy="3749040"/>
          </a:xfrm>
          <a:prstGeom prst="roundRect">
            <a:avLst>
              <a:gd name="adj" fmla="val 2195"/>
            </a:avLst>
          </a:prstGeom>
          <a:solidFill>
            <a:srgbClr val="102841"/>
          </a:solidFill>
          <a:ln/>
          <a:effectLst>
            <a:outerShdw sx="100000" sy="100000" kx="0" ky="0" algn="bl" rotWithShape="0" blurRad="101600" dist="38100" dir="5400000">
              <a:srgbClr val="0B1F3A">
                <a:alpha val="28000"/>
              </a:srgbClr>
            </a:outerShdw>
          </a:effectLst>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1371600" y="1682496"/>
            <a:ext cx="5943600" cy="274320"/>
          </a:xfrm>
          <a:prstGeom prst="rect">
            <a:avLst/>
          </a:prstGeom>
          <a:noFill/>
          <a:ln/>
        </p:spPr>
        <p:txBody>
          <a:bodyPr wrap="square" lIns="0" tIns="0" rIns="0" bIns="0" rtlCol="0" anchor="ctr"/>
          <a:lstStyle/>
          <a:p>
            <a:pPr indent="0" marL="0">
              <a:buNone/>
            </a:pPr>
            <a:r>
              <a:rPr lang="en-US" sz="1100" dirty="0">
                <a:solidFill>
                  <a:srgbClr val="8CA3C2"/>
                </a:solidFill>
                <a:latin typeface="Courier New" pitchFamily="34" charset="0"/>
                <a:ea typeface="Courier New" pitchFamily="34" charset="-122"/>
                <a:cs typeface="Courier New" pitchFamily="34" charset="-120"/>
              </a:rPr>
              <a:t>03_modifying_a_value_through_a_pointer.c</a:t>
            </a:r>
            <a:endParaRPr lang="en-US" sz="1100" dirty="0"/>
          </a:p>
        </p:txBody>
      </p:sp>
      <p:sp>
        <p:nvSpPr>
          <p:cNvPr id="10" name="Text 8"/>
          <p:cNvSpPr txBox="1"/>
          <p:nvPr/>
        </p:nvSpPr>
        <p:spPr>
          <a:xfrm>
            <a:off x="804672" y="2039112"/>
            <a:ext cx="6492240" cy="3172968"/>
          </a:xfrm>
          <a:prstGeom prst="rect">
            <a:avLst/>
          </a:prstGeom>
          <a:noFill/>
          <a:ln/>
        </p:spPr>
        <p:txBody>
          <a:bodyPr wrap="square" lIns="0" tIns="0" rIns="0" bIns="0" rtlCol="0" anchor="t"/>
          <a:lstStyle/>
          <a:p>
            <a:pPr indent="0" marL="0">
              <a:lnSpc>
                <a:spcPct val="128000"/>
              </a:lnSpc>
              <a:buNone/>
            </a:pPr>
            <a:r>
              <a:rPr lang="en-US" sz="1800" dirty="0">
                <a:solidFill>
                  <a:srgbClr val="E7EDF6"/>
                </a:solidFill>
                <a:latin typeface="Courier New" pitchFamily="34" charset="0"/>
                <a:ea typeface="Courier New" pitchFamily="34" charset="-122"/>
                <a:cs typeface="Courier New" pitchFamily="34" charset="-120"/>
              </a:rPr>
              <a:t>*p = 100;              // store 100 at p's address</a:t>
            </a:r>
            <a:endParaRPr lang="en-US" sz="1800" dirty="0"/>
          </a:p>
          <a:p>
            <a:pPr indent="0" marL="0">
              <a:lnSpc>
                <a:spcPct val="128000"/>
              </a:lnSpc>
              <a:buNone/>
            </a:pPr>
            <a:r>
              <a:rPr lang="en-US" sz="1800" dirty="0">
                <a:solidFill>
                  <a:srgbClr val="E7EDF6"/>
                </a:solidFill>
                <a:latin typeface="Courier New" pitchFamily="34" charset="0"/>
                <a:ea typeface="Courier New" pitchFamily="34" charset="-122"/>
                <a:cs typeface="Courier New" pitchFamily="34" charset="-120"/>
              </a:rPr>
              <a:t>printf("%d\n", age);   // prints 100!</a:t>
            </a:r>
            <a:endParaRPr lang="en-US" sz="1800" dirty="0"/>
          </a:p>
        </p:txBody>
      </p:sp>
      <p:sp>
        <p:nvSpPr>
          <p:cNvPr id="11" name="Shape 9"/>
          <p:cNvSpPr/>
          <p:nvPr/>
        </p:nvSpPr>
        <p:spPr>
          <a:xfrm>
            <a:off x="548640" y="5513832"/>
            <a:ext cx="6949440" cy="621792"/>
          </a:xfrm>
          <a:prstGeom prst="roundRect">
            <a:avLst>
              <a:gd name="adj" fmla="val 11765"/>
            </a:avLst>
          </a:prstGeom>
          <a:solidFill>
            <a:srgbClr val="0B1F3A"/>
          </a:solidFill>
          <a:ln/>
          <a:effectLst>
            <a:outerShdw sx="100000" sy="100000" kx="0" ky="0" algn="bl" rotWithShape="0" blurRad="101600" dist="38100" dir="5400000">
              <a:srgbClr val="0B1F3A">
                <a:alpha val="28000"/>
              </a:srgbClr>
            </a:outerShdw>
          </a:effectLst>
        </p:spPr>
      </p:sp>
      <p:sp>
        <p:nvSpPr>
          <p:cNvPr id="12" name="Text 10"/>
          <p:cNvSpPr txBox="1"/>
          <p:nvPr/>
        </p:nvSpPr>
        <p:spPr>
          <a:xfrm>
            <a:off x="749808" y="5513832"/>
            <a:ext cx="6547104" cy="621792"/>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 </a:t>
            </a:r>
            <a:pPr indent="0" marL="0">
              <a:buNone/>
            </a:pPr>
            <a:r>
              <a:rPr lang="en-US" sz="1300" b="1" dirty="0">
                <a:solidFill>
                  <a:srgbClr val="F5F8FC"/>
                </a:solidFill>
                <a:latin typeface="Calibri" pitchFamily="34" charset="0"/>
                <a:ea typeface="Calibri" pitchFamily="34" charset="-122"/>
                <a:cs typeface="Calibri" pitchFamily="34" charset="-120"/>
              </a:rPr>
              <a:t>p never changed — what changed is the value SITTING AT the address p holds.</a:t>
            </a:r>
            <a:endParaRPr lang="en-US" sz="1300" dirty="0"/>
          </a:p>
        </p:txBody>
      </p:sp>
      <p:sp>
        <p:nvSpPr>
          <p:cNvPr id="13" name="Text 11"/>
          <p:cNvSpPr txBox="1"/>
          <p:nvPr/>
        </p:nvSpPr>
        <p:spPr>
          <a:xfrm>
            <a:off x="7909560" y="1691640"/>
            <a:ext cx="3733495" cy="4480560"/>
          </a:xfrm>
          <a:prstGeom prst="rect">
            <a:avLst/>
          </a:prstGeom>
          <a:noFill/>
          <a:ln/>
        </p:spPr>
        <p:txBody>
          <a:bodyPr wrap="square" lIns="0" tIns="0" rIns="0" bIns="0" rtlCol="0" anchor="t"/>
          <a:lstStyle/>
          <a:p>
            <a:pPr indent="0" marL="0">
              <a:spcAft>
                <a:spcPts val="1400"/>
              </a:spcAft>
              <a:buNone/>
            </a:pPr>
            <a:r>
              <a:rPr lang="en-US" sz="1500" dirty="0">
                <a:solidFill>
                  <a:srgbClr val="30425E"/>
                </a:solidFill>
                <a:latin typeface="Calibri" pitchFamily="34" charset="0"/>
                <a:ea typeface="Calibri" pitchFamily="34" charset="-122"/>
                <a:cs typeface="Calibri" pitchFamily="34" charset="-120"/>
              </a:rPr>
              <a:t>This is the mechanism that makes pointers useful: one part of your program can reach out and change a variable owned by another part.</a:t>
            </a:r>
            <a:endParaRPr lang="en-US" sz="1500" dirty="0"/>
          </a:p>
        </p:txBody>
      </p:sp>
      <p:sp>
        <p:nvSpPr>
          <p:cNvPr id="14" name="Text 12"/>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7 — POINTERS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1465235" cy="310896"/>
          </a:xfrm>
          <a:prstGeom prst="roundRect">
            <a:avLst>
              <a:gd name="adj" fmla="val 50000"/>
            </a:avLst>
          </a:prstGeom>
          <a:solidFill>
            <a:srgbClr val="0B1F3A"/>
          </a:solidFill>
          <a:ln/>
        </p:spPr>
      </p:sp>
      <p:sp>
        <p:nvSpPr>
          <p:cNvPr id="3" name="Text 1"/>
          <p:cNvSpPr txBox="1"/>
          <p:nvPr/>
        </p:nvSpPr>
        <p:spPr>
          <a:xfrm>
            <a:off x="548640" y="502920"/>
            <a:ext cx="1465235"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SOLVING THE HOOK</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800" b="1" dirty="0">
                <a:solidFill>
                  <a:srgbClr val="132038"/>
                </a:solidFill>
                <a:latin typeface="Cambria" pitchFamily="34" charset="0"/>
                <a:ea typeface="Cambria" pitchFamily="34" charset="-122"/>
                <a:cs typeface="Cambria" pitchFamily="34" charset="-120"/>
              </a:rPr>
              <a:t>Pass-by-value vs. pass-by-pointer</a:t>
            </a:r>
            <a:endParaRPr lang="en-US" sz="2800" dirty="0"/>
          </a:p>
        </p:txBody>
      </p:sp>
      <p:sp>
        <p:nvSpPr>
          <p:cNvPr id="5" name="Shape 3"/>
          <p:cNvSpPr/>
          <p:nvPr/>
        </p:nvSpPr>
        <p:spPr>
          <a:xfrm>
            <a:off x="548640" y="1783080"/>
            <a:ext cx="5414620" cy="3977640"/>
          </a:xfrm>
          <a:prstGeom prst="roundRect">
            <a:avLst>
              <a:gd name="adj" fmla="val 2069"/>
            </a:avLst>
          </a:prstGeom>
          <a:solidFill>
            <a:srgbClr val="FFFFFF"/>
          </a:solidFill>
          <a:ln w="12700">
            <a:solidFill>
              <a:srgbClr val="DCE2EC"/>
            </a:solidFill>
            <a:prstDash val="solid"/>
          </a:ln>
        </p:spPr>
      </p:sp>
      <p:sp>
        <p:nvSpPr>
          <p:cNvPr id="6" name="Shape 4"/>
          <p:cNvSpPr/>
          <p:nvPr/>
        </p:nvSpPr>
        <p:spPr>
          <a:xfrm>
            <a:off x="822960" y="2057400"/>
            <a:ext cx="420624" cy="420624"/>
          </a:xfrm>
          <a:prstGeom prst="ellipse">
            <a:avLst/>
          </a:prstGeom>
          <a:solidFill>
            <a:srgbClr val="0B1F3A"/>
          </a:solidFill>
          <a:ln/>
        </p:spPr>
      </p:sp>
      <p:sp>
        <p:nvSpPr>
          <p:cNvPr id="7" name="Text 5"/>
          <p:cNvSpPr txBox="1"/>
          <p:nvPr/>
        </p:nvSpPr>
        <p:spPr>
          <a:xfrm>
            <a:off x="822960" y="2057400"/>
            <a:ext cx="420624" cy="420624"/>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371600" y="2057400"/>
            <a:ext cx="4408780" cy="420624"/>
          </a:xfrm>
          <a:prstGeom prst="rect">
            <a:avLst/>
          </a:prstGeom>
          <a:noFill/>
          <a:ln/>
        </p:spPr>
        <p:txBody>
          <a:bodyPr wrap="square" lIns="0" tIns="0" rIns="0" bIns="0" rtlCol="0" anchor="ctr"/>
          <a:lstStyle/>
          <a:p>
            <a:pPr indent="0" marL="0">
              <a:buNone/>
            </a:pPr>
            <a:r>
              <a:rPr lang="en-US" sz="1800" b="1" dirty="0">
                <a:solidFill>
                  <a:srgbClr val="132038"/>
                </a:solidFill>
                <a:latin typeface="Cambria" pitchFamily="34" charset="0"/>
                <a:ea typeface="Cambria" pitchFamily="34" charset="-122"/>
                <a:cs typeface="Cambria" pitchFamily="34" charset="-120"/>
              </a:rPr>
              <a:t>swapBroken — pass by value</a:t>
            </a:r>
            <a:endParaRPr lang="en-US" sz="1800" dirty="0"/>
          </a:p>
        </p:txBody>
      </p:sp>
      <p:sp>
        <p:nvSpPr>
          <p:cNvPr id="9" name="Shape 7"/>
          <p:cNvSpPr/>
          <p:nvPr/>
        </p:nvSpPr>
        <p:spPr>
          <a:xfrm>
            <a:off x="822960" y="2651760"/>
            <a:ext cx="4865980" cy="1554480"/>
          </a:xfrm>
          <a:prstGeom prst="roundRect">
            <a:avLst>
              <a:gd name="adj" fmla="val 2941"/>
            </a:avLst>
          </a:prstGeom>
          <a:solidFill>
            <a:srgbClr val="E9EEF6"/>
          </a:solidFill>
          <a:ln/>
        </p:spPr>
      </p:sp>
      <p:sp>
        <p:nvSpPr>
          <p:cNvPr id="10" name="Text 8"/>
          <p:cNvSpPr txBox="1"/>
          <p:nvPr/>
        </p:nvSpPr>
        <p:spPr>
          <a:xfrm>
            <a:off x="960120" y="2743200"/>
            <a:ext cx="4591660" cy="1371600"/>
          </a:xfrm>
          <a:prstGeom prst="rect">
            <a:avLst/>
          </a:prstGeom>
          <a:noFill/>
          <a:ln/>
        </p:spPr>
        <p:txBody>
          <a:bodyPr wrap="square" lIns="0" tIns="0" rIns="0" bIns="0" rtlCol="0" anchor="t"/>
          <a:lstStyle/>
          <a:p>
            <a:pPr indent="0" marL="0">
              <a:lnSpc>
                <a:spcPct val="125000"/>
              </a:lnSpc>
              <a:buNone/>
            </a:pPr>
            <a:r>
              <a:rPr lang="en-US" sz="1250" dirty="0">
                <a:solidFill>
                  <a:srgbClr val="0B1F3A"/>
                </a:solidFill>
                <a:latin typeface="Courier New" pitchFamily="34" charset="0"/>
                <a:ea typeface="Courier New" pitchFamily="34" charset="-122"/>
                <a:cs typeface="Courier New" pitchFamily="34" charset="-120"/>
              </a:rPr>
              <a:t>void swapBroken(int a, int b) {</a:t>
            </a:r>
            <a:endParaRPr lang="en-US" sz="1250" dirty="0"/>
          </a:p>
          <a:p>
            <a:pPr indent="0" marL="0">
              <a:lnSpc>
                <a:spcPct val="125000"/>
              </a:lnSpc>
              <a:buNone/>
            </a:pPr>
            <a:r>
              <a:rPr lang="en-US" sz="1250" dirty="0">
                <a:solidFill>
                  <a:srgbClr val="0B1F3A"/>
                </a:solidFill>
                <a:latin typeface="Courier New" pitchFamily="34" charset="0"/>
                <a:ea typeface="Courier New" pitchFamily="34" charset="-122"/>
                <a:cs typeface="Courier New" pitchFamily="34" charset="-120"/>
              </a:rPr>
              <a:t>    int temp = a;</a:t>
            </a:r>
            <a:endParaRPr lang="en-US" sz="1250" dirty="0"/>
          </a:p>
          <a:p>
            <a:pPr indent="0" marL="0">
              <a:lnSpc>
                <a:spcPct val="125000"/>
              </a:lnSpc>
              <a:buNone/>
            </a:pPr>
            <a:r>
              <a:rPr lang="en-US" sz="1250" dirty="0">
                <a:solidFill>
                  <a:srgbClr val="0B1F3A"/>
                </a:solidFill>
                <a:latin typeface="Courier New" pitchFamily="34" charset="0"/>
                <a:ea typeface="Courier New" pitchFamily="34" charset="-122"/>
                <a:cs typeface="Courier New" pitchFamily="34" charset="-120"/>
              </a:rPr>
              <a:t>    a = b; b = temp;</a:t>
            </a:r>
            <a:endParaRPr lang="en-US" sz="1250" dirty="0"/>
          </a:p>
          <a:p>
            <a:pPr indent="0" marL="0">
              <a:lnSpc>
                <a:spcPct val="125000"/>
              </a:lnSpc>
              <a:buNone/>
            </a:pPr>
            <a:r>
              <a:rPr lang="en-US" sz="1250" dirty="0">
                <a:solidFill>
                  <a:srgbClr val="0B1F3A"/>
                </a:solidFill>
                <a:latin typeface="Courier New" pitchFamily="34" charset="0"/>
                <a:ea typeface="Courier New" pitchFamily="34" charset="-122"/>
                <a:cs typeface="Courier New" pitchFamily="34" charset="-120"/>
              </a:rPr>
              <a:t>}</a:t>
            </a:r>
            <a:endParaRPr lang="en-US" sz="1250" dirty="0"/>
          </a:p>
          <a:p>
            <a:pPr indent="0" marL="0">
              <a:lnSpc>
                <a:spcPct val="125000"/>
              </a:lnSpc>
              <a:buNone/>
            </a:pPr>
            <a:r>
              <a:rPr lang="en-US" sz="1250" dirty="0">
                <a:solidFill>
                  <a:srgbClr val="0B1F3A"/>
                </a:solidFill>
                <a:latin typeface="Courier New" pitchFamily="34" charset="0"/>
                <a:ea typeface="Courier New" pitchFamily="34" charset="-122"/>
                <a:cs typeface="Courier New" pitchFamily="34" charset="-120"/>
              </a:rPr>
              <a:t>swapBroken(x, y);  // x, y untouched</a:t>
            </a:r>
            <a:endParaRPr lang="en-US" sz="1250" dirty="0"/>
          </a:p>
        </p:txBody>
      </p:sp>
      <p:sp>
        <p:nvSpPr>
          <p:cNvPr id="11" name="Text 9"/>
          <p:cNvSpPr txBox="1"/>
          <p:nvPr/>
        </p:nvSpPr>
        <p:spPr>
          <a:xfrm>
            <a:off x="822960" y="4343400"/>
            <a:ext cx="4865980" cy="1280160"/>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30425E"/>
                </a:solidFill>
                <a:latin typeface="Calibri" pitchFamily="34" charset="0"/>
                <a:ea typeface="Calibri" pitchFamily="34" charset="-122"/>
                <a:cs typeface="Calibri" pitchFamily="34" charset="-120"/>
              </a:rPr>
              <a:t>C copies x and y's VALUES into a, b.</a:t>
            </a:r>
            <a:endParaRPr lang="en-US" sz="1350" dirty="0"/>
          </a:p>
          <a:p>
            <a:pPr marL="228600" indent="-228600">
              <a:spcAft>
                <a:spcPts val="1000"/>
              </a:spcAft>
              <a:buSzPct val="100000"/>
              <a:buChar char="▸"/>
            </a:pPr>
            <a:r>
              <a:rPr lang="en-US" sz="1350" dirty="0">
                <a:solidFill>
                  <a:srgbClr val="30425E"/>
                </a:solidFill>
                <a:latin typeface="Calibri" pitchFamily="34" charset="0"/>
                <a:ea typeface="Calibri" pitchFamily="34" charset="-122"/>
                <a:cs typeface="Calibri" pitchFamily="34" charset="-120"/>
              </a:rPr>
              <a:t>Swapping the copies never touches x, y.</a:t>
            </a:r>
            <a:endParaRPr lang="en-US" sz="1350" dirty="0"/>
          </a:p>
        </p:txBody>
      </p:sp>
      <p:sp>
        <p:nvSpPr>
          <p:cNvPr id="12" name="Shape 10"/>
          <p:cNvSpPr/>
          <p:nvPr/>
        </p:nvSpPr>
        <p:spPr>
          <a:xfrm>
            <a:off x="6228436" y="1783080"/>
            <a:ext cx="5414620" cy="3977640"/>
          </a:xfrm>
          <a:prstGeom prst="roundRect">
            <a:avLst>
              <a:gd name="adj" fmla="val 2069"/>
            </a:avLst>
          </a:prstGeom>
          <a:solidFill>
            <a:srgbClr val="FFFFFF"/>
          </a:solidFill>
          <a:ln w="12700">
            <a:solidFill>
              <a:srgbClr val="DCE2EC"/>
            </a:solidFill>
            <a:prstDash val="solid"/>
          </a:ln>
        </p:spPr>
      </p:sp>
      <p:sp>
        <p:nvSpPr>
          <p:cNvPr id="13" name="Shape 11"/>
          <p:cNvSpPr/>
          <p:nvPr/>
        </p:nvSpPr>
        <p:spPr>
          <a:xfrm>
            <a:off x="6502756" y="2057400"/>
            <a:ext cx="420624" cy="420624"/>
          </a:xfrm>
          <a:prstGeom prst="ellipse">
            <a:avLst/>
          </a:prstGeom>
          <a:solidFill>
            <a:srgbClr val="0B1F3A"/>
          </a:solidFill>
          <a:ln/>
        </p:spPr>
      </p:sp>
      <p:sp>
        <p:nvSpPr>
          <p:cNvPr id="14" name="Text 12"/>
          <p:cNvSpPr txBox="1"/>
          <p:nvPr/>
        </p:nvSpPr>
        <p:spPr>
          <a:xfrm>
            <a:off x="6502756" y="2057400"/>
            <a:ext cx="420624" cy="420624"/>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7051396" y="2057400"/>
            <a:ext cx="4408780" cy="420624"/>
          </a:xfrm>
          <a:prstGeom prst="rect">
            <a:avLst/>
          </a:prstGeom>
          <a:noFill/>
          <a:ln/>
        </p:spPr>
        <p:txBody>
          <a:bodyPr wrap="square" lIns="0" tIns="0" rIns="0" bIns="0" rtlCol="0" anchor="ctr"/>
          <a:lstStyle/>
          <a:p>
            <a:pPr indent="0" marL="0">
              <a:buNone/>
            </a:pPr>
            <a:r>
              <a:rPr lang="en-US" sz="1800" b="1" dirty="0">
                <a:solidFill>
                  <a:srgbClr val="132038"/>
                </a:solidFill>
                <a:latin typeface="Cambria" pitchFamily="34" charset="0"/>
                <a:ea typeface="Cambria" pitchFamily="34" charset="-122"/>
                <a:cs typeface="Cambria" pitchFamily="34" charset="-120"/>
              </a:rPr>
              <a:t>swapWorks — pass by pointer</a:t>
            </a:r>
            <a:endParaRPr lang="en-US" sz="1800" dirty="0"/>
          </a:p>
        </p:txBody>
      </p:sp>
      <p:sp>
        <p:nvSpPr>
          <p:cNvPr id="16" name="Shape 14"/>
          <p:cNvSpPr/>
          <p:nvPr/>
        </p:nvSpPr>
        <p:spPr>
          <a:xfrm>
            <a:off x="6502756" y="2651760"/>
            <a:ext cx="4865980" cy="1554480"/>
          </a:xfrm>
          <a:prstGeom prst="roundRect">
            <a:avLst>
              <a:gd name="adj" fmla="val 2941"/>
            </a:avLst>
          </a:prstGeom>
          <a:solidFill>
            <a:srgbClr val="E9EEF6"/>
          </a:solidFill>
          <a:ln/>
        </p:spPr>
      </p:sp>
      <p:sp>
        <p:nvSpPr>
          <p:cNvPr id="17" name="Text 15"/>
          <p:cNvSpPr txBox="1"/>
          <p:nvPr/>
        </p:nvSpPr>
        <p:spPr>
          <a:xfrm>
            <a:off x="6639916" y="2743200"/>
            <a:ext cx="4591660" cy="1371600"/>
          </a:xfrm>
          <a:prstGeom prst="rect">
            <a:avLst/>
          </a:prstGeom>
          <a:noFill/>
          <a:ln/>
        </p:spPr>
        <p:txBody>
          <a:bodyPr wrap="square" lIns="0" tIns="0" rIns="0" bIns="0" rtlCol="0" anchor="t"/>
          <a:lstStyle/>
          <a:p>
            <a:pPr indent="0" marL="0">
              <a:lnSpc>
                <a:spcPct val="125000"/>
              </a:lnSpc>
              <a:buNone/>
            </a:pPr>
            <a:r>
              <a:rPr lang="en-US" sz="1250" dirty="0">
                <a:solidFill>
                  <a:srgbClr val="0B1F3A"/>
                </a:solidFill>
                <a:latin typeface="Courier New" pitchFamily="34" charset="0"/>
                <a:ea typeface="Courier New" pitchFamily="34" charset="-122"/>
                <a:cs typeface="Courier New" pitchFamily="34" charset="-120"/>
              </a:rPr>
              <a:t>void swapWorks(int *a, int *b) {</a:t>
            </a:r>
            <a:endParaRPr lang="en-US" sz="1250" dirty="0"/>
          </a:p>
          <a:p>
            <a:pPr indent="0" marL="0">
              <a:lnSpc>
                <a:spcPct val="125000"/>
              </a:lnSpc>
              <a:buNone/>
            </a:pPr>
            <a:r>
              <a:rPr lang="en-US" sz="1250" dirty="0">
                <a:solidFill>
                  <a:srgbClr val="0B1F3A"/>
                </a:solidFill>
                <a:latin typeface="Courier New" pitchFamily="34" charset="0"/>
                <a:ea typeface="Courier New" pitchFamily="34" charset="-122"/>
                <a:cs typeface="Courier New" pitchFamily="34" charset="-120"/>
              </a:rPr>
              <a:t>    int temp = *a;</a:t>
            </a:r>
            <a:endParaRPr lang="en-US" sz="1250" dirty="0"/>
          </a:p>
          <a:p>
            <a:pPr indent="0" marL="0">
              <a:lnSpc>
                <a:spcPct val="125000"/>
              </a:lnSpc>
              <a:buNone/>
            </a:pPr>
            <a:r>
              <a:rPr lang="en-US" sz="1250" dirty="0">
                <a:solidFill>
                  <a:srgbClr val="0B1F3A"/>
                </a:solidFill>
                <a:latin typeface="Courier New" pitchFamily="34" charset="0"/>
                <a:ea typeface="Courier New" pitchFamily="34" charset="-122"/>
                <a:cs typeface="Courier New" pitchFamily="34" charset="-120"/>
              </a:rPr>
              <a:t>    *a = *b; *b = temp;</a:t>
            </a:r>
            <a:endParaRPr lang="en-US" sz="1250" dirty="0"/>
          </a:p>
          <a:p>
            <a:pPr indent="0" marL="0">
              <a:lnSpc>
                <a:spcPct val="125000"/>
              </a:lnSpc>
              <a:buNone/>
            </a:pPr>
            <a:r>
              <a:rPr lang="en-US" sz="1250" dirty="0">
                <a:solidFill>
                  <a:srgbClr val="0B1F3A"/>
                </a:solidFill>
                <a:latin typeface="Courier New" pitchFamily="34" charset="0"/>
                <a:ea typeface="Courier New" pitchFamily="34" charset="-122"/>
                <a:cs typeface="Courier New" pitchFamily="34" charset="-120"/>
              </a:rPr>
              <a:t>}</a:t>
            </a:r>
            <a:endParaRPr lang="en-US" sz="1250" dirty="0"/>
          </a:p>
          <a:p>
            <a:pPr indent="0" marL="0">
              <a:lnSpc>
                <a:spcPct val="125000"/>
              </a:lnSpc>
              <a:buNone/>
            </a:pPr>
            <a:r>
              <a:rPr lang="en-US" sz="1250" dirty="0">
                <a:solidFill>
                  <a:srgbClr val="0B1F3A"/>
                </a:solidFill>
                <a:latin typeface="Courier New" pitchFamily="34" charset="0"/>
                <a:ea typeface="Courier New" pitchFamily="34" charset="-122"/>
                <a:cs typeface="Courier New" pitchFamily="34" charset="-120"/>
              </a:rPr>
              <a:t>swapWorks(&amp;x, &amp;y); // really swaps!</a:t>
            </a:r>
            <a:endParaRPr lang="en-US" sz="1250" dirty="0"/>
          </a:p>
        </p:txBody>
      </p:sp>
      <p:sp>
        <p:nvSpPr>
          <p:cNvPr id="18" name="Text 16"/>
          <p:cNvSpPr txBox="1"/>
          <p:nvPr/>
        </p:nvSpPr>
        <p:spPr>
          <a:xfrm>
            <a:off x="6502756" y="4343400"/>
            <a:ext cx="4865980" cy="1280160"/>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30425E"/>
                </a:solidFill>
                <a:latin typeface="Calibri" pitchFamily="34" charset="0"/>
                <a:ea typeface="Calibri" pitchFamily="34" charset="-122"/>
                <a:cs typeface="Calibri" pitchFamily="34" charset="-120"/>
              </a:rPr>
              <a:t>a holds x's address, b holds y's.</a:t>
            </a:r>
            <a:endParaRPr lang="en-US" sz="1350" dirty="0"/>
          </a:p>
          <a:p>
            <a:pPr marL="228600" indent="-228600">
              <a:spcAft>
                <a:spcPts val="1000"/>
              </a:spcAft>
              <a:buSzPct val="100000"/>
              <a:buChar char="▸"/>
            </a:pPr>
            <a:r>
              <a:rPr lang="en-US" sz="1350" dirty="0">
                <a:solidFill>
                  <a:srgbClr val="30425E"/>
                </a:solidFill>
                <a:latin typeface="Calibri" pitchFamily="34" charset="0"/>
                <a:ea typeface="Calibri" pitchFamily="34" charset="-122"/>
                <a:cs typeface="Calibri" pitchFamily="34" charset="-120"/>
              </a:rPr>
              <a:t>*a and *b reach back into main and swap the real thing.</a:t>
            </a:r>
            <a:endParaRPr lang="en-US" sz="1350" dirty="0"/>
          </a:p>
        </p:txBody>
      </p:sp>
      <p:sp>
        <p:nvSpPr>
          <p:cNvPr id="19" name="Text 17"/>
          <p:cNvSpPr txBox="1"/>
          <p:nvPr/>
        </p:nvSpPr>
        <p:spPr>
          <a:xfrm>
            <a:off x="548640" y="5925312"/>
            <a:ext cx="11094415" cy="457200"/>
          </a:xfrm>
          <a:prstGeom prst="rect">
            <a:avLst/>
          </a:prstGeom>
          <a:noFill/>
          <a:ln/>
        </p:spPr>
        <p:txBody>
          <a:bodyPr wrap="square" lIns="0" tIns="0" rIns="0" bIns="0" rtlCol="0" anchor="ctr"/>
          <a:lstStyle/>
          <a:p>
            <a:pPr indent="0" marL="0">
              <a:buNone/>
            </a:pPr>
            <a:r>
              <a:rPr lang="en-US" sz="1250" i="1" dirty="0">
                <a:solidFill>
                  <a:srgbClr val="5B6B82"/>
                </a:solidFill>
                <a:latin typeface="Calibri" pitchFamily="34" charset="0"/>
                <a:ea typeface="Calibri" pitchFamily="34" charset="-122"/>
                <a:cs typeface="Calibri" pitchFamily="34" charset="-120"/>
              </a:rPr>
              <a:t>C has no separate “pass by reference” keyword. Pointers are how C does it — explicitly, with &amp; at the call and * inside the function.</a:t>
            </a:r>
            <a:endParaRPr lang="en-US" sz="1250" dirty="0"/>
          </a:p>
        </p:txBody>
      </p:sp>
      <p:sp>
        <p:nvSpPr>
          <p:cNvPr id="20" name="Text 18"/>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7 — POINTERS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754197" cy="310896"/>
          </a:xfrm>
          <a:prstGeom prst="roundRect">
            <a:avLst>
              <a:gd name="adj" fmla="val 50000"/>
            </a:avLst>
          </a:prstGeom>
          <a:solidFill>
            <a:srgbClr val="0B1F3A"/>
          </a:solidFill>
          <a:ln/>
        </p:spPr>
      </p:sp>
      <p:sp>
        <p:nvSpPr>
          <p:cNvPr id="3" name="Text 1"/>
          <p:cNvSpPr txBox="1"/>
          <p:nvPr/>
        </p:nvSpPr>
        <p:spPr>
          <a:xfrm>
            <a:off x="548640" y="502920"/>
            <a:ext cx="754197"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700" b="1" dirty="0">
                <a:solidFill>
                  <a:srgbClr val="132038"/>
                </a:solidFill>
                <a:latin typeface="Cambria" pitchFamily="34" charset="0"/>
                <a:ea typeface="Cambria" pitchFamily="34" charset="-122"/>
                <a:cs typeface="Cambria" pitchFamily="34" charset="-120"/>
              </a:rPr>
              <a:t>Arrays and pointers: Module 6's mystery, solved</a:t>
            </a:r>
            <a:endParaRPr lang="en-US" sz="2700" dirty="0"/>
          </a:p>
        </p:txBody>
      </p:sp>
      <p:sp>
        <p:nvSpPr>
          <p:cNvPr id="5" name="Shape 3"/>
          <p:cNvSpPr/>
          <p:nvPr/>
        </p:nvSpPr>
        <p:spPr>
          <a:xfrm>
            <a:off x="548640" y="1600200"/>
            <a:ext cx="6949440" cy="3749040"/>
          </a:xfrm>
          <a:prstGeom prst="roundRect">
            <a:avLst>
              <a:gd name="adj" fmla="val 2195"/>
            </a:avLst>
          </a:prstGeom>
          <a:solidFill>
            <a:srgbClr val="102841"/>
          </a:solidFill>
          <a:ln/>
          <a:effectLst>
            <a:outerShdw sx="100000" sy="100000" kx="0" ky="0" algn="bl" rotWithShape="0" blurRad="101600" dist="38100" dir="5400000">
              <a:srgbClr val="0B1F3A">
                <a:alpha val="28000"/>
              </a:srgbClr>
            </a:outerShdw>
          </a:effectLst>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1371600" y="1682496"/>
            <a:ext cx="5943600" cy="274320"/>
          </a:xfrm>
          <a:prstGeom prst="rect">
            <a:avLst/>
          </a:prstGeom>
          <a:noFill/>
          <a:ln/>
        </p:spPr>
        <p:txBody>
          <a:bodyPr wrap="square" lIns="0" tIns="0" rIns="0" bIns="0" rtlCol="0" anchor="ctr"/>
          <a:lstStyle/>
          <a:p>
            <a:pPr indent="0" marL="0">
              <a:buNone/>
            </a:pPr>
            <a:r>
              <a:rPr lang="en-US" sz="1100" dirty="0">
                <a:solidFill>
                  <a:srgbClr val="8CA3C2"/>
                </a:solidFill>
                <a:latin typeface="Courier New" pitchFamily="34" charset="0"/>
                <a:ea typeface="Courier New" pitchFamily="34" charset="-122"/>
                <a:cs typeface="Courier New" pitchFamily="34" charset="-120"/>
              </a:rPr>
              <a:t>05_arrays_and_pointers.c</a:t>
            </a:r>
            <a:endParaRPr lang="en-US" sz="1100" dirty="0"/>
          </a:p>
        </p:txBody>
      </p:sp>
      <p:sp>
        <p:nvSpPr>
          <p:cNvPr id="10" name="Text 8"/>
          <p:cNvSpPr txBox="1"/>
          <p:nvPr/>
        </p:nvSpPr>
        <p:spPr>
          <a:xfrm>
            <a:off x="804672" y="2039112"/>
            <a:ext cx="6492240" cy="3172968"/>
          </a:xfrm>
          <a:prstGeom prst="rect">
            <a:avLst/>
          </a:prstGeom>
          <a:noFill/>
          <a:ln/>
        </p:spPr>
        <p:txBody>
          <a:bodyPr wrap="square" lIns="0" tIns="0" rIns="0" bIns="0" rtlCol="0" anchor="t"/>
          <a:lstStyle/>
          <a:p>
            <a:pPr indent="0" marL="0">
              <a:lnSpc>
                <a:spcPct val="128000"/>
              </a:lnSpc>
              <a:buNone/>
            </a:pPr>
            <a:r>
              <a:rPr lang="en-US" sz="1700" dirty="0">
                <a:solidFill>
                  <a:srgbClr val="E7EDF6"/>
                </a:solidFill>
                <a:latin typeface="Courier New" pitchFamily="34" charset="0"/>
                <a:ea typeface="Courier New" pitchFamily="34" charset="-122"/>
                <a:cs typeface="Courier New" pitchFamily="34" charset="-120"/>
              </a:rPr>
              <a:t>int findMax(int arr[], int size) { ... }</a:t>
            </a:r>
            <a:endParaRPr lang="en-US" sz="1700" dirty="0"/>
          </a:p>
          <a:p>
            <a:pPr indent="0" marL="0">
              <a:lnSpc>
                <a:spcPct val="128000"/>
              </a:lnSpc>
              <a:buNone/>
            </a:pPr>
            <a:r>
              <a:rPr lang="en-US" sz="1700" dirty="0">
                <a:solidFill>
                  <a:srgbClr val="E7EDF6"/>
                </a:solidFill>
                <a:latin typeface="Courier New" pitchFamily="34" charset="0"/>
                <a:ea typeface="Courier New" pitchFamily="34" charset="-122"/>
                <a:cs typeface="Courier New" pitchFamily="34" charset="-120"/>
              </a:rPr>
              <a:t>int findMax(int *arr, int size)  { ... }</a:t>
            </a:r>
            <a:endParaRPr lang="en-US" sz="1700" dirty="0"/>
          </a:p>
          <a:p>
            <a:pPr indent="0" marL="0">
              <a:lnSpc>
                <a:spcPct val="128000"/>
              </a:lnSpc>
              <a:buNone/>
            </a:pPr>
            <a:r>
              <a:rPr lang="en-US" sz="1700" dirty="0">
                <a:solidFill>
                  <a:srgbClr val="E7EDF6"/>
                </a:solidFill>
                <a:latin typeface="Courier New" pitchFamily="34" charset="0"/>
                <a:ea typeface="Courier New" pitchFamily="34" charset="-122"/>
                <a:cs typeface="Courier New" pitchFamily="34" charset="-120"/>
              </a:rPr>
              <a:t>// exactly the same function</a:t>
            </a:r>
            <a:endParaRPr lang="en-US" sz="1700" dirty="0"/>
          </a:p>
        </p:txBody>
      </p:sp>
      <p:sp>
        <p:nvSpPr>
          <p:cNvPr id="11" name="Shape 9"/>
          <p:cNvSpPr/>
          <p:nvPr/>
        </p:nvSpPr>
        <p:spPr>
          <a:xfrm>
            <a:off x="548640" y="5513832"/>
            <a:ext cx="6949440" cy="621792"/>
          </a:xfrm>
          <a:prstGeom prst="roundRect">
            <a:avLst>
              <a:gd name="adj" fmla="val 11765"/>
            </a:avLst>
          </a:prstGeom>
          <a:solidFill>
            <a:srgbClr val="0B1F3A"/>
          </a:solidFill>
          <a:ln/>
          <a:effectLst>
            <a:outerShdw sx="100000" sy="100000" kx="0" ky="0" algn="bl" rotWithShape="0" blurRad="101600" dist="38100" dir="5400000">
              <a:srgbClr val="0B1F3A">
                <a:alpha val="28000"/>
              </a:srgbClr>
            </a:outerShdw>
          </a:effectLst>
        </p:spPr>
      </p:sp>
      <p:sp>
        <p:nvSpPr>
          <p:cNvPr id="12" name="Text 10"/>
          <p:cNvSpPr txBox="1"/>
          <p:nvPr/>
        </p:nvSpPr>
        <p:spPr>
          <a:xfrm>
            <a:off x="749808" y="5513832"/>
            <a:ext cx="6547104" cy="621792"/>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 </a:t>
            </a:r>
            <a:pPr indent="0" marL="0">
              <a:buNone/>
            </a:pPr>
            <a:r>
              <a:rPr lang="en-US" sz="1300" b="1" dirty="0">
                <a:solidFill>
                  <a:srgbClr val="F5F8FC"/>
                </a:solidFill>
                <a:latin typeface="Calibri" pitchFamily="34" charset="0"/>
                <a:ea typeface="Calibri" pitchFamily="34" charset="-122"/>
                <a:cs typeface="Calibri" pitchFamily="34" charset="-120"/>
              </a:rPr>
              <a:t>passing an array decays it into a pointer to its first element.</a:t>
            </a:r>
            <a:endParaRPr lang="en-US" sz="1300" dirty="0"/>
          </a:p>
        </p:txBody>
      </p:sp>
      <p:sp>
        <p:nvSpPr>
          <p:cNvPr id="13" name="Text 11"/>
          <p:cNvSpPr txBox="1"/>
          <p:nvPr/>
        </p:nvSpPr>
        <p:spPr>
          <a:xfrm>
            <a:off x="7909560" y="1691640"/>
            <a:ext cx="3733495" cy="4480560"/>
          </a:xfrm>
          <a:prstGeom prst="rect">
            <a:avLst/>
          </a:prstGeom>
          <a:noFill/>
          <a:ln/>
        </p:spPr>
        <p:txBody>
          <a:bodyPr wrap="square" lIns="0" tIns="0" rIns="0" bIns="0" rtlCol="0" anchor="t"/>
          <a:lstStyle/>
          <a:p>
            <a:pPr indent="0" marL="0">
              <a:spcAft>
                <a:spcPts val="1400"/>
              </a:spcAft>
              <a:buNone/>
            </a:pPr>
            <a:r>
              <a:rPr lang="en-US" sz="1500" dirty="0">
                <a:solidFill>
                  <a:srgbClr val="30425E"/>
                </a:solidFill>
                <a:latin typeface="Calibri" pitchFamily="34" charset="0"/>
                <a:ea typeface="Calibri" pitchFamily="34" charset="-122"/>
                <a:cs typeface="Calibri" pitchFamily="34" charset="-120"/>
              </a:rPr>
              <a:t>You were never passing a copy of the whole array — you were passing an address, exactly like &amp;x, whether you wrote &amp; or not.</a:t>
            </a:r>
            <a:endParaRPr lang="en-US" sz="1500" dirty="0"/>
          </a:p>
          <a:p>
            <a:pPr indent="0" marL="0">
              <a:spcAft>
                <a:spcPts val="1400"/>
              </a:spcAft>
              <a:buNone/>
            </a:pPr>
            <a:r>
              <a:rPr lang="en-US" sz="1500" dirty="0">
                <a:solidFill>
                  <a:srgbClr val="30425E"/>
                </a:solidFill>
                <a:latin typeface="Calibri" pitchFamily="34" charset="0"/>
                <a:ea typeface="Calibri" pitchFamily="34" charset="-122"/>
                <a:cs typeface="Calibri" pitchFamily="34" charset="-120"/>
              </a:rPr>
              <a:t>arr[i] still works either way — it's just friendlier notation for the address arr holds, i slots along.</a:t>
            </a:r>
            <a:endParaRPr lang="en-US" sz="1500" dirty="0"/>
          </a:p>
        </p:txBody>
      </p:sp>
      <p:sp>
        <p:nvSpPr>
          <p:cNvPr id="14" name="Text 12"/>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7 — POINTERS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754197" cy="310896"/>
          </a:xfrm>
          <a:prstGeom prst="roundRect">
            <a:avLst>
              <a:gd name="adj" fmla="val 50000"/>
            </a:avLst>
          </a:prstGeom>
          <a:solidFill>
            <a:srgbClr val="0B1F3A"/>
          </a:solidFill>
          <a:ln/>
        </p:spPr>
      </p:sp>
      <p:sp>
        <p:nvSpPr>
          <p:cNvPr id="3" name="Text 1"/>
          <p:cNvSpPr txBox="1"/>
          <p:nvPr/>
        </p:nvSpPr>
        <p:spPr>
          <a:xfrm>
            <a:off x="548640" y="502920"/>
            <a:ext cx="754197"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700" b="1" dirty="0">
                <a:solidFill>
                  <a:srgbClr val="132038"/>
                </a:solidFill>
                <a:latin typeface="Cambria" pitchFamily="34" charset="0"/>
                <a:ea typeface="Cambria" pitchFamily="34" charset="-122"/>
                <a:cs typeface="Cambria" pitchFamily="34" charset="-120"/>
              </a:rPr>
              <a:t>NULL pointers</a:t>
            </a:r>
            <a:endParaRPr lang="en-US" sz="2700" dirty="0"/>
          </a:p>
        </p:txBody>
      </p:sp>
      <p:sp>
        <p:nvSpPr>
          <p:cNvPr id="5" name="Shape 3"/>
          <p:cNvSpPr/>
          <p:nvPr/>
        </p:nvSpPr>
        <p:spPr>
          <a:xfrm>
            <a:off x="548640" y="1600200"/>
            <a:ext cx="6949440" cy="3749040"/>
          </a:xfrm>
          <a:prstGeom prst="roundRect">
            <a:avLst>
              <a:gd name="adj" fmla="val 2195"/>
            </a:avLst>
          </a:prstGeom>
          <a:solidFill>
            <a:srgbClr val="102841"/>
          </a:solidFill>
          <a:ln/>
          <a:effectLst>
            <a:outerShdw sx="100000" sy="100000" kx="0" ky="0" algn="bl" rotWithShape="0" blurRad="101600" dist="38100" dir="5400000">
              <a:srgbClr val="0B1F3A">
                <a:alpha val="28000"/>
              </a:srgbClr>
            </a:outerShdw>
          </a:effectLst>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1371600" y="1682496"/>
            <a:ext cx="5943600" cy="274320"/>
          </a:xfrm>
          <a:prstGeom prst="rect">
            <a:avLst/>
          </a:prstGeom>
          <a:noFill/>
          <a:ln/>
        </p:spPr>
        <p:txBody>
          <a:bodyPr wrap="square" lIns="0" tIns="0" rIns="0" bIns="0" rtlCol="0" anchor="ctr"/>
          <a:lstStyle/>
          <a:p>
            <a:pPr indent="0" marL="0">
              <a:buNone/>
            </a:pPr>
            <a:r>
              <a:rPr lang="en-US" sz="1100" dirty="0">
                <a:solidFill>
                  <a:srgbClr val="8CA3C2"/>
                </a:solidFill>
                <a:latin typeface="Courier New" pitchFamily="34" charset="0"/>
                <a:ea typeface="Courier New" pitchFamily="34" charset="-122"/>
                <a:cs typeface="Courier New" pitchFamily="34" charset="-120"/>
              </a:rPr>
              <a:t>06_null_pointers.c</a:t>
            </a:r>
            <a:endParaRPr lang="en-US" sz="1100" dirty="0"/>
          </a:p>
        </p:txBody>
      </p:sp>
      <p:sp>
        <p:nvSpPr>
          <p:cNvPr id="10" name="Text 8"/>
          <p:cNvSpPr txBox="1"/>
          <p:nvPr/>
        </p:nvSpPr>
        <p:spPr>
          <a:xfrm>
            <a:off x="804672" y="2039112"/>
            <a:ext cx="6492240" cy="3172968"/>
          </a:xfrm>
          <a:prstGeom prst="rect">
            <a:avLst/>
          </a:prstGeom>
          <a:noFill/>
          <a:ln/>
        </p:spPr>
        <p:txBody>
          <a:bodyPr wrap="square" lIns="0" tIns="0" rIns="0" bIns="0" rtlCol="0" anchor="t"/>
          <a:lstStyle/>
          <a:p>
            <a:pPr indent="0" marL="0">
              <a:lnSpc>
                <a:spcPct val="128000"/>
              </a:lnSpc>
              <a:buNone/>
            </a:pPr>
            <a:r>
              <a:rPr lang="en-US" sz="1500" dirty="0">
                <a:solidFill>
                  <a:srgbClr val="E7EDF6"/>
                </a:solidFill>
                <a:latin typeface="Courier New" pitchFamily="34" charset="0"/>
                <a:ea typeface="Courier New" pitchFamily="34" charset="-122"/>
                <a:cs typeface="Courier New" pitchFamily="34" charset="-120"/>
              </a:rPr>
              <a:t>int *p = NULL;</a:t>
            </a:r>
            <a:endParaRPr lang="en-US" sz="1500" dirty="0"/>
          </a:p>
          <a:p>
            <a:pPr indent="0" marL="0">
              <a:lnSpc>
                <a:spcPct val="128000"/>
              </a:lnSpc>
              <a:buNone/>
            </a:pPr>
            <a:endParaRPr lang="en-US" sz="1500" dirty="0"/>
          </a:p>
          <a:p>
            <a:pPr indent="0" marL="0">
              <a:lnSpc>
                <a:spcPct val="128000"/>
              </a:lnSpc>
              <a:buNone/>
            </a:pPr>
            <a:r>
              <a:rPr lang="en-US" sz="1500" dirty="0">
                <a:solidFill>
                  <a:srgbClr val="E7EDF6"/>
                </a:solidFill>
                <a:latin typeface="Courier New" pitchFamily="34" charset="0"/>
                <a:ea typeface="Courier New" pitchFamily="34" charset="-122"/>
                <a:cs typeface="Courier New" pitchFamily="34" charset="-120"/>
              </a:rPr>
              <a:t>if (p != NULL) {</a:t>
            </a:r>
            <a:endParaRPr lang="en-US" sz="1500" dirty="0"/>
          </a:p>
          <a:p>
            <a:pPr indent="0" marL="0">
              <a:lnSpc>
                <a:spcPct val="128000"/>
              </a:lnSpc>
              <a:buNone/>
            </a:pPr>
            <a:r>
              <a:rPr lang="en-US" sz="1500" dirty="0">
                <a:solidFill>
                  <a:srgbClr val="E7EDF6"/>
                </a:solidFill>
                <a:latin typeface="Courier New" pitchFamily="34" charset="0"/>
                <a:ea typeface="Courier New" pitchFamily="34" charset="-122"/>
                <a:cs typeface="Courier New" pitchFamily="34" charset="-120"/>
              </a:rPr>
              <a:t>    printf("%d\n", *p);</a:t>
            </a:r>
            <a:endParaRPr lang="en-US" sz="1500" dirty="0"/>
          </a:p>
          <a:p>
            <a:pPr indent="0" marL="0">
              <a:lnSpc>
                <a:spcPct val="128000"/>
              </a:lnSpc>
              <a:buNone/>
            </a:pPr>
            <a:r>
              <a:rPr lang="en-US" sz="1500" dirty="0">
                <a:solidFill>
                  <a:srgbClr val="E7EDF6"/>
                </a:solidFill>
                <a:latin typeface="Courier New" pitchFamily="34" charset="0"/>
                <a:ea typeface="Courier New" pitchFamily="34" charset="-122"/>
                <a:cs typeface="Courier New" pitchFamily="34" charset="-120"/>
              </a:rPr>
              <a:t>} else {</a:t>
            </a:r>
            <a:endParaRPr lang="en-US" sz="1500" dirty="0"/>
          </a:p>
          <a:p>
            <a:pPr indent="0" marL="0">
              <a:lnSpc>
                <a:spcPct val="128000"/>
              </a:lnSpc>
              <a:buNone/>
            </a:pPr>
            <a:r>
              <a:rPr lang="en-US" sz="1500" dirty="0">
                <a:solidFill>
                  <a:srgbClr val="E7EDF6"/>
                </a:solidFill>
                <a:latin typeface="Courier New" pitchFamily="34" charset="0"/>
                <a:ea typeface="Courier New" pitchFamily="34" charset="-122"/>
                <a:cs typeface="Courier New" pitchFamily="34" charset="-120"/>
              </a:rPr>
              <a:t>    printf("p isn't pointing anywhere yet.\n");</a:t>
            </a:r>
            <a:endParaRPr lang="en-US" sz="1500" dirty="0"/>
          </a:p>
          <a:p>
            <a:pPr indent="0" marL="0">
              <a:lnSpc>
                <a:spcPct val="128000"/>
              </a:lnSpc>
              <a:buNone/>
            </a:pPr>
            <a:r>
              <a:rPr lang="en-US" sz="1500" dirty="0">
                <a:solidFill>
                  <a:srgbClr val="E7EDF6"/>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548640" y="5513832"/>
            <a:ext cx="6949440" cy="621792"/>
          </a:xfrm>
          <a:prstGeom prst="roundRect">
            <a:avLst>
              <a:gd name="adj" fmla="val 11765"/>
            </a:avLst>
          </a:prstGeom>
          <a:solidFill>
            <a:srgbClr val="0B1F3A"/>
          </a:solidFill>
          <a:ln/>
          <a:effectLst>
            <a:outerShdw sx="100000" sy="100000" kx="0" ky="0" algn="bl" rotWithShape="0" blurRad="101600" dist="38100" dir="5400000">
              <a:srgbClr val="0B1F3A">
                <a:alpha val="28000"/>
              </a:srgbClr>
            </a:outerShdw>
          </a:effectLst>
        </p:spPr>
      </p:sp>
      <p:sp>
        <p:nvSpPr>
          <p:cNvPr id="12" name="Text 10"/>
          <p:cNvSpPr txBox="1"/>
          <p:nvPr/>
        </p:nvSpPr>
        <p:spPr>
          <a:xfrm>
            <a:off x="749808" y="5513832"/>
            <a:ext cx="6547104" cy="621792"/>
          </a:xfrm>
          <a:prstGeom prst="rect">
            <a:avLst/>
          </a:prstGeom>
          <a:noFill/>
          <a:ln/>
        </p:spPr>
        <p:txBody>
          <a:bodyPr wrap="square" lIns="0" tIns="0" rIns="0" bIns="0" rtlCol="0" anchor="ctr"/>
          <a:lstStyle/>
          <a:p>
            <a:pPr indent="0" marL="0">
              <a:buNone/>
            </a:pPr>
            <a:r>
              <a:rPr lang="en-US" sz="1300" b="1" dirty="0">
                <a:solidFill>
                  <a:srgbClr val="3DDC84"/>
                </a:solidFill>
                <a:latin typeface="Calibri" pitchFamily="34" charset="0"/>
                <a:ea typeface="Calibri" pitchFamily="34" charset="-122"/>
                <a:cs typeface="Calibri" pitchFamily="34" charset="-120"/>
              </a:rPr>
              <a:t>▸ </a:t>
            </a:r>
            <a:pPr indent="0" marL="0">
              <a:buNone/>
            </a:pPr>
            <a:r>
              <a:rPr lang="en-US" sz="1300" b="1" dirty="0">
                <a:solidFill>
                  <a:srgbClr val="F5F8FC"/>
                </a:solidFill>
                <a:latin typeface="Calibri" pitchFamily="34" charset="0"/>
                <a:ea typeface="Calibri" pitchFamily="34" charset="-122"/>
                <a:cs typeface="Calibri" pitchFamily="34" charset="-120"/>
              </a:rPr>
              <a:t>always check for NULL before dereferencing a pointer you're not certain has been pointed at something.</a:t>
            </a:r>
            <a:endParaRPr lang="en-US" sz="1300" dirty="0"/>
          </a:p>
        </p:txBody>
      </p:sp>
      <p:sp>
        <p:nvSpPr>
          <p:cNvPr id="13" name="Text 11"/>
          <p:cNvSpPr txBox="1"/>
          <p:nvPr/>
        </p:nvSpPr>
        <p:spPr>
          <a:xfrm>
            <a:off x="7909560" y="1691640"/>
            <a:ext cx="3733495" cy="4480560"/>
          </a:xfrm>
          <a:prstGeom prst="rect">
            <a:avLst/>
          </a:prstGeom>
          <a:noFill/>
          <a:ln/>
        </p:spPr>
        <p:txBody>
          <a:bodyPr wrap="square" lIns="0" tIns="0" rIns="0" bIns="0" rtlCol="0" anchor="t"/>
          <a:lstStyle/>
          <a:p>
            <a:pPr indent="0" marL="0">
              <a:spcAft>
                <a:spcPts val="1400"/>
              </a:spcAft>
              <a:buNone/>
            </a:pPr>
            <a:r>
              <a:rPr lang="en-US" sz="1500" dirty="0">
                <a:solidFill>
                  <a:srgbClr val="30425E"/>
                </a:solidFill>
                <a:latin typeface="Calibri" pitchFamily="34" charset="0"/>
                <a:ea typeface="Calibri" pitchFamily="34" charset="-122"/>
                <a:cs typeface="Calibri" pitchFamily="34" charset="-120"/>
              </a:rPr>
              <a:t>A pointer not pointing at a real variable yet should be set to NULL — “this points to nothing, on purpose.”</a:t>
            </a:r>
            <a:endParaRPr lang="en-US" sz="1500" dirty="0"/>
          </a:p>
          <a:p>
            <a:pPr indent="0" marL="0">
              <a:spcAft>
                <a:spcPts val="1400"/>
              </a:spcAft>
              <a:buNone/>
            </a:pPr>
            <a:r>
              <a:rPr lang="en-US" sz="1500" dirty="0">
                <a:solidFill>
                  <a:srgbClr val="30425E"/>
                </a:solidFill>
                <a:latin typeface="Calibri" pitchFamily="34" charset="0"/>
                <a:ea typeface="Calibri" pitchFamily="34" charset="-122"/>
                <a:cs typeface="Calibri" pitchFamily="34" charset="-120"/>
              </a:rPr>
              <a:t>Dereferencing NULL (or garbage) is undefined behavior — usually a crash, sometimes worse: silent corruption.</a:t>
            </a:r>
            <a:endParaRPr lang="en-US" sz="1500" dirty="0"/>
          </a:p>
        </p:txBody>
      </p:sp>
      <p:sp>
        <p:nvSpPr>
          <p:cNvPr id="14" name="Text 12"/>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7 — POINTERS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48640" y="502920"/>
            <a:ext cx="912205" cy="310896"/>
          </a:xfrm>
          <a:prstGeom prst="roundRect">
            <a:avLst>
              <a:gd name="adj" fmla="val 50000"/>
            </a:avLst>
          </a:prstGeom>
          <a:solidFill>
            <a:srgbClr val="16304F"/>
          </a:solidFill>
          <a:ln/>
        </p:spPr>
      </p:sp>
      <p:sp>
        <p:nvSpPr>
          <p:cNvPr id="3" name="Text 1"/>
          <p:cNvSpPr txBox="1"/>
          <p:nvPr/>
        </p:nvSpPr>
        <p:spPr>
          <a:xfrm>
            <a:off x="548640" y="502920"/>
            <a:ext cx="912205"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WATCH OUT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3000" b="1" dirty="0">
                <a:solidFill>
                  <a:srgbClr val="F5F8FC"/>
                </a:solidFill>
                <a:latin typeface="Cambria" pitchFamily="34" charset="0"/>
                <a:ea typeface="Cambria" pitchFamily="34" charset="-122"/>
                <a:cs typeface="Cambria" pitchFamily="34" charset="-120"/>
              </a:rPr>
              <a:t>Common beginner mistakes</a:t>
            </a:r>
            <a:endParaRPr lang="en-US" sz="3000" dirty="0"/>
          </a:p>
        </p:txBody>
      </p:sp>
      <p:sp>
        <p:nvSpPr>
          <p:cNvPr id="5" name="Shape 3"/>
          <p:cNvSpPr/>
          <p:nvPr/>
        </p:nvSpPr>
        <p:spPr>
          <a:xfrm>
            <a:off x="548640" y="1691640"/>
            <a:ext cx="5442052" cy="1399032"/>
          </a:xfrm>
          <a:prstGeom prst="roundRect">
            <a:avLst>
              <a:gd name="adj" fmla="val 5229"/>
            </a:avLst>
          </a:prstGeom>
          <a:solidFill>
            <a:srgbClr val="16304F"/>
          </a:solidFill>
          <a:ln/>
        </p:spPr>
      </p:sp>
      <p:sp>
        <p:nvSpPr>
          <p:cNvPr id="6" name="Shape 4"/>
          <p:cNvSpPr/>
          <p:nvPr/>
        </p:nvSpPr>
        <p:spPr>
          <a:xfrm>
            <a:off x="749808" y="2180844"/>
            <a:ext cx="420624" cy="420624"/>
          </a:xfrm>
          <a:prstGeom prst="ellipse">
            <a:avLst/>
          </a:prstGeom>
          <a:solidFill>
            <a:srgbClr val="3DDC84"/>
          </a:solidFill>
          <a:ln/>
        </p:spPr>
      </p:sp>
      <p:sp>
        <p:nvSpPr>
          <p:cNvPr id="7" name="Text 5"/>
          <p:cNvSpPr txBox="1"/>
          <p:nvPr/>
        </p:nvSpPr>
        <p:spPr>
          <a:xfrm>
            <a:off x="749808" y="2180844"/>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8" name="Text 6"/>
          <p:cNvSpPr txBox="1"/>
          <p:nvPr/>
        </p:nvSpPr>
        <p:spPr>
          <a:xfrm>
            <a:off x="1325880" y="1783080"/>
            <a:ext cx="4481932" cy="121615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Forgetting &amp; when a function needs an address — swapWorks(x, y) instead of swapWorks(&amp;x, &amp;y). Usually a compiler warning, not silence.</a:t>
            </a:r>
            <a:endParaRPr lang="en-US" sz="1350" dirty="0"/>
          </a:p>
        </p:txBody>
      </p:sp>
      <p:sp>
        <p:nvSpPr>
          <p:cNvPr id="9" name="Shape 7"/>
          <p:cNvSpPr/>
          <p:nvPr/>
        </p:nvSpPr>
        <p:spPr>
          <a:xfrm>
            <a:off x="6201004" y="1691640"/>
            <a:ext cx="5442052" cy="1399032"/>
          </a:xfrm>
          <a:prstGeom prst="roundRect">
            <a:avLst>
              <a:gd name="adj" fmla="val 5229"/>
            </a:avLst>
          </a:prstGeom>
          <a:solidFill>
            <a:srgbClr val="16304F"/>
          </a:solidFill>
          <a:ln/>
        </p:spPr>
      </p:sp>
      <p:sp>
        <p:nvSpPr>
          <p:cNvPr id="10" name="Shape 8"/>
          <p:cNvSpPr/>
          <p:nvPr/>
        </p:nvSpPr>
        <p:spPr>
          <a:xfrm>
            <a:off x="6402172" y="2180844"/>
            <a:ext cx="420624" cy="420624"/>
          </a:xfrm>
          <a:prstGeom prst="ellipse">
            <a:avLst/>
          </a:prstGeom>
          <a:solidFill>
            <a:srgbClr val="3DDC84"/>
          </a:solidFill>
          <a:ln/>
        </p:spPr>
      </p:sp>
      <p:sp>
        <p:nvSpPr>
          <p:cNvPr id="11" name="Text 9"/>
          <p:cNvSpPr txBox="1"/>
          <p:nvPr/>
        </p:nvSpPr>
        <p:spPr>
          <a:xfrm>
            <a:off x="6402172" y="2180844"/>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12" name="Text 10"/>
          <p:cNvSpPr txBox="1"/>
          <p:nvPr/>
        </p:nvSpPr>
        <p:spPr>
          <a:xfrm>
            <a:off x="6978244" y="1783080"/>
            <a:ext cx="4481932" cy="121615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Confusing declaration-* with dereference-* — only at the moment a pointer variable is introduced does * mean “this is a pointer type.”</a:t>
            </a:r>
            <a:endParaRPr lang="en-US" sz="1350" dirty="0"/>
          </a:p>
        </p:txBody>
      </p:sp>
      <p:sp>
        <p:nvSpPr>
          <p:cNvPr id="13" name="Shape 11"/>
          <p:cNvSpPr/>
          <p:nvPr/>
        </p:nvSpPr>
        <p:spPr>
          <a:xfrm>
            <a:off x="548640" y="3300984"/>
            <a:ext cx="5442052" cy="1399032"/>
          </a:xfrm>
          <a:prstGeom prst="roundRect">
            <a:avLst>
              <a:gd name="adj" fmla="val 5229"/>
            </a:avLst>
          </a:prstGeom>
          <a:solidFill>
            <a:srgbClr val="16304F"/>
          </a:solidFill>
          <a:ln/>
        </p:spPr>
      </p:sp>
      <p:sp>
        <p:nvSpPr>
          <p:cNvPr id="14" name="Shape 12"/>
          <p:cNvSpPr/>
          <p:nvPr/>
        </p:nvSpPr>
        <p:spPr>
          <a:xfrm>
            <a:off x="749808" y="3790188"/>
            <a:ext cx="420624" cy="420624"/>
          </a:xfrm>
          <a:prstGeom prst="ellipse">
            <a:avLst/>
          </a:prstGeom>
          <a:solidFill>
            <a:srgbClr val="3DDC84"/>
          </a:solidFill>
          <a:ln/>
        </p:spPr>
      </p:sp>
      <p:sp>
        <p:nvSpPr>
          <p:cNvPr id="15" name="Text 13"/>
          <p:cNvSpPr txBox="1"/>
          <p:nvPr/>
        </p:nvSpPr>
        <p:spPr>
          <a:xfrm>
            <a:off x="749808" y="3790188"/>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16" name="Text 14"/>
          <p:cNvSpPr txBox="1"/>
          <p:nvPr/>
        </p:nvSpPr>
        <p:spPr>
          <a:xfrm>
            <a:off x="1325880" y="3392424"/>
            <a:ext cx="4481932" cy="121615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Dereferencing a pointer that was never assigned an address, or is NULL — always check if (p != NULL) first.</a:t>
            </a:r>
            <a:endParaRPr lang="en-US" sz="1350" dirty="0"/>
          </a:p>
        </p:txBody>
      </p:sp>
      <p:sp>
        <p:nvSpPr>
          <p:cNvPr id="17" name="Shape 15"/>
          <p:cNvSpPr/>
          <p:nvPr/>
        </p:nvSpPr>
        <p:spPr>
          <a:xfrm>
            <a:off x="6201004" y="3300984"/>
            <a:ext cx="5442052" cy="1399032"/>
          </a:xfrm>
          <a:prstGeom prst="roundRect">
            <a:avLst>
              <a:gd name="adj" fmla="val 5229"/>
            </a:avLst>
          </a:prstGeom>
          <a:solidFill>
            <a:srgbClr val="16304F"/>
          </a:solidFill>
          <a:ln/>
        </p:spPr>
      </p:sp>
      <p:sp>
        <p:nvSpPr>
          <p:cNvPr id="18" name="Shape 16"/>
          <p:cNvSpPr/>
          <p:nvPr/>
        </p:nvSpPr>
        <p:spPr>
          <a:xfrm>
            <a:off x="6402172" y="3790188"/>
            <a:ext cx="420624" cy="420624"/>
          </a:xfrm>
          <a:prstGeom prst="ellipse">
            <a:avLst/>
          </a:prstGeom>
          <a:solidFill>
            <a:srgbClr val="3DDC84"/>
          </a:solidFill>
          <a:ln/>
        </p:spPr>
      </p:sp>
      <p:sp>
        <p:nvSpPr>
          <p:cNvPr id="19" name="Text 17"/>
          <p:cNvSpPr txBox="1"/>
          <p:nvPr/>
        </p:nvSpPr>
        <p:spPr>
          <a:xfrm>
            <a:off x="6402172" y="3790188"/>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20" name="Text 18"/>
          <p:cNvSpPr txBox="1"/>
          <p:nvPr/>
        </p:nvSpPr>
        <p:spPr>
          <a:xfrm>
            <a:off x="6978244" y="3392424"/>
            <a:ext cx="4481932" cy="121615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Assuming a pointer and the variable it points to are “the same variable” — they're two separate variables.</a:t>
            </a:r>
            <a:endParaRPr lang="en-US" sz="1350" dirty="0"/>
          </a:p>
        </p:txBody>
      </p:sp>
      <p:sp>
        <p:nvSpPr>
          <p:cNvPr id="21" name="Shape 19"/>
          <p:cNvSpPr/>
          <p:nvPr/>
        </p:nvSpPr>
        <p:spPr>
          <a:xfrm>
            <a:off x="548640" y="4910328"/>
            <a:ext cx="5442052" cy="1399032"/>
          </a:xfrm>
          <a:prstGeom prst="roundRect">
            <a:avLst>
              <a:gd name="adj" fmla="val 5229"/>
            </a:avLst>
          </a:prstGeom>
          <a:solidFill>
            <a:srgbClr val="16304F"/>
          </a:solidFill>
          <a:ln/>
        </p:spPr>
      </p:sp>
      <p:sp>
        <p:nvSpPr>
          <p:cNvPr id="22" name="Shape 20"/>
          <p:cNvSpPr/>
          <p:nvPr/>
        </p:nvSpPr>
        <p:spPr>
          <a:xfrm>
            <a:off x="749808" y="5399532"/>
            <a:ext cx="420624" cy="420624"/>
          </a:xfrm>
          <a:prstGeom prst="ellipse">
            <a:avLst/>
          </a:prstGeom>
          <a:solidFill>
            <a:srgbClr val="3DDC84"/>
          </a:solidFill>
          <a:ln/>
        </p:spPr>
      </p:sp>
      <p:sp>
        <p:nvSpPr>
          <p:cNvPr id="23" name="Text 21"/>
          <p:cNvSpPr txBox="1"/>
          <p:nvPr/>
        </p:nvSpPr>
        <p:spPr>
          <a:xfrm>
            <a:off x="749808" y="5399532"/>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24" name="Text 22"/>
          <p:cNvSpPr txBox="1"/>
          <p:nvPr/>
        </p:nvSpPr>
        <p:spPr>
          <a:xfrm>
            <a:off x="1325880" y="5001768"/>
            <a:ext cx="4481932" cy="121615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A sharp edge for later: *p++ does not mean what it looks like — ++ binds tighter than *. Use (*p)++ when in doubt.</a:t>
            </a:r>
            <a:endParaRPr lang="en-US" sz="1350" dirty="0"/>
          </a:p>
        </p:txBody>
      </p:sp>
      <p:sp>
        <p:nvSpPr>
          <p:cNvPr id="25" name="Text 2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CA3C2"/>
                </a:solidFill>
                <a:latin typeface="Calibri" pitchFamily="34" charset="0"/>
                <a:ea typeface="Calibri" pitchFamily="34" charset="-122"/>
                <a:cs typeface="Calibri" pitchFamily="34" charset="-120"/>
              </a:rPr>
              <a:t>MODULE 7 — POINTERS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48640" y="502920"/>
            <a:ext cx="1386230" cy="310896"/>
          </a:xfrm>
          <a:prstGeom prst="roundRect">
            <a:avLst>
              <a:gd name="adj" fmla="val 50000"/>
            </a:avLst>
          </a:prstGeom>
          <a:solidFill>
            <a:srgbClr val="16304F"/>
          </a:solidFill>
          <a:ln/>
        </p:spPr>
      </p:sp>
      <p:sp>
        <p:nvSpPr>
          <p:cNvPr id="3" name="Text 1"/>
          <p:cNvSpPr txBox="1"/>
          <p:nvPr/>
        </p:nvSpPr>
        <p:spPr>
          <a:xfrm>
            <a:off x="548640" y="502920"/>
            <a:ext cx="1386230"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TRY IT YOURSELF</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3000" b="1" dirty="0">
                <a:solidFill>
                  <a:srgbClr val="F5F8FC"/>
                </a:solidFill>
                <a:latin typeface="Cambria" pitchFamily="34" charset="0"/>
                <a:ea typeface="Cambria" pitchFamily="34" charset="-122"/>
                <a:cs typeface="Cambria" pitchFamily="34" charset="-120"/>
              </a:rPr>
              <a:t>Before you move on</a:t>
            </a:r>
            <a:endParaRPr lang="en-US" sz="3000" dirty="0"/>
          </a:p>
        </p:txBody>
      </p:sp>
      <p:sp>
        <p:nvSpPr>
          <p:cNvPr id="5" name="Shape 3"/>
          <p:cNvSpPr/>
          <p:nvPr/>
        </p:nvSpPr>
        <p:spPr>
          <a:xfrm>
            <a:off x="548640" y="1783080"/>
            <a:ext cx="5321808" cy="4160520"/>
          </a:xfrm>
          <a:prstGeom prst="roundRect">
            <a:avLst>
              <a:gd name="adj" fmla="val 1978"/>
            </a:avLst>
          </a:prstGeom>
          <a:solidFill>
            <a:srgbClr val="16304F"/>
          </a:solidFill>
          <a:ln/>
        </p:spPr>
      </p:sp>
      <p:sp>
        <p:nvSpPr>
          <p:cNvPr id="6" name="Shape 4"/>
          <p:cNvSpPr/>
          <p:nvPr/>
        </p:nvSpPr>
        <p:spPr>
          <a:xfrm>
            <a:off x="804672" y="2057400"/>
            <a:ext cx="365760" cy="365760"/>
          </a:xfrm>
          <a:prstGeom prst="ellipse">
            <a:avLst/>
          </a:prstGeom>
          <a:solidFill>
            <a:srgbClr val="3DDC84"/>
          </a:solidFill>
          <a:ln/>
        </p:spPr>
      </p:sp>
      <p:sp>
        <p:nvSpPr>
          <p:cNvPr id="7" name="Text 5"/>
          <p:cNvSpPr txBox="1"/>
          <p:nvPr/>
        </p:nvSpPr>
        <p:spPr>
          <a:xfrm>
            <a:off x="804672" y="205740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325880" y="1984248"/>
            <a:ext cx="4315968" cy="811530"/>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Work through every file in examples/, compiling and running each one.</a:t>
            </a:r>
            <a:endParaRPr lang="en-US" sz="1350" dirty="0"/>
          </a:p>
        </p:txBody>
      </p:sp>
      <p:sp>
        <p:nvSpPr>
          <p:cNvPr id="9" name="Shape 7"/>
          <p:cNvSpPr/>
          <p:nvPr/>
        </p:nvSpPr>
        <p:spPr>
          <a:xfrm>
            <a:off x="804672" y="2960370"/>
            <a:ext cx="365760" cy="365760"/>
          </a:xfrm>
          <a:prstGeom prst="ellipse">
            <a:avLst/>
          </a:prstGeom>
          <a:solidFill>
            <a:srgbClr val="3DDC84"/>
          </a:solidFill>
          <a:ln/>
        </p:spPr>
      </p:sp>
      <p:sp>
        <p:nvSpPr>
          <p:cNvPr id="10" name="Text 8"/>
          <p:cNvSpPr txBox="1"/>
          <p:nvPr/>
        </p:nvSpPr>
        <p:spPr>
          <a:xfrm>
            <a:off x="804672" y="296037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325880" y="2887218"/>
            <a:ext cx="4315968" cy="811530"/>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Complete exercises/exercise1.c.</a:t>
            </a:r>
            <a:endParaRPr lang="en-US" sz="1350" dirty="0"/>
          </a:p>
        </p:txBody>
      </p:sp>
      <p:sp>
        <p:nvSpPr>
          <p:cNvPr id="12" name="Shape 10"/>
          <p:cNvSpPr/>
          <p:nvPr/>
        </p:nvSpPr>
        <p:spPr>
          <a:xfrm>
            <a:off x="804672" y="3863340"/>
            <a:ext cx="365760" cy="365760"/>
          </a:xfrm>
          <a:prstGeom prst="ellipse">
            <a:avLst/>
          </a:prstGeom>
          <a:solidFill>
            <a:srgbClr val="3DDC84"/>
          </a:solidFill>
          <a:ln/>
        </p:spPr>
      </p:sp>
      <p:sp>
        <p:nvSpPr>
          <p:cNvPr id="13" name="Text 11"/>
          <p:cNvSpPr txBox="1"/>
          <p:nvPr/>
        </p:nvSpPr>
        <p:spPr>
          <a:xfrm>
            <a:off x="804672" y="386334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325880" y="3790188"/>
            <a:ext cx="4315968" cy="811530"/>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Build the module project.</a:t>
            </a:r>
            <a:endParaRPr lang="en-US" sz="1350" dirty="0"/>
          </a:p>
        </p:txBody>
      </p:sp>
      <p:sp>
        <p:nvSpPr>
          <p:cNvPr id="15" name="Shape 13"/>
          <p:cNvSpPr/>
          <p:nvPr/>
        </p:nvSpPr>
        <p:spPr>
          <a:xfrm>
            <a:off x="804672" y="4766310"/>
            <a:ext cx="365760" cy="365760"/>
          </a:xfrm>
          <a:prstGeom prst="ellipse">
            <a:avLst/>
          </a:prstGeom>
          <a:solidFill>
            <a:srgbClr val="3DDC84"/>
          </a:solidFill>
          <a:ln/>
        </p:spPr>
      </p:sp>
      <p:sp>
        <p:nvSpPr>
          <p:cNvPr id="16" name="Text 14"/>
          <p:cNvSpPr txBox="1"/>
          <p:nvPr/>
        </p:nvSpPr>
        <p:spPr>
          <a:xfrm>
            <a:off x="804672" y="476631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325880" y="4693158"/>
            <a:ext cx="4315968" cy="811530"/>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git add . &amp;&amp; git commit -m "Complete Module 7" &amp;&amp; git push</a:t>
            </a:r>
            <a:endParaRPr lang="en-US" sz="1350" dirty="0"/>
          </a:p>
        </p:txBody>
      </p:sp>
      <p:sp>
        <p:nvSpPr>
          <p:cNvPr id="18" name="Shape 16"/>
          <p:cNvSpPr/>
          <p:nvPr/>
        </p:nvSpPr>
        <p:spPr>
          <a:xfrm>
            <a:off x="6135624" y="1783080"/>
            <a:ext cx="5321808" cy="4160520"/>
          </a:xfrm>
          <a:prstGeom prst="roundRect">
            <a:avLst>
              <a:gd name="adj" fmla="val 1978"/>
            </a:avLst>
          </a:prstGeom>
          <a:solidFill>
            <a:srgbClr val="3DDC84"/>
          </a:solidFill>
          <a:ln/>
        </p:spPr>
      </p:sp>
      <p:sp>
        <p:nvSpPr>
          <p:cNvPr id="19" name="Text 17"/>
          <p:cNvSpPr txBox="1"/>
          <p:nvPr/>
        </p:nvSpPr>
        <p:spPr>
          <a:xfrm>
            <a:off x="6455664" y="2103120"/>
            <a:ext cx="4681728" cy="320040"/>
          </a:xfrm>
          <a:prstGeom prst="rect">
            <a:avLst/>
          </a:prstGeom>
          <a:noFill/>
          <a:ln/>
        </p:spPr>
        <p:txBody>
          <a:bodyPr wrap="square" lIns="0" tIns="0" rIns="0" bIns="0" rtlCol="0" anchor="ctr"/>
          <a:lstStyle/>
          <a:p>
            <a:pPr indent="0" marL="0">
              <a:buNone/>
            </a:pPr>
            <a:r>
              <a:rPr lang="en-US" sz="1200" b="1" spc="100" kern="0" dirty="0">
                <a:solidFill>
                  <a:srgbClr val="0B1F3A"/>
                </a:solidFill>
                <a:latin typeface="Calibri" pitchFamily="34" charset="0"/>
                <a:ea typeface="Calibri" pitchFamily="34" charset="-122"/>
                <a:cs typeface="Calibri" pitchFamily="34" charset="-120"/>
              </a:rPr>
              <a:t>UP NEXT</a:t>
            </a:r>
            <a:endParaRPr lang="en-US" sz="1200" dirty="0"/>
          </a:p>
        </p:txBody>
      </p:sp>
      <p:sp>
        <p:nvSpPr>
          <p:cNvPr id="20" name="Text 18"/>
          <p:cNvSpPr txBox="1"/>
          <p:nvPr/>
        </p:nvSpPr>
        <p:spPr>
          <a:xfrm>
            <a:off x="6455664" y="2468880"/>
            <a:ext cx="4681728" cy="1188720"/>
          </a:xfrm>
          <a:prstGeom prst="rect">
            <a:avLst/>
          </a:prstGeom>
          <a:noFill/>
          <a:ln/>
        </p:spPr>
        <p:txBody>
          <a:bodyPr wrap="square" lIns="0" tIns="0" rIns="0" bIns="0" rtlCol="0" anchor="t"/>
          <a:lstStyle/>
          <a:p>
            <a:pPr indent="0" marL="0">
              <a:buNone/>
            </a:pPr>
            <a:r>
              <a:rPr lang="en-US" sz="2400" b="1" dirty="0">
                <a:solidFill>
                  <a:srgbClr val="0B1F3A"/>
                </a:solidFill>
                <a:latin typeface="Cambria" pitchFamily="34" charset="0"/>
                <a:ea typeface="Cambria" pitchFamily="34" charset="-122"/>
                <a:cs typeface="Cambria" pitchFamily="34" charset="-120"/>
              </a:rPr>
              <a:t>Module 8 — Structs &amp; File I/O</a:t>
            </a:r>
            <a:endParaRPr lang="en-US" sz="2400" dirty="0"/>
          </a:p>
        </p:txBody>
      </p:sp>
      <p:sp>
        <p:nvSpPr>
          <p:cNvPr id="21" name="Text 19"/>
          <p:cNvSpPr txBox="1"/>
          <p:nvPr/>
        </p:nvSpPr>
        <p:spPr>
          <a:xfrm>
            <a:off x="6455664" y="3703320"/>
            <a:ext cx="4681728" cy="1965960"/>
          </a:xfrm>
          <a:prstGeom prst="rect">
            <a:avLst/>
          </a:prstGeom>
          <a:noFill/>
          <a:ln/>
        </p:spPr>
        <p:txBody>
          <a:bodyPr wrap="square" lIns="0" tIns="0" rIns="0" bIns="0" rtlCol="0" anchor="t"/>
          <a:lstStyle/>
          <a:p>
            <a:pPr indent="0" marL="0">
              <a:buNone/>
            </a:pPr>
            <a:r>
              <a:rPr lang="en-US" sz="1400" dirty="0">
                <a:solidFill>
                  <a:srgbClr val="0B1F3A"/>
                </a:solidFill>
                <a:latin typeface="Calibri" pitchFamily="34" charset="0"/>
                <a:ea typeface="Calibri" pitchFamily="34" charset="-122"/>
                <a:cs typeface="Calibri" pitchFamily="34" charset="-120"/>
              </a:rPr>
              <a:t>Grouping related variables into one type, and making your program's data survive being closed and reopened.</a:t>
            </a:r>
            <a:endParaRPr lang="en-US" sz="1400" dirty="0"/>
          </a:p>
        </p:txBody>
      </p:sp>
      <p:sp>
        <p:nvSpPr>
          <p:cNvPr id="22" name="Text 20"/>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CA3C2"/>
                </a:solidFill>
                <a:latin typeface="Calibri" pitchFamily="34" charset="0"/>
                <a:ea typeface="Calibri" pitchFamily="34" charset="-122"/>
                <a:cs typeface="Calibri" pitchFamily="34" charset="-120"/>
              </a:rPr>
              <a:t>MODULE 7 — POINTERS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2026-09-14T12:22:07Z</dcterms:created>
  <dcterms:modified xsi:type="dcterms:W3CDTF">2026-09-14T12:22:07Z</dcterms:modified>
</cp:coreProperties>
</file>